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Explainers cover. Oct 19, 2026 · Nefertiti A Strong.</a:t>
            </a:r>
            <a:endParaRPr/>
          </a:p>
        </p:txBody>
      </p:sp>
      <p:sp>
        <p:nvSpPr>
          <p:cNvPr id="100" name="Google Shape;10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Overview of the four tracks.</a:t>
            </a:r>
            <a:endParaRPr/>
          </a:p>
        </p:txBody>
      </p:sp>
      <p:sp>
        <p:nvSpPr>
          <p:cNvPr id="133" name="Google Shape;1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01 introduction: who you are building for and the problem.</a:t>
            </a:r>
            <a:endParaRPr/>
          </a:p>
        </p:txBody>
      </p:sp>
      <p:sp>
        <p:nvSpPr>
          <p:cNvPr id="166" name="Google Shape;1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01: what you build.</a:t>
            </a:r>
            <a:endParaRPr/>
          </a:p>
        </p:txBody>
      </p:sp>
      <p:sp>
        <p:nvSpPr>
          <p:cNvPr id="186" name="Google Shape;1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01: Omega's role, memory and reasoning, and tools.</a:t>
            </a:r>
            <a:endParaRPr/>
          </a:p>
        </p:txBody>
      </p:sp>
      <p:sp>
        <p:nvSpPr>
          <p:cNvPr id="221" name="Google Shape;22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01: demo script, showcase checklist, boundaries and stretch ideas.</a:t>
            </a:r>
            <a:endParaRPr/>
          </a:p>
        </p:txBody>
      </p:sp>
      <p:sp>
        <p:nvSpPr>
          <p:cNvPr id="245" name="Google Shape;24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02 introduction: who you are building for and the problem.</a:t>
            </a:r>
            <a:endParaRPr/>
          </a:p>
        </p:txBody>
      </p:sp>
      <p:sp>
        <p:nvSpPr>
          <p:cNvPr id="289" name="Google Shape;28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02: what you build.</a:t>
            </a:r>
            <a:endParaRPr/>
          </a:p>
        </p:txBody>
      </p:sp>
      <p:sp>
        <p:nvSpPr>
          <p:cNvPr id="309" name="Google Shape;30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02: Omega's role, memory and reasoning, and tools.</a:t>
            </a:r>
            <a:endParaRPr/>
          </a:p>
        </p:txBody>
      </p:sp>
      <p:sp>
        <p:nvSpPr>
          <p:cNvPr id="330" name="Google Shape;33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02: demo script, showcase checklist, boundaries and stretch ideas.</a:t>
            </a:r>
            <a:endParaRPr/>
          </a:p>
        </p:txBody>
      </p:sp>
      <p:sp>
        <p:nvSpPr>
          <p:cNvPr id="355" name="Google Shape;35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03 introduction: who you are building for and the problem.</a:t>
            </a:r>
            <a:endParaRPr/>
          </a:p>
        </p:txBody>
      </p:sp>
      <p:sp>
        <p:nvSpPr>
          <p:cNvPr id="404" name="Google Shape;4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03: what you build.</a:t>
            </a:r>
            <a:endParaRPr/>
          </a:p>
        </p:txBody>
      </p:sp>
      <p:sp>
        <p:nvSpPr>
          <p:cNvPr id="424" name="Google Shape;42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03: Omega's role, memory and reasoning, and tools.</a:t>
            </a:r>
            <a:endParaRPr/>
          </a:p>
        </p:txBody>
      </p:sp>
      <p:sp>
        <p:nvSpPr>
          <p:cNvPr id="450" name="Google Shape;45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03: demo script, showcase checklist, boundaries and stretch ideas.</a:t>
            </a:r>
            <a:endParaRPr/>
          </a:p>
        </p:txBody>
      </p:sp>
      <p:sp>
        <p:nvSpPr>
          <p:cNvPr id="475" name="Google Shape;47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04 introduction: who you are building for and the problem.</a:t>
            </a:r>
            <a:endParaRPr/>
          </a:p>
        </p:txBody>
      </p:sp>
      <p:sp>
        <p:nvSpPr>
          <p:cNvPr id="519" name="Google Shape;51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04: what you build.</a:t>
            </a:r>
            <a:endParaRPr/>
          </a:p>
        </p:txBody>
      </p:sp>
      <p:sp>
        <p:nvSpPr>
          <p:cNvPr id="539" name="Google Shape;53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 name="Google Shape;56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04: Omega's role, memory and reasoning, and tools.</a:t>
            </a:r>
            <a:endParaRPr/>
          </a:p>
        </p:txBody>
      </p:sp>
      <p:sp>
        <p:nvSpPr>
          <p:cNvPr id="564" name="Google Shape;56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04: demo script, showcase checklist, boundaries and stretch ideas.</a:t>
            </a:r>
            <a:endParaRPr/>
          </a:p>
        </p:txBody>
      </p:sp>
      <p:sp>
        <p:nvSpPr>
          <p:cNvPr id="585" name="Google Shape;58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 name="Google Shape;62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track links, registration QR, partners.</a:t>
            </a:r>
            <a:endParaRPr/>
          </a:p>
        </p:txBody>
      </p:sp>
      <p:sp>
        <p:nvSpPr>
          <p:cNvPr id="626" name="Google Shape;62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rgbClr val="0A0A0A"/>
        </a:solidFill>
      </p:bgPr>
    </p:bg>
    <p:spTree>
      <p:nvGrpSpPr>
        <p:cNvPr id="11" name="Shape 11"/>
        <p:cNvGrpSpPr/>
        <p:nvPr/>
      </p:nvGrpSpPr>
      <p:grpSpPr>
        <a:xfrm>
          <a:off x="0" y="0"/>
          <a:ext cx="0" cy="0"/>
          <a:chOff x="0" y="0"/>
          <a:chExt cx="0" cy="0"/>
        </a:xfrm>
      </p:grpSpPr>
      <p:pic>
        <p:nvPicPr>
          <p:cNvPr descr="/tmp/claude-0/-home-claude/3051c0d6-672f-5d94-9f33-81ba1b71dc6d/scratchpad/a/asi_w.png" id="12" name="Google Shape;12;p2"/>
          <p:cNvPicPr preferRelativeResize="0"/>
          <p:nvPr/>
        </p:nvPicPr>
        <p:blipFill rotWithShape="1">
          <a:blip r:embed="rId2">
            <a:alphaModFix/>
          </a:blip>
          <a:srcRect b="0" l="0" r="0" t="0"/>
          <a:stretch/>
        </p:blipFill>
        <p:spPr>
          <a:xfrm>
            <a:off x="640080" y="274320"/>
            <a:ext cx="1359408" cy="292608"/>
          </a:xfrm>
          <a:prstGeom prst="rect">
            <a:avLst/>
          </a:prstGeom>
          <a:noFill/>
          <a:ln>
            <a:noFill/>
          </a:ln>
        </p:spPr>
      </p:pic>
      <p:sp>
        <p:nvSpPr>
          <p:cNvPr id="13" name="Google Shape;13;p2"/>
          <p:cNvSpPr/>
          <p:nvPr/>
        </p:nvSpPr>
        <p:spPr>
          <a:xfrm>
            <a:off x="0" y="0"/>
            <a:ext cx="313936" cy="45720"/>
          </a:xfrm>
          <a:prstGeom prst="rect">
            <a:avLst/>
          </a:prstGeom>
          <a:solidFill>
            <a:srgbClr val="F259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304792" y="0"/>
            <a:ext cx="313936" cy="45720"/>
          </a:xfrm>
          <a:prstGeom prst="rect">
            <a:avLst/>
          </a:prstGeom>
          <a:solidFill>
            <a:srgbClr val="F36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609585" y="0"/>
            <a:ext cx="313936" cy="45720"/>
          </a:xfrm>
          <a:prstGeom prst="rect">
            <a:avLst/>
          </a:prstGeom>
          <a:solidFill>
            <a:srgbClr val="F36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914377" y="0"/>
            <a:ext cx="313936" cy="45720"/>
          </a:xfrm>
          <a:prstGeom prst="rect">
            <a:avLst/>
          </a:prstGeom>
          <a:solidFill>
            <a:srgbClr val="F47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1219170" y="0"/>
            <a:ext cx="313936" cy="45720"/>
          </a:xfrm>
          <a:prstGeom prst="rect">
            <a:avLst/>
          </a:prstGeom>
          <a:solidFill>
            <a:srgbClr val="F480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1523962" y="0"/>
            <a:ext cx="313936" cy="45720"/>
          </a:xfrm>
          <a:prstGeom prst="rect">
            <a:avLst/>
          </a:prstGeom>
          <a:solidFill>
            <a:srgbClr val="F58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1828754" y="0"/>
            <a:ext cx="313936" cy="45720"/>
          </a:xfrm>
          <a:prstGeom prst="rect">
            <a:avLst/>
          </a:prstGeom>
          <a:solidFill>
            <a:srgbClr val="F593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2133547" y="0"/>
            <a:ext cx="313936" cy="45720"/>
          </a:xfrm>
          <a:prstGeom prst="rect">
            <a:avLst/>
          </a:prstGeom>
          <a:solidFill>
            <a:srgbClr val="F69D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2438339" y="0"/>
            <a:ext cx="313936" cy="45720"/>
          </a:xfrm>
          <a:prstGeom prst="rect">
            <a:avLst/>
          </a:prstGeom>
          <a:solidFill>
            <a:srgbClr val="F6A7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2743131" y="0"/>
            <a:ext cx="313936" cy="45720"/>
          </a:xfrm>
          <a:prstGeom prst="rect">
            <a:avLst/>
          </a:prstGeom>
          <a:solidFill>
            <a:srgbClr val="F7B1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3047924" y="0"/>
            <a:ext cx="313936" cy="45720"/>
          </a:xfrm>
          <a:prstGeom prst="rect">
            <a:avLst/>
          </a:prstGeom>
          <a:solidFill>
            <a:srgbClr val="F2B9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3352716" y="0"/>
            <a:ext cx="313936" cy="45720"/>
          </a:xfrm>
          <a:prstGeom prst="rect">
            <a:avLst/>
          </a:prstGeom>
          <a:solidFill>
            <a:srgbClr val="DFBC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3657509" y="0"/>
            <a:ext cx="313936" cy="45720"/>
          </a:xfrm>
          <a:prstGeom prst="rect">
            <a:avLst/>
          </a:prstGeom>
          <a:solidFill>
            <a:srgbClr val="CCB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3962301" y="0"/>
            <a:ext cx="313936" cy="45720"/>
          </a:xfrm>
          <a:prstGeom prst="rect">
            <a:avLst/>
          </a:prstGeom>
          <a:solidFill>
            <a:srgbClr val="B9C2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4267093" y="0"/>
            <a:ext cx="313936" cy="45720"/>
          </a:xfrm>
          <a:prstGeom prst="rect">
            <a:avLst/>
          </a:prstGeom>
          <a:solidFill>
            <a:srgbClr val="A6C5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4571886" y="0"/>
            <a:ext cx="313936" cy="45720"/>
          </a:xfrm>
          <a:prstGeom prst="rect">
            <a:avLst/>
          </a:prstGeom>
          <a:solidFill>
            <a:srgbClr val="93C8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4876678" y="0"/>
            <a:ext cx="313936" cy="45720"/>
          </a:xfrm>
          <a:prstGeom prst="rect">
            <a:avLst/>
          </a:prstGeom>
          <a:solidFill>
            <a:srgbClr val="80CB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5181470" y="0"/>
            <a:ext cx="313936" cy="45720"/>
          </a:xfrm>
          <a:prstGeom prst="rect">
            <a:avLst/>
          </a:prstGeom>
          <a:solidFill>
            <a:srgbClr val="6DCE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5486263" y="0"/>
            <a:ext cx="313936" cy="45720"/>
          </a:xfrm>
          <a:prstGeom prst="rect">
            <a:avLst/>
          </a:prstGeom>
          <a:solidFill>
            <a:srgbClr val="5AD1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5791055" y="0"/>
            <a:ext cx="313936" cy="45720"/>
          </a:xfrm>
          <a:prstGeom prst="rect">
            <a:avLst/>
          </a:prstGeom>
          <a:solidFill>
            <a:srgbClr val="47D4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095848" y="0"/>
            <a:ext cx="313936" cy="45720"/>
          </a:xfrm>
          <a:prstGeom prst="rect">
            <a:avLst/>
          </a:prstGeom>
          <a:solidFill>
            <a:srgbClr val="3FD1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6400640" y="0"/>
            <a:ext cx="313936" cy="45720"/>
          </a:xfrm>
          <a:prstGeom prst="rect">
            <a:avLst/>
          </a:prstGeom>
          <a:solidFill>
            <a:srgbClr val="41CA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6705432" y="0"/>
            <a:ext cx="313936" cy="45720"/>
          </a:xfrm>
          <a:prstGeom prst="rect">
            <a:avLst/>
          </a:prstGeom>
          <a:solidFill>
            <a:srgbClr val="42C3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7010225" y="0"/>
            <a:ext cx="313936" cy="45720"/>
          </a:xfrm>
          <a:prstGeom prst="rect">
            <a:avLst/>
          </a:prstGeom>
          <a:solidFill>
            <a:srgbClr val="44BB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7315017" y="0"/>
            <a:ext cx="313936" cy="45720"/>
          </a:xfrm>
          <a:prstGeom prst="rect">
            <a:avLst/>
          </a:prstGeom>
          <a:solidFill>
            <a:srgbClr val="46B4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7619809" y="0"/>
            <a:ext cx="313936" cy="45720"/>
          </a:xfrm>
          <a:prstGeom prst="rect">
            <a:avLst/>
          </a:prstGeom>
          <a:solidFill>
            <a:srgbClr val="48AC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7924602" y="0"/>
            <a:ext cx="313936" cy="45720"/>
          </a:xfrm>
          <a:prstGeom prst="rect">
            <a:avLst/>
          </a:prstGeom>
          <a:solidFill>
            <a:srgbClr val="49A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8229394" y="0"/>
            <a:ext cx="313936" cy="45720"/>
          </a:xfrm>
          <a:prstGeom prst="rect">
            <a:avLst/>
          </a:prstGeom>
          <a:solidFill>
            <a:srgbClr val="4B9E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8534187" y="0"/>
            <a:ext cx="313936" cy="45720"/>
          </a:xfrm>
          <a:prstGeom prst="rect">
            <a:avLst/>
          </a:prstGeom>
          <a:solidFill>
            <a:srgbClr val="4D96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8838979" y="0"/>
            <a:ext cx="313936" cy="45720"/>
          </a:xfrm>
          <a:prstGeom prst="rect">
            <a:avLst/>
          </a:prstGeom>
          <a:solidFill>
            <a:srgbClr val="4F8F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9143771" y="0"/>
            <a:ext cx="313936" cy="45720"/>
          </a:xfrm>
          <a:prstGeom prst="rect">
            <a:avLst/>
          </a:prstGeom>
          <a:solidFill>
            <a:srgbClr val="568A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9448564" y="0"/>
            <a:ext cx="313936" cy="45720"/>
          </a:xfrm>
          <a:prstGeom prst="rect">
            <a:avLst/>
          </a:prstGeom>
          <a:solidFill>
            <a:srgbClr val="5E87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9753356" y="0"/>
            <a:ext cx="313936" cy="45720"/>
          </a:xfrm>
          <a:prstGeom prst="rect">
            <a:avLst/>
          </a:prstGeom>
          <a:solidFill>
            <a:srgbClr val="6784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10058149" y="0"/>
            <a:ext cx="313936" cy="45720"/>
          </a:xfrm>
          <a:prstGeom prst="rect">
            <a:avLst/>
          </a:prstGeom>
          <a:solidFill>
            <a:srgbClr val="708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10362941" y="0"/>
            <a:ext cx="313936" cy="45720"/>
          </a:xfrm>
          <a:prstGeom prst="rect">
            <a:avLst/>
          </a:prstGeom>
          <a:solidFill>
            <a:srgbClr val="797D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10667733" y="0"/>
            <a:ext cx="313936" cy="45720"/>
          </a:xfrm>
          <a:prstGeom prst="rect">
            <a:avLst/>
          </a:prstGeom>
          <a:solidFill>
            <a:srgbClr val="827A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10972526" y="0"/>
            <a:ext cx="313936" cy="45720"/>
          </a:xfrm>
          <a:prstGeom prst="rect">
            <a:avLst/>
          </a:prstGeom>
          <a:solidFill>
            <a:srgbClr val="8B76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11277318" y="0"/>
            <a:ext cx="313936" cy="45720"/>
          </a:xfrm>
          <a:prstGeom prst="rect">
            <a:avLst/>
          </a:prstGeom>
          <a:solidFill>
            <a:srgbClr val="937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11582110" y="0"/>
            <a:ext cx="313936" cy="45720"/>
          </a:xfrm>
          <a:prstGeom prst="rect">
            <a:avLst/>
          </a:prstGeom>
          <a:solidFill>
            <a:srgbClr val="9C6F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11886903" y="0"/>
            <a:ext cx="313936" cy="45720"/>
          </a:xfrm>
          <a:prstGeom prst="rect">
            <a:avLst/>
          </a:prstGeom>
          <a:solidFill>
            <a:srgbClr val="A56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0A0A0A"/>
        </a:solidFill>
      </p:bgPr>
    </p:bg>
    <p:spTree>
      <p:nvGrpSpPr>
        <p:cNvPr id="53" name="Shape 53"/>
        <p:cNvGrpSpPr/>
        <p:nvPr/>
      </p:nvGrpSpPr>
      <p:grpSpPr>
        <a:xfrm>
          <a:off x="0" y="0"/>
          <a:ext cx="0" cy="0"/>
          <a:chOff x="0" y="0"/>
          <a:chExt cx="0" cy="0"/>
        </a:xfrm>
      </p:grpSpPr>
      <p:pic>
        <p:nvPicPr>
          <p:cNvPr descr="/tmp/claude-0/-home-claude/3051c0d6-672f-5d94-9f33-81ba1b71dc6d/scratchpad/a/asi_w.png" id="54" name="Google Shape;54;p3"/>
          <p:cNvPicPr preferRelativeResize="0"/>
          <p:nvPr/>
        </p:nvPicPr>
        <p:blipFill rotWithShape="1">
          <a:blip r:embed="rId2">
            <a:alphaModFix/>
          </a:blip>
          <a:srcRect b="0" l="0" r="0" t="0"/>
          <a:stretch/>
        </p:blipFill>
        <p:spPr>
          <a:xfrm>
            <a:off x="640080" y="274320"/>
            <a:ext cx="1359408" cy="292608"/>
          </a:xfrm>
          <a:prstGeom prst="rect">
            <a:avLst/>
          </a:prstGeom>
          <a:noFill/>
          <a:ln>
            <a:noFill/>
          </a:ln>
        </p:spPr>
      </p:pic>
      <p:sp>
        <p:nvSpPr>
          <p:cNvPr id="55" name="Google Shape;55;p3"/>
          <p:cNvSpPr/>
          <p:nvPr/>
        </p:nvSpPr>
        <p:spPr>
          <a:xfrm>
            <a:off x="0" y="0"/>
            <a:ext cx="313936" cy="45720"/>
          </a:xfrm>
          <a:prstGeom prst="rect">
            <a:avLst/>
          </a:prstGeom>
          <a:solidFill>
            <a:srgbClr val="F259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304792" y="0"/>
            <a:ext cx="313936" cy="45720"/>
          </a:xfrm>
          <a:prstGeom prst="rect">
            <a:avLst/>
          </a:prstGeom>
          <a:solidFill>
            <a:srgbClr val="F36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609585" y="0"/>
            <a:ext cx="313936" cy="45720"/>
          </a:xfrm>
          <a:prstGeom prst="rect">
            <a:avLst/>
          </a:prstGeom>
          <a:solidFill>
            <a:srgbClr val="F36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914377" y="0"/>
            <a:ext cx="313936" cy="45720"/>
          </a:xfrm>
          <a:prstGeom prst="rect">
            <a:avLst/>
          </a:prstGeom>
          <a:solidFill>
            <a:srgbClr val="F47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1219170" y="0"/>
            <a:ext cx="313936" cy="45720"/>
          </a:xfrm>
          <a:prstGeom prst="rect">
            <a:avLst/>
          </a:prstGeom>
          <a:solidFill>
            <a:srgbClr val="F480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1523962" y="0"/>
            <a:ext cx="313936" cy="45720"/>
          </a:xfrm>
          <a:prstGeom prst="rect">
            <a:avLst/>
          </a:prstGeom>
          <a:solidFill>
            <a:srgbClr val="F58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1828754" y="0"/>
            <a:ext cx="313936" cy="45720"/>
          </a:xfrm>
          <a:prstGeom prst="rect">
            <a:avLst/>
          </a:prstGeom>
          <a:solidFill>
            <a:srgbClr val="F593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2133547" y="0"/>
            <a:ext cx="313936" cy="45720"/>
          </a:xfrm>
          <a:prstGeom prst="rect">
            <a:avLst/>
          </a:prstGeom>
          <a:solidFill>
            <a:srgbClr val="F69D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2438339" y="0"/>
            <a:ext cx="313936" cy="45720"/>
          </a:xfrm>
          <a:prstGeom prst="rect">
            <a:avLst/>
          </a:prstGeom>
          <a:solidFill>
            <a:srgbClr val="F6A7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2743131" y="0"/>
            <a:ext cx="313936" cy="45720"/>
          </a:xfrm>
          <a:prstGeom prst="rect">
            <a:avLst/>
          </a:prstGeom>
          <a:solidFill>
            <a:srgbClr val="F7B1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3047924" y="0"/>
            <a:ext cx="313936" cy="45720"/>
          </a:xfrm>
          <a:prstGeom prst="rect">
            <a:avLst/>
          </a:prstGeom>
          <a:solidFill>
            <a:srgbClr val="F2B9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3352716" y="0"/>
            <a:ext cx="313936" cy="45720"/>
          </a:xfrm>
          <a:prstGeom prst="rect">
            <a:avLst/>
          </a:prstGeom>
          <a:solidFill>
            <a:srgbClr val="DFBC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3657509" y="0"/>
            <a:ext cx="313936" cy="45720"/>
          </a:xfrm>
          <a:prstGeom prst="rect">
            <a:avLst/>
          </a:prstGeom>
          <a:solidFill>
            <a:srgbClr val="CCB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3962301" y="0"/>
            <a:ext cx="313936" cy="45720"/>
          </a:xfrm>
          <a:prstGeom prst="rect">
            <a:avLst/>
          </a:prstGeom>
          <a:solidFill>
            <a:srgbClr val="B9C2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4267093" y="0"/>
            <a:ext cx="313936" cy="45720"/>
          </a:xfrm>
          <a:prstGeom prst="rect">
            <a:avLst/>
          </a:prstGeom>
          <a:solidFill>
            <a:srgbClr val="A6C5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4571886" y="0"/>
            <a:ext cx="313936" cy="45720"/>
          </a:xfrm>
          <a:prstGeom prst="rect">
            <a:avLst/>
          </a:prstGeom>
          <a:solidFill>
            <a:srgbClr val="93C8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4876678" y="0"/>
            <a:ext cx="313936" cy="45720"/>
          </a:xfrm>
          <a:prstGeom prst="rect">
            <a:avLst/>
          </a:prstGeom>
          <a:solidFill>
            <a:srgbClr val="80CB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5181470" y="0"/>
            <a:ext cx="313936" cy="45720"/>
          </a:xfrm>
          <a:prstGeom prst="rect">
            <a:avLst/>
          </a:prstGeom>
          <a:solidFill>
            <a:srgbClr val="6DCE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5486263" y="0"/>
            <a:ext cx="313936" cy="45720"/>
          </a:xfrm>
          <a:prstGeom prst="rect">
            <a:avLst/>
          </a:prstGeom>
          <a:solidFill>
            <a:srgbClr val="5AD1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5791055" y="0"/>
            <a:ext cx="313936" cy="45720"/>
          </a:xfrm>
          <a:prstGeom prst="rect">
            <a:avLst/>
          </a:prstGeom>
          <a:solidFill>
            <a:srgbClr val="47D4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6095848" y="0"/>
            <a:ext cx="313936" cy="45720"/>
          </a:xfrm>
          <a:prstGeom prst="rect">
            <a:avLst/>
          </a:prstGeom>
          <a:solidFill>
            <a:srgbClr val="3FD1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6400640" y="0"/>
            <a:ext cx="313936" cy="45720"/>
          </a:xfrm>
          <a:prstGeom prst="rect">
            <a:avLst/>
          </a:prstGeom>
          <a:solidFill>
            <a:srgbClr val="41CA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6705432" y="0"/>
            <a:ext cx="313936" cy="45720"/>
          </a:xfrm>
          <a:prstGeom prst="rect">
            <a:avLst/>
          </a:prstGeom>
          <a:solidFill>
            <a:srgbClr val="42C3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7010225" y="0"/>
            <a:ext cx="313936" cy="45720"/>
          </a:xfrm>
          <a:prstGeom prst="rect">
            <a:avLst/>
          </a:prstGeom>
          <a:solidFill>
            <a:srgbClr val="44BB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7315017" y="0"/>
            <a:ext cx="313936" cy="45720"/>
          </a:xfrm>
          <a:prstGeom prst="rect">
            <a:avLst/>
          </a:prstGeom>
          <a:solidFill>
            <a:srgbClr val="46B4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7619809" y="0"/>
            <a:ext cx="313936" cy="45720"/>
          </a:xfrm>
          <a:prstGeom prst="rect">
            <a:avLst/>
          </a:prstGeom>
          <a:solidFill>
            <a:srgbClr val="48AC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7924602" y="0"/>
            <a:ext cx="313936" cy="45720"/>
          </a:xfrm>
          <a:prstGeom prst="rect">
            <a:avLst/>
          </a:prstGeom>
          <a:solidFill>
            <a:srgbClr val="49A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8229394" y="0"/>
            <a:ext cx="313936" cy="45720"/>
          </a:xfrm>
          <a:prstGeom prst="rect">
            <a:avLst/>
          </a:prstGeom>
          <a:solidFill>
            <a:srgbClr val="4B9E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8534187" y="0"/>
            <a:ext cx="313936" cy="45720"/>
          </a:xfrm>
          <a:prstGeom prst="rect">
            <a:avLst/>
          </a:prstGeom>
          <a:solidFill>
            <a:srgbClr val="4D96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8838979" y="0"/>
            <a:ext cx="313936" cy="45720"/>
          </a:xfrm>
          <a:prstGeom prst="rect">
            <a:avLst/>
          </a:prstGeom>
          <a:solidFill>
            <a:srgbClr val="4F8F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9143771" y="0"/>
            <a:ext cx="313936" cy="45720"/>
          </a:xfrm>
          <a:prstGeom prst="rect">
            <a:avLst/>
          </a:prstGeom>
          <a:solidFill>
            <a:srgbClr val="568A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9448564" y="0"/>
            <a:ext cx="313936" cy="45720"/>
          </a:xfrm>
          <a:prstGeom prst="rect">
            <a:avLst/>
          </a:prstGeom>
          <a:solidFill>
            <a:srgbClr val="5E87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9753356" y="0"/>
            <a:ext cx="313936" cy="45720"/>
          </a:xfrm>
          <a:prstGeom prst="rect">
            <a:avLst/>
          </a:prstGeom>
          <a:solidFill>
            <a:srgbClr val="6784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10058149" y="0"/>
            <a:ext cx="313936" cy="45720"/>
          </a:xfrm>
          <a:prstGeom prst="rect">
            <a:avLst/>
          </a:prstGeom>
          <a:solidFill>
            <a:srgbClr val="708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10362941" y="0"/>
            <a:ext cx="313936" cy="45720"/>
          </a:xfrm>
          <a:prstGeom prst="rect">
            <a:avLst/>
          </a:prstGeom>
          <a:solidFill>
            <a:srgbClr val="797D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10667733" y="0"/>
            <a:ext cx="313936" cy="45720"/>
          </a:xfrm>
          <a:prstGeom prst="rect">
            <a:avLst/>
          </a:prstGeom>
          <a:solidFill>
            <a:srgbClr val="827A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10972526" y="0"/>
            <a:ext cx="313936" cy="45720"/>
          </a:xfrm>
          <a:prstGeom prst="rect">
            <a:avLst/>
          </a:prstGeom>
          <a:solidFill>
            <a:srgbClr val="8B76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11277318" y="0"/>
            <a:ext cx="313936" cy="45720"/>
          </a:xfrm>
          <a:prstGeom prst="rect">
            <a:avLst/>
          </a:prstGeom>
          <a:solidFill>
            <a:srgbClr val="937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11582110" y="0"/>
            <a:ext cx="313936" cy="45720"/>
          </a:xfrm>
          <a:prstGeom prst="rect">
            <a:avLst/>
          </a:prstGeom>
          <a:solidFill>
            <a:srgbClr val="9C6F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11886903" y="0"/>
            <a:ext cx="313936" cy="45720"/>
          </a:xfrm>
          <a:prstGeom prst="rect">
            <a:avLst/>
          </a:prstGeom>
          <a:solidFill>
            <a:srgbClr val="A56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txBox="1"/>
          <p:nvPr>
            <p:ph idx="12"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rgbClr val="7A7A7A"/>
                </a:solidFill>
                <a:latin typeface="Arial"/>
                <a:ea typeface="Arial"/>
                <a:cs typeface="Arial"/>
                <a:sym typeface="Arial"/>
              </a:defRPr>
            </a:lvl1pPr>
            <a:lvl2pPr indent="0" lvl="1" marL="0" marR="0" algn="r">
              <a:spcBef>
                <a:spcPts val="0"/>
              </a:spcBef>
              <a:buNone/>
              <a:defRPr b="0" i="0" sz="900" u="none" cap="none" strike="noStrike">
                <a:solidFill>
                  <a:srgbClr val="7A7A7A"/>
                </a:solidFill>
                <a:latin typeface="Arial"/>
                <a:ea typeface="Arial"/>
                <a:cs typeface="Arial"/>
                <a:sym typeface="Arial"/>
              </a:defRPr>
            </a:lvl2pPr>
            <a:lvl3pPr indent="0" lvl="2" marL="0" marR="0" algn="r">
              <a:spcBef>
                <a:spcPts val="0"/>
              </a:spcBef>
              <a:buNone/>
              <a:defRPr b="0" i="0" sz="900" u="none" cap="none" strike="noStrike">
                <a:solidFill>
                  <a:srgbClr val="7A7A7A"/>
                </a:solidFill>
                <a:latin typeface="Arial"/>
                <a:ea typeface="Arial"/>
                <a:cs typeface="Arial"/>
                <a:sym typeface="Arial"/>
              </a:defRPr>
            </a:lvl3pPr>
            <a:lvl4pPr indent="0" lvl="3" marL="0" marR="0" algn="r">
              <a:spcBef>
                <a:spcPts val="0"/>
              </a:spcBef>
              <a:buNone/>
              <a:defRPr b="0" i="0" sz="900" u="none" cap="none" strike="noStrike">
                <a:solidFill>
                  <a:srgbClr val="7A7A7A"/>
                </a:solidFill>
                <a:latin typeface="Arial"/>
                <a:ea typeface="Arial"/>
                <a:cs typeface="Arial"/>
                <a:sym typeface="Arial"/>
              </a:defRPr>
            </a:lvl4pPr>
            <a:lvl5pPr indent="0" lvl="4" marL="0" marR="0" algn="r">
              <a:spcBef>
                <a:spcPts val="0"/>
              </a:spcBef>
              <a:buNone/>
              <a:defRPr b="0" i="0" sz="900" u="none" cap="none" strike="noStrike">
                <a:solidFill>
                  <a:srgbClr val="7A7A7A"/>
                </a:solidFill>
                <a:latin typeface="Arial"/>
                <a:ea typeface="Arial"/>
                <a:cs typeface="Arial"/>
                <a:sym typeface="Arial"/>
              </a:defRPr>
            </a:lvl5pPr>
            <a:lvl6pPr indent="0" lvl="5" marL="0" marR="0" algn="r">
              <a:spcBef>
                <a:spcPts val="0"/>
              </a:spcBef>
              <a:buNone/>
              <a:defRPr b="0" i="0" sz="900" u="none" cap="none" strike="noStrike">
                <a:solidFill>
                  <a:srgbClr val="7A7A7A"/>
                </a:solidFill>
                <a:latin typeface="Arial"/>
                <a:ea typeface="Arial"/>
                <a:cs typeface="Arial"/>
                <a:sym typeface="Arial"/>
              </a:defRPr>
            </a:lvl6pPr>
            <a:lvl7pPr indent="0" lvl="6" marL="0" marR="0" algn="r">
              <a:spcBef>
                <a:spcPts val="0"/>
              </a:spcBef>
              <a:buNone/>
              <a:defRPr b="0" i="0" sz="900" u="none" cap="none" strike="noStrike">
                <a:solidFill>
                  <a:srgbClr val="7A7A7A"/>
                </a:solidFill>
                <a:latin typeface="Arial"/>
                <a:ea typeface="Arial"/>
                <a:cs typeface="Arial"/>
                <a:sym typeface="Arial"/>
              </a:defRPr>
            </a:lvl7pPr>
            <a:lvl8pPr indent="0" lvl="7" marL="0" marR="0" algn="r">
              <a:spcBef>
                <a:spcPts val="0"/>
              </a:spcBef>
              <a:buNone/>
              <a:defRPr b="0" i="0" sz="900" u="none" cap="none" strike="noStrike">
                <a:solidFill>
                  <a:srgbClr val="7A7A7A"/>
                </a:solidFill>
                <a:latin typeface="Arial"/>
                <a:ea typeface="Arial"/>
                <a:cs typeface="Arial"/>
                <a:sym typeface="Arial"/>
              </a:defRPr>
            </a:lvl8pPr>
            <a:lvl9pPr indent="0" lvl="8" marL="0" marR="0" algn="r">
              <a:spcBef>
                <a:spcPts val="0"/>
              </a:spcBef>
              <a:buNone/>
              <a:defRPr b="0" i="0" sz="900" u="none" cap="none" strike="noStrike">
                <a:solidFill>
                  <a:srgbClr val="7A7A7A"/>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96" name="Shape 9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900" u="none" cap="none" strike="noStrike">
                <a:solidFill>
                  <a:srgbClr val="7A7A7A"/>
                </a:solidFill>
                <a:latin typeface="Arial"/>
                <a:ea typeface="Arial"/>
                <a:cs typeface="Arial"/>
                <a:sym typeface="Arial"/>
              </a:defRPr>
            </a:lvl1pPr>
            <a:lvl2pPr indent="0" lvl="1" marL="0" marR="0" rtl="0" algn="r">
              <a:spcBef>
                <a:spcPts val="0"/>
              </a:spcBef>
              <a:buNone/>
              <a:defRPr b="0" i="0" sz="900" u="none" cap="none" strike="noStrike">
                <a:solidFill>
                  <a:srgbClr val="7A7A7A"/>
                </a:solidFill>
                <a:latin typeface="Arial"/>
                <a:ea typeface="Arial"/>
                <a:cs typeface="Arial"/>
                <a:sym typeface="Arial"/>
              </a:defRPr>
            </a:lvl2pPr>
            <a:lvl3pPr indent="0" lvl="2" marL="0" marR="0" rtl="0" algn="r">
              <a:spcBef>
                <a:spcPts val="0"/>
              </a:spcBef>
              <a:buNone/>
              <a:defRPr b="0" i="0" sz="900" u="none" cap="none" strike="noStrike">
                <a:solidFill>
                  <a:srgbClr val="7A7A7A"/>
                </a:solidFill>
                <a:latin typeface="Arial"/>
                <a:ea typeface="Arial"/>
                <a:cs typeface="Arial"/>
                <a:sym typeface="Arial"/>
              </a:defRPr>
            </a:lvl3pPr>
            <a:lvl4pPr indent="0" lvl="3" marL="0" marR="0" rtl="0" algn="r">
              <a:spcBef>
                <a:spcPts val="0"/>
              </a:spcBef>
              <a:buNone/>
              <a:defRPr b="0" i="0" sz="900" u="none" cap="none" strike="noStrike">
                <a:solidFill>
                  <a:srgbClr val="7A7A7A"/>
                </a:solidFill>
                <a:latin typeface="Arial"/>
                <a:ea typeface="Arial"/>
                <a:cs typeface="Arial"/>
                <a:sym typeface="Arial"/>
              </a:defRPr>
            </a:lvl4pPr>
            <a:lvl5pPr indent="0" lvl="4" marL="0" marR="0" rtl="0" algn="r">
              <a:spcBef>
                <a:spcPts val="0"/>
              </a:spcBef>
              <a:buNone/>
              <a:defRPr b="0" i="0" sz="900" u="none" cap="none" strike="noStrike">
                <a:solidFill>
                  <a:srgbClr val="7A7A7A"/>
                </a:solidFill>
                <a:latin typeface="Arial"/>
                <a:ea typeface="Arial"/>
                <a:cs typeface="Arial"/>
                <a:sym typeface="Arial"/>
              </a:defRPr>
            </a:lvl5pPr>
            <a:lvl6pPr indent="0" lvl="5" marL="0" marR="0" rtl="0" algn="r">
              <a:spcBef>
                <a:spcPts val="0"/>
              </a:spcBef>
              <a:buNone/>
              <a:defRPr b="0" i="0" sz="900" u="none" cap="none" strike="noStrike">
                <a:solidFill>
                  <a:srgbClr val="7A7A7A"/>
                </a:solidFill>
                <a:latin typeface="Arial"/>
                <a:ea typeface="Arial"/>
                <a:cs typeface="Arial"/>
                <a:sym typeface="Arial"/>
              </a:defRPr>
            </a:lvl6pPr>
            <a:lvl7pPr indent="0" lvl="6" marL="0" marR="0" rtl="0" algn="r">
              <a:spcBef>
                <a:spcPts val="0"/>
              </a:spcBef>
              <a:buNone/>
              <a:defRPr b="0" i="0" sz="900" u="none" cap="none" strike="noStrike">
                <a:solidFill>
                  <a:srgbClr val="7A7A7A"/>
                </a:solidFill>
                <a:latin typeface="Arial"/>
                <a:ea typeface="Arial"/>
                <a:cs typeface="Arial"/>
                <a:sym typeface="Arial"/>
              </a:defRPr>
            </a:lvl7pPr>
            <a:lvl8pPr indent="0" lvl="7" marL="0" marR="0" rtl="0" algn="r">
              <a:spcBef>
                <a:spcPts val="0"/>
              </a:spcBef>
              <a:buNone/>
              <a:defRPr b="0" i="0" sz="900" u="none" cap="none" strike="noStrike">
                <a:solidFill>
                  <a:srgbClr val="7A7A7A"/>
                </a:solidFill>
                <a:latin typeface="Arial"/>
                <a:ea typeface="Arial"/>
                <a:cs typeface="Arial"/>
                <a:sym typeface="Arial"/>
              </a:defRPr>
            </a:lvl8pPr>
            <a:lvl9pPr indent="0" lvl="8" marL="0" marR="0" rtl="0" algn="r">
              <a:spcBef>
                <a:spcPts val="0"/>
              </a:spcBef>
              <a:buNone/>
              <a:defRPr b="0" i="0" sz="900" u="none" cap="none" strike="noStrike">
                <a:solidFill>
                  <a:srgbClr val="7A7A7A"/>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3.png"/><Relationship Id="rId10" Type="http://schemas.openxmlformats.org/officeDocument/2006/relationships/image" Target="../media/image15.png"/><Relationship Id="rId13" Type="http://schemas.openxmlformats.org/officeDocument/2006/relationships/image" Target="../media/image11.png"/><Relationship Id="rId12" Type="http://schemas.openxmlformats.org/officeDocument/2006/relationships/image" Target="../media/image44.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hyperlink" Target="https://luma.com/1s715pz4" TargetMode="External"/><Relationship Id="rId9" Type="http://schemas.openxmlformats.org/officeDocument/2006/relationships/image" Target="../media/image4.png"/><Relationship Id="rId15" Type="http://schemas.openxmlformats.org/officeDocument/2006/relationships/image" Target="../media/image14.png"/><Relationship Id="rId14" Type="http://schemas.openxmlformats.org/officeDocument/2006/relationships/image" Target="../media/image7.png"/><Relationship Id="rId17" Type="http://schemas.openxmlformats.org/officeDocument/2006/relationships/image" Target="../media/image50.png"/><Relationship Id="rId16" Type="http://schemas.openxmlformats.org/officeDocument/2006/relationships/image" Target="../media/image45.png"/><Relationship Id="rId5" Type="http://schemas.openxmlformats.org/officeDocument/2006/relationships/image" Target="../media/image34.png"/><Relationship Id="rId6" Type="http://schemas.openxmlformats.org/officeDocument/2006/relationships/image" Target="../media/image10.png"/><Relationship Id="rId7" Type="http://schemas.openxmlformats.org/officeDocument/2006/relationships/image" Target="../media/image9.png"/><Relationship Id="rId8" Type="http://schemas.openxmlformats.org/officeDocument/2006/relationships/image" Target="../media/image3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jpg"/><Relationship Id="rId4" Type="http://schemas.openxmlformats.org/officeDocument/2006/relationships/image" Target="../media/image9.png"/><Relationship Id="rId5" Type="http://schemas.openxmlformats.org/officeDocument/2006/relationships/hyperlink" Target="https://www.rejuve.bio" TargetMode="External"/><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rejuve.bio" TargetMode="Externa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rejuve.bio" TargetMode="Externa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rejuve.bio" TargetMode="Externa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4.jp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3.jpg"/><Relationship Id="rId4" Type="http://schemas.openxmlformats.org/officeDocument/2006/relationships/image" Target="../media/image9.png"/><Relationship Id="rId5" Type="http://schemas.openxmlformats.org/officeDocument/2006/relationships/hyperlink" Target="https://basix.market" TargetMode="External"/><Relationship Id="rId6"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basix.market" TargetMode="External"/><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basix.market" TargetMode="Externa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basix.market" TargetMode="Externa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3.jpg"/><Relationship Id="rId4" Type="http://schemas.openxmlformats.org/officeDocument/2006/relationships/image" Target="../media/image9.png"/><Relationship Id="rId5" Type="http://schemas.openxmlformats.org/officeDocument/2006/relationships/hyperlink" Target="https://www.worldtennis.app" TargetMode="External"/><Relationship Id="rId6"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www.worldtennis.app" TargetMode="Externa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www.worldtennis.app" TargetMode="Externa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www.worldtennis.app" TargetMode="Externa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0" Type="http://schemas.openxmlformats.org/officeDocument/2006/relationships/image" Target="../media/image44.png"/><Relationship Id="rId22" Type="http://schemas.openxmlformats.org/officeDocument/2006/relationships/image" Target="../media/image7.png"/><Relationship Id="rId21" Type="http://schemas.openxmlformats.org/officeDocument/2006/relationships/image" Target="../media/image11.png"/><Relationship Id="rId24" Type="http://schemas.openxmlformats.org/officeDocument/2006/relationships/image" Target="../media/image45.png"/><Relationship Id="rId23" Type="http://schemas.openxmlformats.org/officeDocument/2006/relationships/image" Target="../media/image14.png"/><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8.jpg"/><Relationship Id="rId4" Type="http://schemas.openxmlformats.org/officeDocument/2006/relationships/hyperlink" Target="https://www.rejuve.bio" TargetMode="External"/><Relationship Id="rId9" Type="http://schemas.openxmlformats.org/officeDocument/2006/relationships/image" Target="../media/image34.png"/><Relationship Id="rId25" Type="http://schemas.openxmlformats.org/officeDocument/2006/relationships/image" Target="../media/image50.png"/><Relationship Id="rId5" Type="http://schemas.openxmlformats.org/officeDocument/2006/relationships/hyperlink" Target="https://developers.stellar.org/docs/build/building-with-ai" TargetMode="External"/><Relationship Id="rId6" Type="http://schemas.openxmlformats.org/officeDocument/2006/relationships/hyperlink" Target="https://basix.market" TargetMode="External"/><Relationship Id="rId7" Type="http://schemas.openxmlformats.org/officeDocument/2006/relationships/hyperlink" Target="https://www.worldtennis.app" TargetMode="External"/><Relationship Id="rId8" Type="http://schemas.openxmlformats.org/officeDocument/2006/relationships/hyperlink" Target="https://luma.com/1s715pz4" TargetMode="External"/><Relationship Id="rId11" Type="http://schemas.openxmlformats.org/officeDocument/2006/relationships/hyperlink" Target="https://basix.market" TargetMode="External"/><Relationship Id="rId10" Type="http://schemas.openxmlformats.org/officeDocument/2006/relationships/hyperlink" Target="https://luma.com/1s715pz4" TargetMode="External"/><Relationship Id="rId13" Type="http://schemas.openxmlformats.org/officeDocument/2006/relationships/hyperlink" Target="https://basix.market" TargetMode="External"/><Relationship Id="rId12" Type="http://schemas.openxmlformats.org/officeDocument/2006/relationships/image" Target="../media/image33.png"/><Relationship Id="rId15" Type="http://schemas.openxmlformats.org/officeDocument/2006/relationships/image" Target="../media/image9.png"/><Relationship Id="rId14" Type="http://schemas.openxmlformats.org/officeDocument/2006/relationships/image" Target="../media/image10.png"/><Relationship Id="rId17" Type="http://schemas.openxmlformats.org/officeDocument/2006/relationships/image" Target="../media/image4.png"/><Relationship Id="rId16" Type="http://schemas.openxmlformats.org/officeDocument/2006/relationships/image" Target="../media/image35.png"/><Relationship Id="rId19" Type="http://schemas.openxmlformats.org/officeDocument/2006/relationships/image" Target="../media/image3.png"/><Relationship Id="rId18"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descr="Developers building under glowing azulejo tiles" id="102" name="Google Shape;102;p5"/>
          <p:cNvPicPr preferRelativeResize="0"/>
          <p:nvPr/>
        </p:nvPicPr>
        <p:blipFill rotWithShape="1">
          <a:blip r:embed="rId3">
            <a:alphaModFix/>
          </a:blip>
          <a:srcRect b="0" l="0" r="0" t="0"/>
          <a:stretch/>
        </p:blipFill>
        <p:spPr>
          <a:xfrm>
            <a:off x="7223750" y="93475"/>
            <a:ext cx="4967949" cy="6764524"/>
          </a:xfrm>
          <a:prstGeom prst="rect">
            <a:avLst/>
          </a:prstGeom>
          <a:noFill/>
          <a:ln>
            <a:noFill/>
          </a:ln>
        </p:spPr>
      </p:pic>
      <p:sp>
        <p:nvSpPr>
          <p:cNvPr id="103" name="Google Shape;103;p5"/>
          <p:cNvSpPr txBox="1"/>
          <p:nvPr/>
        </p:nvSpPr>
        <p:spPr>
          <a:xfrm>
            <a:off x="2103120" y="329184"/>
            <a:ext cx="45720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EXPLAINERS  ·  23–24 OCT 2026</a:t>
            </a:r>
            <a:endParaRPr b="0" i="0" sz="950" u="none" cap="none" strike="noStrike">
              <a:solidFill>
                <a:schemeClr val="dk1"/>
              </a:solidFill>
              <a:latin typeface="Arial"/>
              <a:ea typeface="Arial"/>
              <a:cs typeface="Arial"/>
              <a:sym typeface="Arial"/>
            </a:endParaRPr>
          </a:p>
        </p:txBody>
      </p:sp>
      <p:sp>
        <p:nvSpPr>
          <p:cNvPr id="104" name="Google Shape;104;p5"/>
          <p:cNvSpPr txBox="1"/>
          <p:nvPr/>
        </p:nvSpPr>
        <p:spPr>
          <a:xfrm>
            <a:off x="640080" y="1234440"/>
            <a:ext cx="5943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DEVELOPER BUILDATHON  ·  OMEGA AI AGENTS</a:t>
            </a:r>
            <a:endParaRPr b="0" i="0" sz="950" u="none" cap="none" strike="noStrike">
              <a:solidFill>
                <a:schemeClr val="dk1"/>
              </a:solidFill>
              <a:latin typeface="Arial"/>
              <a:ea typeface="Arial"/>
              <a:cs typeface="Arial"/>
              <a:sym typeface="Arial"/>
            </a:endParaRPr>
          </a:p>
        </p:txBody>
      </p:sp>
      <p:sp>
        <p:nvSpPr>
          <p:cNvPr id="105" name="Google Shape;105;p5"/>
          <p:cNvSpPr txBox="1"/>
          <p:nvPr/>
        </p:nvSpPr>
        <p:spPr>
          <a:xfrm>
            <a:off x="640080" y="1554480"/>
            <a:ext cx="6309360" cy="146304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AI Omega Lisbon</a:t>
            </a:r>
            <a:endParaRPr b="0" i="0" sz="4000" u="none" cap="none" strike="noStrike">
              <a:solidFill>
                <a:schemeClr val="dk1"/>
              </a:solidFill>
              <a:latin typeface="Arial"/>
              <a:ea typeface="Arial"/>
              <a:cs typeface="Arial"/>
              <a:sym typeface="Arial"/>
            </a:endParaRPr>
          </a:p>
          <a:p>
            <a:pPr indent="0" lvl="0" marL="0" marR="0" rtl="0" algn="l">
              <a:lnSpc>
                <a:spcPct val="95000"/>
              </a:lnSpc>
              <a:spcBef>
                <a:spcPts val="0"/>
              </a:spcBef>
              <a:spcAft>
                <a:spcPts val="0"/>
              </a:spcAft>
              <a:buClr>
                <a:srgbClr val="F2596B"/>
              </a:buClr>
              <a:buSzPts val="4000"/>
              <a:buFont typeface="Arial"/>
              <a:buNone/>
            </a:pPr>
            <a:r>
              <a:rPr b="1" i="0" lang="en-US" sz="4000" u="none" cap="none" strike="noStrike">
                <a:solidFill>
                  <a:srgbClr val="F2596B"/>
                </a:solidFill>
                <a:latin typeface="Arial"/>
                <a:ea typeface="Arial"/>
                <a:cs typeface="Arial"/>
                <a:sym typeface="Arial"/>
              </a:rPr>
              <a:t>T</a:t>
            </a:r>
            <a:r>
              <a:rPr b="1" i="0" lang="en-US" sz="4000" u="none" cap="none" strike="noStrike">
                <a:solidFill>
                  <a:srgbClr val="F37267"/>
                </a:solidFill>
                <a:latin typeface="Arial"/>
                <a:ea typeface="Arial"/>
                <a:cs typeface="Arial"/>
                <a:sym typeface="Arial"/>
              </a:rPr>
              <a:t>r</a:t>
            </a:r>
            <a:r>
              <a:rPr b="1" i="0" lang="en-US" sz="4000" u="none" cap="none" strike="noStrike">
                <a:solidFill>
                  <a:srgbClr val="F58C63"/>
                </a:solidFill>
                <a:latin typeface="Arial"/>
                <a:ea typeface="Arial"/>
                <a:cs typeface="Arial"/>
                <a:sym typeface="Arial"/>
              </a:rPr>
              <a:t>a</a:t>
            </a:r>
            <a:r>
              <a:rPr b="1" i="0" lang="en-US" sz="4000" u="none" cap="none" strike="noStrike">
                <a:solidFill>
                  <a:srgbClr val="F6A55F"/>
                </a:solidFill>
                <a:latin typeface="Arial"/>
                <a:ea typeface="Arial"/>
                <a:cs typeface="Arial"/>
                <a:sym typeface="Arial"/>
              </a:rPr>
              <a:t>c</a:t>
            </a:r>
            <a:r>
              <a:rPr b="1" i="0" lang="en-US" sz="4000" u="none" cap="none" strike="noStrike">
                <a:solidFill>
                  <a:srgbClr val="EBBA60"/>
                </a:solidFill>
                <a:latin typeface="Arial"/>
                <a:ea typeface="Arial"/>
                <a:cs typeface="Arial"/>
                <a:sym typeface="Arial"/>
              </a:rPr>
              <a:t>k</a:t>
            </a:r>
            <a:r>
              <a:rPr b="1" i="0" lang="en-US" sz="4000" u="none" cap="none" strike="noStrike">
                <a:solidFill>
                  <a:srgbClr val="FFFFFF"/>
                </a:solidFill>
                <a:latin typeface="Arial"/>
                <a:ea typeface="Arial"/>
                <a:cs typeface="Arial"/>
                <a:sym typeface="Arial"/>
              </a:rPr>
              <a:t> </a:t>
            </a:r>
            <a:r>
              <a:rPr b="1" i="0" lang="en-US" sz="4000" u="none" cap="none" strike="noStrike">
                <a:solidFill>
                  <a:srgbClr val="B9C270"/>
                </a:solidFill>
                <a:latin typeface="Arial"/>
                <a:ea typeface="Arial"/>
                <a:cs typeface="Arial"/>
                <a:sym typeface="Arial"/>
              </a:rPr>
              <a:t>E</a:t>
            </a:r>
            <a:r>
              <a:rPr b="1" i="0" lang="en-US" sz="4000" u="none" cap="none" strike="noStrike">
                <a:solidFill>
                  <a:srgbClr val="88C980"/>
                </a:solidFill>
                <a:latin typeface="Arial"/>
                <a:ea typeface="Arial"/>
                <a:cs typeface="Arial"/>
                <a:sym typeface="Arial"/>
              </a:rPr>
              <a:t>x</a:t>
            </a:r>
            <a:r>
              <a:rPr b="1" i="0" lang="en-US" sz="4000" u="none" cap="none" strike="noStrike">
                <a:solidFill>
                  <a:srgbClr val="57D190"/>
                </a:solidFill>
                <a:latin typeface="Arial"/>
                <a:ea typeface="Arial"/>
                <a:cs typeface="Arial"/>
                <a:sym typeface="Arial"/>
              </a:rPr>
              <a:t>p</a:t>
            </a:r>
            <a:r>
              <a:rPr b="1" i="0" lang="en-US" sz="4000" u="none" cap="none" strike="noStrike">
                <a:solidFill>
                  <a:srgbClr val="40CBA4"/>
                </a:solidFill>
                <a:latin typeface="Arial"/>
                <a:ea typeface="Arial"/>
                <a:cs typeface="Arial"/>
                <a:sym typeface="Arial"/>
              </a:rPr>
              <a:t>l</a:t>
            </a:r>
            <a:r>
              <a:rPr b="1" i="0" lang="en-US" sz="4000" u="none" cap="none" strike="noStrike">
                <a:solidFill>
                  <a:srgbClr val="45B8BB"/>
                </a:solidFill>
                <a:latin typeface="Arial"/>
                <a:ea typeface="Arial"/>
                <a:cs typeface="Arial"/>
                <a:sym typeface="Arial"/>
              </a:rPr>
              <a:t>a</a:t>
            </a:r>
            <a:r>
              <a:rPr b="1" i="0" lang="en-US" sz="4000" u="none" cap="none" strike="noStrike">
                <a:solidFill>
                  <a:srgbClr val="49A5D3"/>
                </a:solidFill>
                <a:latin typeface="Arial"/>
                <a:ea typeface="Arial"/>
                <a:cs typeface="Arial"/>
                <a:sym typeface="Arial"/>
              </a:rPr>
              <a:t>i</a:t>
            </a:r>
            <a:r>
              <a:rPr b="1" i="0" lang="en-US" sz="4000" u="none" cap="none" strike="noStrike">
                <a:solidFill>
                  <a:srgbClr val="4E92EA"/>
                </a:solidFill>
                <a:latin typeface="Arial"/>
                <a:ea typeface="Arial"/>
                <a:cs typeface="Arial"/>
                <a:sym typeface="Arial"/>
              </a:rPr>
              <a:t>n</a:t>
            </a:r>
            <a:r>
              <a:rPr b="1" i="0" lang="en-US" sz="4000" u="none" cap="none" strike="noStrike">
                <a:solidFill>
                  <a:srgbClr val="6086F0"/>
                </a:solidFill>
                <a:latin typeface="Arial"/>
                <a:ea typeface="Arial"/>
                <a:cs typeface="Arial"/>
                <a:sym typeface="Arial"/>
              </a:rPr>
              <a:t>e</a:t>
            </a:r>
            <a:r>
              <a:rPr b="1" i="0" lang="en-US" sz="4000" u="none" cap="none" strike="noStrike">
                <a:solidFill>
                  <a:srgbClr val="777EF0"/>
                </a:solidFill>
                <a:latin typeface="Arial"/>
                <a:ea typeface="Arial"/>
                <a:cs typeface="Arial"/>
                <a:sym typeface="Arial"/>
              </a:rPr>
              <a:t>r</a:t>
            </a:r>
            <a:r>
              <a:rPr b="1" i="0" lang="en-US" sz="4000" u="none" cap="none" strike="noStrike">
                <a:solidFill>
                  <a:srgbClr val="8E75F0"/>
                </a:solidFill>
                <a:latin typeface="Arial"/>
                <a:ea typeface="Arial"/>
                <a:cs typeface="Arial"/>
                <a:sym typeface="Arial"/>
              </a:rPr>
              <a:t>s</a:t>
            </a:r>
            <a:r>
              <a:rPr b="1" i="0" lang="en-US" sz="4000" u="none" cap="none" strike="noStrike">
                <a:solidFill>
                  <a:srgbClr val="A56CF0"/>
                </a:solidFill>
                <a:latin typeface="Arial"/>
                <a:ea typeface="Arial"/>
                <a:cs typeface="Arial"/>
                <a:sym typeface="Arial"/>
              </a:rPr>
              <a:t>.</a:t>
            </a:r>
            <a:endParaRPr b="0" i="0" sz="4000" u="none" cap="none" strike="noStrike">
              <a:solidFill>
                <a:schemeClr val="dk1"/>
              </a:solidFill>
              <a:latin typeface="Arial"/>
              <a:ea typeface="Arial"/>
              <a:cs typeface="Arial"/>
              <a:sym typeface="Arial"/>
            </a:endParaRPr>
          </a:p>
        </p:txBody>
      </p:sp>
      <p:sp>
        <p:nvSpPr>
          <p:cNvPr id="106" name="Google Shape;106;p5"/>
          <p:cNvSpPr txBox="1"/>
          <p:nvPr/>
        </p:nvSpPr>
        <p:spPr>
          <a:xfrm>
            <a:off x="640080" y="3200400"/>
            <a:ext cx="4572000" cy="10972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One page per track for the AI Omega Developer Buildathon, 23–24 October 2026, HealthHub by Unicorn Factory Lisboa. Pick one track. The Rules Brief applies to every track.</a:t>
            </a:r>
            <a:endParaRPr b="0" i="0" sz="1350" u="none" cap="none" strike="noStrike">
              <a:solidFill>
                <a:schemeClr val="dk1"/>
              </a:solidFill>
              <a:latin typeface="Arial"/>
              <a:ea typeface="Arial"/>
              <a:cs typeface="Arial"/>
              <a:sym typeface="Arial"/>
            </a:endParaRPr>
          </a:p>
        </p:txBody>
      </p:sp>
      <p:pic>
        <p:nvPicPr>
          <p:cNvPr descr="QR code: luma.com/1s715pz4" id="107" name="Google Shape;107;p5">
            <a:hlinkClick r:id="rId4"/>
          </p:cNvPr>
          <p:cNvPicPr preferRelativeResize="0"/>
          <p:nvPr/>
        </p:nvPicPr>
        <p:blipFill rotWithShape="1">
          <a:blip r:embed="rId5">
            <a:alphaModFix/>
          </a:blip>
          <a:srcRect b="0" l="0" r="0" t="0"/>
          <a:stretch/>
        </p:blipFill>
        <p:spPr>
          <a:xfrm>
            <a:off x="5669280" y="3200400"/>
            <a:ext cx="1005840" cy="1005840"/>
          </a:xfrm>
          <a:prstGeom prst="rect">
            <a:avLst/>
          </a:prstGeom>
          <a:noFill/>
          <a:ln>
            <a:noFill/>
          </a:ln>
        </p:spPr>
      </p:pic>
      <p:sp>
        <p:nvSpPr>
          <p:cNvPr id="108" name="Google Shape;108;p5"/>
          <p:cNvSpPr txBox="1"/>
          <p:nvPr/>
        </p:nvSpPr>
        <p:spPr>
          <a:xfrm>
            <a:off x="5303520" y="4251960"/>
            <a:ext cx="1371600" cy="201168"/>
          </a:xfrm>
          <a:prstGeom prst="rect">
            <a:avLst/>
          </a:prstGeom>
          <a:noFill/>
          <a:ln>
            <a:noFill/>
          </a:ln>
        </p:spPr>
        <p:txBody>
          <a:bodyPr anchorCtr="0" anchor="ctr" bIns="0" lIns="0" spcFirstLastPara="1" rIns="0" wrap="square" tIns="0">
            <a:noAutofit/>
          </a:bodyPr>
          <a:lstStyle/>
          <a:p>
            <a:pPr indent="0" lvl="0" marL="0" marR="0" rtl="0" algn="r">
              <a:lnSpc>
                <a:spcPct val="112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luma.com/1s715pz4</a:t>
            </a:r>
            <a:endParaRPr b="0" i="0" sz="900" u="none" cap="none" strike="noStrike">
              <a:solidFill>
                <a:schemeClr val="dk1"/>
              </a:solidFill>
              <a:latin typeface="Arial"/>
              <a:ea typeface="Arial"/>
              <a:cs typeface="Arial"/>
              <a:sym typeface="Arial"/>
            </a:endParaRPr>
          </a:p>
        </p:txBody>
      </p:sp>
      <p:cxnSp>
        <p:nvCxnSpPr>
          <p:cNvPr id="109" name="Google Shape;109;p5"/>
          <p:cNvCxnSpPr/>
          <p:nvPr/>
        </p:nvCxnSpPr>
        <p:spPr>
          <a:xfrm>
            <a:off x="640080" y="4617720"/>
            <a:ext cx="6035040" cy="0"/>
          </a:xfrm>
          <a:prstGeom prst="straightConnector1">
            <a:avLst/>
          </a:prstGeom>
          <a:noFill/>
          <a:ln cap="flat" cmpd="sng" w="9525">
            <a:solidFill>
              <a:srgbClr val="262626"/>
            </a:solidFill>
            <a:prstDash val="solid"/>
            <a:round/>
            <a:headEnd len="sm" w="sm" type="none"/>
            <a:tailEnd len="sm" w="sm" type="none"/>
          </a:ln>
        </p:spPr>
      </p:cxnSp>
      <p:sp>
        <p:nvSpPr>
          <p:cNvPr id="110" name="Google Shape;110;p5"/>
          <p:cNvSpPr/>
          <p:nvPr/>
        </p:nvSpPr>
        <p:spPr>
          <a:xfrm>
            <a:off x="640080" y="4818888"/>
            <a:ext cx="109728" cy="109728"/>
          </a:xfrm>
          <a:prstGeom prst="ellipse">
            <a:avLst/>
          </a:prstGeom>
          <a:solidFill>
            <a:srgbClr val="3ED5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txBox="1"/>
          <p:nvPr/>
        </p:nvSpPr>
        <p:spPr>
          <a:xfrm>
            <a:off x="822960" y="4736592"/>
            <a:ext cx="1325880" cy="2743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01  Rejuve.bio</a:t>
            </a:r>
            <a:endParaRPr b="0" i="0" sz="1050" u="none" cap="none" strike="noStrike">
              <a:solidFill>
                <a:schemeClr val="dk1"/>
              </a:solidFill>
              <a:latin typeface="Arial"/>
              <a:ea typeface="Arial"/>
              <a:cs typeface="Arial"/>
              <a:sym typeface="Arial"/>
            </a:endParaRPr>
          </a:p>
        </p:txBody>
      </p:sp>
      <p:sp>
        <p:nvSpPr>
          <p:cNvPr id="112" name="Google Shape;112;p5"/>
          <p:cNvSpPr/>
          <p:nvPr/>
        </p:nvSpPr>
        <p:spPr>
          <a:xfrm>
            <a:off x="2148840" y="4818888"/>
            <a:ext cx="109728" cy="109728"/>
          </a:xfrm>
          <a:prstGeom prst="ellipse">
            <a:avLst/>
          </a:prstGeom>
          <a:solidFill>
            <a:srgbClr val="4F8D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txBox="1"/>
          <p:nvPr/>
        </p:nvSpPr>
        <p:spPr>
          <a:xfrm>
            <a:off x="2331720" y="4736592"/>
            <a:ext cx="1325880" cy="2743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02  Omega payouts</a:t>
            </a:r>
            <a:endParaRPr b="0" i="0" sz="1050" u="none" cap="none" strike="noStrike">
              <a:solidFill>
                <a:schemeClr val="dk1"/>
              </a:solidFill>
              <a:latin typeface="Arial"/>
              <a:ea typeface="Arial"/>
              <a:cs typeface="Arial"/>
              <a:sym typeface="Arial"/>
            </a:endParaRPr>
          </a:p>
        </p:txBody>
      </p:sp>
      <p:sp>
        <p:nvSpPr>
          <p:cNvPr id="114" name="Google Shape;114;p5"/>
          <p:cNvSpPr/>
          <p:nvPr/>
        </p:nvSpPr>
        <p:spPr>
          <a:xfrm>
            <a:off x="3657600" y="4818888"/>
            <a:ext cx="109728" cy="109728"/>
          </a:xfrm>
          <a:prstGeom prst="ellipse">
            <a:avLst/>
          </a:prstGeom>
          <a:solidFill>
            <a:srgbClr val="A56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txBox="1"/>
          <p:nvPr/>
        </p:nvSpPr>
        <p:spPr>
          <a:xfrm>
            <a:off x="3840480" y="4736592"/>
            <a:ext cx="1325880" cy="2743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03  BASIX.MARKET</a:t>
            </a:r>
            <a:endParaRPr b="0" i="0" sz="1050" u="none" cap="none" strike="noStrike">
              <a:solidFill>
                <a:schemeClr val="dk1"/>
              </a:solidFill>
              <a:latin typeface="Arial"/>
              <a:ea typeface="Arial"/>
              <a:cs typeface="Arial"/>
              <a:sym typeface="Arial"/>
            </a:endParaRPr>
          </a:p>
        </p:txBody>
      </p:sp>
      <p:sp>
        <p:nvSpPr>
          <p:cNvPr id="116" name="Google Shape;116;p5"/>
          <p:cNvSpPr/>
          <p:nvPr/>
        </p:nvSpPr>
        <p:spPr>
          <a:xfrm>
            <a:off x="5166360" y="4818888"/>
            <a:ext cx="109728" cy="109728"/>
          </a:xfrm>
          <a:prstGeom prst="ellipse">
            <a:avLst/>
          </a:prstGeom>
          <a:solidFill>
            <a:srgbClr val="F7B8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txBox="1"/>
          <p:nvPr/>
        </p:nvSpPr>
        <p:spPr>
          <a:xfrm>
            <a:off x="5349240" y="4736592"/>
            <a:ext cx="1325880" cy="2743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04  World Tennis</a:t>
            </a:r>
            <a:endParaRPr b="0" i="0" sz="1050" u="none" cap="none" strike="noStrike">
              <a:solidFill>
                <a:schemeClr val="dk1"/>
              </a:solidFill>
              <a:latin typeface="Arial"/>
              <a:ea typeface="Arial"/>
              <a:cs typeface="Arial"/>
              <a:sym typeface="Arial"/>
            </a:endParaRPr>
          </a:p>
        </p:txBody>
      </p:sp>
      <p:pic>
        <p:nvPicPr>
          <p:cNvPr descr="snet" id="118" name="Google Shape;118;p5"/>
          <p:cNvPicPr preferRelativeResize="0"/>
          <p:nvPr/>
        </p:nvPicPr>
        <p:blipFill rotWithShape="1">
          <a:blip r:embed="rId6">
            <a:alphaModFix/>
          </a:blip>
          <a:srcRect b="0" l="0" r="0" t="0"/>
          <a:stretch/>
        </p:blipFill>
        <p:spPr>
          <a:xfrm>
            <a:off x="640080" y="5559697"/>
            <a:ext cx="872279" cy="219166"/>
          </a:xfrm>
          <a:prstGeom prst="rect">
            <a:avLst/>
          </a:prstGeom>
          <a:noFill/>
          <a:ln>
            <a:noFill/>
          </a:ln>
        </p:spPr>
      </p:pic>
      <p:pic>
        <p:nvPicPr>
          <p:cNvPr descr="asi" id="119" name="Google Shape;119;p5"/>
          <p:cNvPicPr preferRelativeResize="0"/>
          <p:nvPr/>
        </p:nvPicPr>
        <p:blipFill rotWithShape="1">
          <a:blip r:embed="rId7">
            <a:alphaModFix/>
          </a:blip>
          <a:srcRect b="0" l="0" r="0" t="0"/>
          <a:stretch/>
        </p:blipFill>
        <p:spPr>
          <a:xfrm>
            <a:off x="1628534" y="5566590"/>
            <a:ext cx="954158" cy="205379"/>
          </a:xfrm>
          <a:prstGeom prst="rect">
            <a:avLst/>
          </a:prstGeom>
          <a:noFill/>
          <a:ln>
            <a:noFill/>
          </a:ln>
        </p:spPr>
      </p:pic>
      <p:pic>
        <p:nvPicPr>
          <p:cNvPr descr="basix" id="120" name="Google Shape;120;p5"/>
          <p:cNvPicPr preferRelativeResize="0"/>
          <p:nvPr/>
        </p:nvPicPr>
        <p:blipFill rotWithShape="1">
          <a:blip r:embed="rId8">
            <a:alphaModFix/>
          </a:blip>
          <a:srcRect b="0" l="0" r="0" t="0"/>
          <a:stretch/>
        </p:blipFill>
        <p:spPr>
          <a:xfrm>
            <a:off x="2698866" y="5592372"/>
            <a:ext cx="1422358" cy="153815"/>
          </a:xfrm>
          <a:prstGeom prst="rect">
            <a:avLst/>
          </a:prstGeom>
          <a:noFill/>
          <a:ln>
            <a:noFill/>
          </a:ln>
        </p:spPr>
      </p:pic>
      <p:pic>
        <p:nvPicPr>
          <p:cNvPr descr="rejuve" id="121" name="Google Shape;121;p5"/>
          <p:cNvPicPr preferRelativeResize="0"/>
          <p:nvPr/>
        </p:nvPicPr>
        <p:blipFill rotWithShape="1">
          <a:blip r:embed="rId9">
            <a:alphaModFix/>
          </a:blip>
          <a:srcRect b="0" l="0" r="0" t="0"/>
          <a:stretch/>
        </p:blipFill>
        <p:spPr>
          <a:xfrm>
            <a:off x="4237399" y="5550657"/>
            <a:ext cx="781833" cy="237246"/>
          </a:xfrm>
          <a:prstGeom prst="rect">
            <a:avLst/>
          </a:prstGeom>
          <a:noFill/>
          <a:ln>
            <a:noFill/>
          </a:ln>
        </p:spPr>
      </p:pic>
      <p:pic>
        <p:nvPicPr>
          <p:cNvPr descr="bgi" id="122" name="Google Shape;122;p5"/>
          <p:cNvPicPr preferRelativeResize="0"/>
          <p:nvPr/>
        </p:nvPicPr>
        <p:blipFill rotWithShape="1">
          <a:blip r:embed="rId10">
            <a:alphaModFix/>
          </a:blip>
          <a:srcRect b="0" l="0" r="0" t="0"/>
          <a:stretch/>
        </p:blipFill>
        <p:spPr>
          <a:xfrm>
            <a:off x="5135407" y="5526405"/>
            <a:ext cx="492919" cy="285750"/>
          </a:xfrm>
          <a:prstGeom prst="rect">
            <a:avLst/>
          </a:prstGeom>
          <a:noFill/>
          <a:ln>
            <a:noFill/>
          </a:ln>
        </p:spPr>
      </p:pic>
      <p:pic>
        <p:nvPicPr>
          <p:cNvPr descr="xra" id="123" name="Google Shape;123;p5"/>
          <p:cNvPicPr preferRelativeResize="0"/>
          <p:nvPr/>
        </p:nvPicPr>
        <p:blipFill rotWithShape="1">
          <a:blip r:embed="rId11">
            <a:alphaModFix/>
          </a:blip>
          <a:srcRect b="0" l="0" r="0" t="0"/>
          <a:stretch/>
        </p:blipFill>
        <p:spPr>
          <a:xfrm>
            <a:off x="5744501" y="5564716"/>
            <a:ext cx="930619" cy="209128"/>
          </a:xfrm>
          <a:prstGeom prst="rect">
            <a:avLst/>
          </a:prstGeom>
          <a:noFill/>
          <a:ln>
            <a:noFill/>
          </a:ln>
        </p:spPr>
      </p:pic>
      <p:pic>
        <p:nvPicPr>
          <p:cNvPr descr="btc" id="124" name="Google Shape;124;p5"/>
          <p:cNvPicPr preferRelativeResize="0"/>
          <p:nvPr/>
        </p:nvPicPr>
        <p:blipFill rotWithShape="1">
          <a:blip r:embed="rId12">
            <a:alphaModFix/>
          </a:blip>
          <a:srcRect b="0" l="0" r="0" t="0"/>
          <a:stretch/>
        </p:blipFill>
        <p:spPr>
          <a:xfrm>
            <a:off x="640080" y="6144357"/>
            <a:ext cx="1289761" cy="110551"/>
          </a:xfrm>
          <a:prstGeom prst="rect">
            <a:avLst/>
          </a:prstGeom>
          <a:noFill/>
          <a:ln>
            <a:noFill/>
          </a:ln>
        </p:spPr>
      </p:pic>
      <p:pic>
        <p:nvPicPr>
          <p:cNvPr descr="wtapp" id="125" name="Google Shape;125;p5"/>
          <p:cNvPicPr preferRelativeResize="0"/>
          <p:nvPr/>
        </p:nvPicPr>
        <p:blipFill rotWithShape="1">
          <a:blip r:embed="rId13">
            <a:alphaModFix/>
          </a:blip>
          <a:srcRect b="0" l="0" r="0" t="0"/>
          <a:stretch/>
        </p:blipFill>
        <p:spPr>
          <a:xfrm>
            <a:off x="2088516" y="6110478"/>
            <a:ext cx="1220359" cy="178308"/>
          </a:xfrm>
          <a:prstGeom prst="rect">
            <a:avLst/>
          </a:prstGeom>
          <a:noFill/>
          <a:ln>
            <a:noFill/>
          </a:ln>
        </p:spPr>
      </p:pic>
      <p:pic>
        <p:nvPicPr>
          <p:cNvPr descr="unicorn" id="126" name="Google Shape;126;p5"/>
          <p:cNvPicPr preferRelativeResize="0"/>
          <p:nvPr/>
        </p:nvPicPr>
        <p:blipFill rotWithShape="1">
          <a:blip r:embed="rId14">
            <a:alphaModFix/>
          </a:blip>
          <a:srcRect b="0" l="0" r="0" t="0"/>
          <a:stretch/>
        </p:blipFill>
        <p:spPr>
          <a:xfrm>
            <a:off x="3467550" y="6129152"/>
            <a:ext cx="888046" cy="140960"/>
          </a:xfrm>
          <a:prstGeom prst="rect">
            <a:avLst/>
          </a:prstGeom>
          <a:noFill/>
          <a:ln>
            <a:noFill/>
          </a:ln>
        </p:spPr>
      </p:pic>
      <p:pic>
        <p:nvPicPr>
          <p:cNvPr descr="healthhub" id="127" name="Google Shape;127;p5"/>
          <p:cNvPicPr preferRelativeResize="0"/>
          <p:nvPr/>
        </p:nvPicPr>
        <p:blipFill rotWithShape="1">
          <a:blip r:embed="rId15">
            <a:alphaModFix/>
          </a:blip>
          <a:srcRect b="0" l="0" r="0" t="0"/>
          <a:stretch/>
        </p:blipFill>
        <p:spPr>
          <a:xfrm>
            <a:off x="4514270" y="6124632"/>
            <a:ext cx="814998" cy="150000"/>
          </a:xfrm>
          <a:prstGeom prst="rect">
            <a:avLst/>
          </a:prstGeom>
          <a:noFill/>
          <a:ln>
            <a:noFill/>
          </a:ln>
        </p:spPr>
      </p:pic>
      <p:pic>
        <p:nvPicPr>
          <p:cNvPr descr="fintech" id="128" name="Google Shape;128;p5"/>
          <p:cNvPicPr preferRelativeResize="0"/>
          <p:nvPr/>
        </p:nvPicPr>
        <p:blipFill rotWithShape="1">
          <a:blip r:embed="rId16">
            <a:alphaModFix/>
          </a:blip>
          <a:srcRect b="0" l="0" r="0" t="0"/>
          <a:stretch/>
        </p:blipFill>
        <p:spPr>
          <a:xfrm>
            <a:off x="5487943" y="6103383"/>
            <a:ext cx="577495" cy="192498"/>
          </a:xfrm>
          <a:prstGeom prst="rect">
            <a:avLst/>
          </a:prstGeom>
          <a:noFill/>
          <a:ln>
            <a:noFill/>
          </a:ln>
        </p:spPr>
      </p:pic>
      <p:pic>
        <p:nvPicPr>
          <p:cNvPr descr="sitio" id="129" name="Google Shape;129;p5"/>
          <p:cNvPicPr preferRelativeResize="0"/>
          <p:nvPr/>
        </p:nvPicPr>
        <p:blipFill rotWithShape="1">
          <a:blip r:embed="rId17">
            <a:alphaModFix/>
          </a:blip>
          <a:srcRect b="0" l="0" r="0" t="0"/>
          <a:stretch/>
        </p:blipFill>
        <p:spPr>
          <a:xfrm>
            <a:off x="6224112" y="6114936"/>
            <a:ext cx="451008" cy="16939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OVERVIEW</a:t>
            </a:r>
            <a:endParaRPr b="0" i="0" sz="950" u="none" cap="none" strike="noStrike">
              <a:solidFill>
                <a:schemeClr val="dk1"/>
              </a:solidFill>
              <a:latin typeface="Arial"/>
              <a:ea typeface="Arial"/>
              <a:cs typeface="Arial"/>
              <a:sym typeface="Arial"/>
            </a:endParaRPr>
          </a:p>
        </p:txBody>
      </p:sp>
      <p:sp>
        <p:nvSpPr>
          <p:cNvPr id="136" name="Google Shape;136;p6"/>
          <p:cNvSpPr txBox="1"/>
          <p:nvPr/>
        </p:nvSpPr>
        <p:spPr>
          <a:xfrm>
            <a:off x="640080" y="914400"/>
            <a:ext cx="10911535"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Four tracks. </a:t>
            </a:r>
            <a:r>
              <a:rPr b="1" i="0" lang="en-US" sz="3200" u="none" cap="none" strike="noStrike">
                <a:solidFill>
                  <a:srgbClr val="F2596B"/>
                </a:solidFill>
                <a:latin typeface="Arial"/>
                <a:ea typeface="Arial"/>
                <a:cs typeface="Arial"/>
                <a:sym typeface="Arial"/>
              </a:rPr>
              <a:t>P</a:t>
            </a:r>
            <a:r>
              <a:rPr b="1" i="0" lang="en-US" sz="3200" u="none" cap="none" strike="noStrike">
                <a:solidFill>
                  <a:srgbClr val="F58F62"/>
                </a:solidFill>
                <a:latin typeface="Arial"/>
                <a:ea typeface="Arial"/>
                <a:cs typeface="Arial"/>
                <a:sym typeface="Arial"/>
              </a:rPr>
              <a:t>i</a:t>
            </a:r>
            <a:r>
              <a:rPr b="1" i="0" lang="en-US" sz="3200" u="none" cap="none" strike="noStrike">
                <a:solidFill>
                  <a:srgbClr val="DDBC65"/>
                </a:solidFill>
                <a:latin typeface="Arial"/>
                <a:ea typeface="Arial"/>
                <a:cs typeface="Arial"/>
                <a:sym typeface="Arial"/>
              </a:rPr>
              <a:t>c</a:t>
            </a:r>
            <a:r>
              <a:rPr b="1" i="0" lang="en-US" sz="3200" u="none" cap="none" strike="noStrike">
                <a:solidFill>
                  <a:srgbClr val="73CD87"/>
                </a:solidFill>
                <a:latin typeface="Arial"/>
                <a:ea typeface="Arial"/>
                <a:cs typeface="Arial"/>
                <a:sym typeface="Arial"/>
              </a:rPr>
              <a:t>k</a:t>
            </a:r>
            <a:r>
              <a:rPr b="1" i="0" lang="en-US" sz="3200" u="none" cap="none" strike="noStrike">
                <a:solidFill>
                  <a:srgbClr val="FFFFFF"/>
                </a:solidFill>
                <a:latin typeface="Arial"/>
                <a:ea typeface="Arial"/>
                <a:cs typeface="Arial"/>
                <a:sym typeface="Arial"/>
              </a:rPr>
              <a:t> </a:t>
            </a:r>
            <a:r>
              <a:rPr b="1" i="0" lang="en-US" sz="3200" u="none" cap="none" strike="noStrike">
                <a:solidFill>
                  <a:srgbClr val="43C0B1"/>
                </a:solidFill>
                <a:latin typeface="Arial"/>
                <a:ea typeface="Arial"/>
                <a:cs typeface="Arial"/>
                <a:sym typeface="Arial"/>
              </a:rPr>
              <a:t>o</a:t>
            </a:r>
            <a:r>
              <a:rPr b="1" i="0" lang="en-US" sz="3200" u="none" cap="none" strike="noStrike">
                <a:solidFill>
                  <a:srgbClr val="4D97E3"/>
                </a:solidFill>
                <a:latin typeface="Arial"/>
                <a:ea typeface="Arial"/>
                <a:cs typeface="Arial"/>
                <a:sym typeface="Arial"/>
              </a:rPr>
              <a:t>n</a:t>
            </a:r>
            <a:r>
              <a:rPr b="1" i="0" lang="en-US" sz="3200" u="none" cap="none" strike="noStrike">
                <a:solidFill>
                  <a:srgbClr val="747FF0"/>
                </a:solidFill>
                <a:latin typeface="Arial"/>
                <a:ea typeface="Arial"/>
                <a:cs typeface="Arial"/>
                <a:sym typeface="Arial"/>
              </a:rPr>
              <a:t>e</a:t>
            </a:r>
            <a:r>
              <a:rPr b="1" i="0" lang="en-US" sz="3200" u="none" cap="none" strike="noStrike">
                <a:solidFill>
                  <a:srgbClr val="A56CF0"/>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
        <p:nvSpPr>
          <p:cNvPr id="137" name="Google Shape;137;p6"/>
          <p:cNvSpPr txBox="1"/>
          <p:nvPr/>
        </p:nvSpPr>
        <p:spPr>
          <a:xfrm>
            <a:off x="640080" y="1783080"/>
            <a:ext cx="329184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a:t>
            </a:r>
            <a:endParaRPr b="0" i="0" sz="950" u="none" cap="none" strike="noStrike">
              <a:solidFill>
                <a:schemeClr val="dk1"/>
              </a:solidFill>
              <a:latin typeface="Arial"/>
              <a:ea typeface="Arial"/>
              <a:cs typeface="Arial"/>
              <a:sym typeface="Arial"/>
            </a:endParaRPr>
          </a:p>
        </p:txBody>
      </p:sp>
      <p:sp>
        <p:nvSpPr>
          <p:cNvPr id="138" name="Google Shape;138;p6"/>
          <p:cNvSpPr txBox="1"/>
          <p:nvPr/>
        </p:nvSpPr>
        <p:spPr>
          <a:xfrm>
            <a:off x="4206240" y="1783080"/>
            <a:ext cx="41148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YOU BUILD</a:t>
            </a:r>
            <a:endParaRPr b="0" i="0" sz="950" u="none" cap="none" strike="noStrike">
              <a:solidFill>
                <a:schemeClr val="dk1"/>
              </a:solidFill>
              <a:latin typeface="Arial"/>
              <a:ea typeface="Arial"/>
              <a:cs typeface="Arial"/>
              <a:sym typeface="Arial"/>
            </a:endParaRPr>
          </a:p>
        </p:txBody>
      </p:sp>
      <p:sp>
        <p:nvSpPr>
          <p:cNvPr id="139" name="Google Shape;139;p6"/>
          <p:cNvSpPr txBox="1"/>
          <p:nvPr/>
        </p:nvSpPr>
        <p:spPr>
          <a:xfrm>
            <a:off x="8595360" y="1783080"/>
            <a:ext cx="3596335"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BEST FOR</a:t>
            </a:r>
            <a:endParaRPr b="0" i="0" sz="950" u="none" cap="none" strike="noStrike">
              <a:solidFill>
                <a:schemeClr val="dk1"/>
              </a:solidFill>
              <a:latin typeface="Arial"/>
              <a:ea typeface="Arial"/>
              <a:cs typeface="Arial"/>
              <a:sym typeface="Arial"/>
            </a:endParaRPr>
          </a:p>
        </p:txBody>
      </p:sp>
      <p:cxnSp>
        <p:nvCxnSpPr>
          <p:cNvPr id="140" name="Google Shape;140;p6"/>
          <p:cNvCxnSpPr/>
          <p:nvPr/>
        </p:nvCxnSpPr>
        <p:spPr>
          <a:xfrm>
            <a:off x="640080" y="2103120"/>
            <a:ext cx="10911535" cy="0"/>
          </a:xfrm>
          <a:prstGeom prst="straightConnector1">
            <a:avLst/>
          </a:prstGeom>
          <a:noFill/>
          <a:ln cap="flat" cmpd="sng" w="9525">
            <a:solidFill>
              <a:srgbClr val="5A5A5A"/>
            </a:solidFill>
            <a:prstDash val="solid"/>
            <a:round/>
            <a:headEnd len="sm" w="sm" type="none"/>
            <a:tailEnd len="sm" w="sm" type="none"/>
          </a:ln>
        </p:spPr>
      </p:cxnSp>
      <p:sp>
        <p:nvSpPr>
          <p:cNvPr id="141" name="Google Shape;141;p6"/>
          <p:cNvSpPr/>
          <p:nvPr/>
        </p:nvSpPr>
        <p:spPr>
          <a:xfrm>
            <a:off x="640080" y="2359152"/>
            <a:ext cx="118872" cy="118872"/>
          </a:xfrm>
          <a:prstGeom prst="ellipse">
            <a:avLst/>
          </a:prstGeom>
          <a:solidFill>
            <a:srgbClr val="3ED5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txBox="1"/>
          <p:nvPr/>
        </p:nvSpPr>
        <p:spPr>
          <a:xfrm>
            <a:off x="914400" y="2267712"/>
            <a:ext cx="3017520" cy="6858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01  Rejuve.bio</a:t>
            </a:r>
            <a:endParaRPr b="0" i="0" sz="1400" u="none" cap="none" strike="noStrike">
              <a:solidFill>
                <a:schemeClr val="dk1"/>
              </a:solidFill>
              <a:latin typeface="Arial"/>
              <a:ea typeface="Arial"/>
              <a:cs typeface="Arial"/>
              <a:sym typeface="Arial"/>
            </a:endParaRPr>
          </a:p>
          <a:p>
            <a:pPr indent="0" lvl="0" marL="0" marR="0" rtl="0" algn="l">
              <a:lnSpc>
                <a:spcPct val="112000"/>
              </a:lnSpc>
              <a:spcBef>
                <a:spcPts val="0"/>
              </a:spcBef>
              <a:spcAft>
                <a:spcPts val="0"/>
              </a:spcAft>
              <a:buClr>
                <a:srgbClr val="B4B4B4"/>
              </a:buClr>
              <a:buSzPts val="1200"/>
              <a:buFont typeface="Arial"/>
              <a:buNone/>
            </a:pPr>
            <a:r>
              <a:rPr b="0" i="0" lang="en-US" sz="1200" u="none" cap="none" strike="noStrike">
                <a:solidFill>
                  <a:srgbClr val="B4B4B4"/>
                </a:solidFill>
                <a:latin typeface="Arial"/>
                <a:ea typeface="Arial"/>
                <a:cs typeface="Arial"/>
                <a:sym typeface="Arial"/>
              </a:rPr>
              <a:t>Biomedical research assistance</a:t>
            </a:r>
            <a:endParaRPr b="0" i="0" sz="1400" u="none" cap="none" strike="noStrike">
              <a:solidFill>
                <a:schemeClr val="dk1"/>
              </a:solidFill>
              <a:latin typeface="Arial"/>
              <a:ea typeface="Arial"/>
              <a:cs typeface="Arial"/>
              <a:sym typeface="Arial"/>
            </a:endParaRPr>
          </a:p>
        </p:txBody>
      </p:sp>
      <p:sp>
        <p:nvSpPr>
          <p:cNvPr id="143" name="Google Shape;143;p6"/>
          <p:cNvSpPr txBox="1"/>
          <p:nvPr/>
        </p:nvSpPr>
        <p:spPr>
          <a:xfrm>
            <a:off x="4206240" y="2267712"/>
            <a:ext cx="4114800"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An Omega research assistant that finds and explains intervention evidence with sources</a:t>
            </a:r>
            <a:endParaRPr b="0" i="0" sz="1300" u="none" cap="none" strike="noStrike">
              <a:solidFill>
                <a:schemeClr val="dk1"/>
              </a:solidFill>
              <a:latin typeface="Arial"/>
              <a:ea typeface="Arial"/>
              <a:cs typeface="Arial"/>
              <a:sym typeface="Arial"/>
            </a:endParaRPr>
          </a:p>
        </p:txBody>
      </p:sp>
      <p:sp>
        <p:nvSpPr>
          <p:cNvPr id="144" name="Google Shape;144;p6"/>
          <p:cNvSpPr txBox="1"/>
          <p:nvPr/>
        </p:nvSpPr>
        <p:spPr>
          <a:xfrm>
            <a:off x="8595360" y="2267712"/>
            <a:ext cx="3596335"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00"/>
              <a:buFont typeface="Arial"/>
              <a:buNone/>
            </a:pPr>
            <a:r>
              <a:rPr b="0" i="0" lang="en-US" sz="1300" u="none" cap="none" strike="noStrike">
                <a:solidFill>
                  <a:srgbClr val="B4B4B4"/>
                </a:solidFill>
                <a:latin typeface="Arial"/>
                <a:ea typeface="Arial"/>
                <a:cs typeface="Arial"/>
                <a:sym typeface="Arial"/>
              </a:rPr>
              <a:t>Builders who like evidence, retrieval and agent workflows</a:t>
            </a:r>
            <a:endParaRPr b="0" i="0" sz="1300" u="none" cap="none" strike="noStrike">
              <a:solidFill>
                <a:schemeClr val="dk1"/>
              </a:solidFill>
              <a:latin typeface="Arial"/>
              <a:ea typeface="Arial"/>
              <a:cs typeface="Arial"/>
              <a:sym typeface="Arial"/>
            </a:endParaRPr>
          </a:p>
        </p:txBody>
      </p:sp>
      <p:cxnSp>
        <p:nvCxnSpPr>
          <p:cNvPr id="145" name="Google Shape;145;p6"/>
          <p:cNvCxnSpPr/>
          <p:nvPr/>
        </p:nvCxnSpPr>
        <p:spPr>
          <a:xfrm>
            <a:off x="640080" y="3063240"/>
            <a:ext cx="10911535" cy="0"/>
          </a:xfrm>
          <a:prstGeom prst="straightConnector1">
            <a:avLst/>
          </a:prstGeom>
          <a:noFill/>
          <a:ln cap="flat" cmpd="sng" w="9525">
            <a:solidFill>
              <a:srgbClr val="262626"/>
            </a:solidFill>
            <a:prstDash val="solid"/>
            <a:round/>
            <a:headEnd len="sm" w="sm" type="none"/>
            <a:tailEnd len="sm" w="sm" type="none"/>
          </a:ln>
        </p:spPr>
      </p:cxnSp>
      <p:sp>
        <p:nvSpPr>
          <p:cNvPr id="146" name="Google Shape;146;p6"/>
          <p:cNvSpPr/>
          <p:nvPr/>
        </p:nvSpPr>
        <p:spPr>
          <a:xfrm>
            <a:off x="640080" y="3319272"/>
            <a:ext cx="118872" cy="118872"/>
          </a:xfrm>
          <a:prstGeom prst="ellipse">
            <a:avLst/>
          </a:prstGeom>
          <a:solidFill>
            <a:srgbClr val="4F8D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txBox="1"/>
          <p:nvPr/>
        </p:nvSpPr>
        <p:spPr>
          <a:xfrm>
            <a:off x="914400" y="3227832"/>
            <a:ext cx="3017520" cy="6858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02  Omega payouts</a:t>
            </a:r>
            <a:endParaRPr b="0" i="0" sz="1400" u="none" cap="none" strike="noStrike">
              <a:solidFill>
                <a:schemeClr val="dk1"/>
              </a:solidFill>
              <a:latin typeface="Arial"/>
              <a:ea typeface="Arial"/>
              <a:cs typeface="Arial"/>
              <a:sym typeface="Arial"/>
            </a:endParaRPr>
          </a:p>
          <a:p>
            <a:pPr indent="0" lvl="0" marL="0" marR="0" rtl="0" algn="l">
              <a:lnSpc>
                <a:spcPct val="112000"/>
              </a:lnSpc>
              <a:spcBef>
                <a:spcPts val="0"/>
              </a:spcBef>
              <a:spcAft>
                <a:spcPts val="0"/>
              </a:spcAft>
              <a:buClr>
                <a:srgbClr val="B4B4B4"/>
              </a:buClr>
              <a:buSzPts val="1200"/>
              <a:buFont typeface="Arial"/>
              <a:buNone/>
            </a:pPr>
            <a:r>
              <a:rPr b="0" i="0" lang="en-US" sz="1200" u="none" cap="none" strike="noStrike">
                <a:solidFill>
                  <a:srgbClr val="B4B4B4"/>
                </a:solidFill>
                <a:latin typeface="Arial"/>
                <a:ea typeface="Arial"/>
                <a:cs typeface="Arial"/>
                <a:sym typeface="Arial"/>
              </a:rPr>
              <a:t>Global payouts and prize transparency</a:t>
            </a:r>
            <a:endParaRPr b="0" i="0" sz="1400" u="none" cap="none" strike="noStrike">
              <a:solidFill>
                <a:schemeClr val="dk1"/>
              </a:solidFill>
              <a:latin typeface="Arial"/>
              <a:ea typeface="Arial"/>
              <a:cs typeface="Arial"/>
              <a:sym typeface="Arial"/>
            </a:endParaRPr>
          </a:p>
        </p:txBody>
      </p:sp>
      <p:sp>
        <p:nvSpPr>
          <p:cNvPr id="148" name="Google Shape;148;p6"/>
          <p:cNvSpPr txBox="1"/>
          <p:nvPr/>
        </p:nvSpPr>
        <p:spPr>
          <a:xfrm>
            <a:off x="4206240" y="3227832"/>
            <a:ext cx="4114800"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A payout coordinator and a public prize-fund ledger on Stellar testnet</a:t>
            </a:r>
            <a:endParaRPr b="0" i="0" sz="1300" u="none" cap="none" strike="noStrike">
              <a:solidFill>
                <a:schemeClr val="dk1"/>
              </a:solidFill>
              <a:latin typeface="Arial"/>
              <a:ea typeface="Arial"/>
              <a:cs typeface="Arial"/>
              <a:sym typeface="Arial"/>
            </a:endParaRPr>
          </a:p>
        </p:txBody>
      </p:sp>
      <p:sp>
        <p:nvSpPr>
          <p:cNvPr id="149" name="Google Shape;149;p6"/>
          <p:cNvSpPr txBox="1"/>
          <p:nvPr/>
        </p:nvSpPr>
        <p:spPr>
          <a:xfrm>
            <a:off x="8595360" y="3227832"/>
            <a:ext cx="3596335"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00"/>
              <a:buFont typeface="Arial"/>
              <a:buNone/>
            </a:pPr>
            <a:r>
              <a:rPr b="0" i="0" lang="en-US" sz="1300" u="none" cap="none" strike="noStrike">
                <a:solidFill>
                  <a:srgbClr val="B4B4B4"/>
                </a:solidFill>
                <a:latin typeface="Arial"/>
                <a:ea typeface="Arial"/>
                <a:cs typeface="Arial"/>
                <a:sym typeface="Arial"/>
              </a:rPr>
              <a:t>Builders comfortable with payments and ledgers</a:t>
            </a:r>
            <a:endParaRPr b="0" i="0" sz="1300" u="none" cap="none" strike="noStrike">
              <a:solidFill>
                <a:schemeClr val="dk1"/>
              </a:solidFill>
              <a:latin typeface="Arial"/>
              <a:ea typeface="Arial"/>
              <a:cs typeface="Arial"/>
              <a:sym typeface="Arial"/>
            </a:endParaRPr>
          </a:p>
        </p:txBody>
      </p:sp>
      <p:cxnSp>
        <p:nvCxnSpPr>
          <p:cNvPr id="150" name="Google Shape;150;p6"/>
          <p:cNvCxnSpPr/>
          <p:nvPr/>
        </p:nvCxnSpPr>
        <p:spPr>
          <a:xfrm>
            <a:off x="640080" y="4023360"/>
            <a:ext cx="10911535" cy="0"/>
          </a:xfrm>
          <a:prstGeom prst="straightConnector1">
            <a:avLst/>
          </a:prstGeom>
          <a:noFill/>
          <a:ln cap="flat" cmpd="sng" w="9525">
            <a:solidFill>
              <a:srgbClr val="262626"/>
            </a:solidFill>
            <a:prstDash val="solid"/>
            <a:round/>
            <a:headEnd len="sm" w="sm" type="none"/>
            <a:tailEnd len="sm" w="sm" type="none"/>
          </a:ln>
        </p:spPr>
      </p:cxnSp>
      <p:sp>
        <p:nvSpPr>
          <p:cNvPr id="151" name="Google Shape;151;p6"/>
          <p:cNvSpPr/>
          <p:nvPr/>
        </p:nvSpPr>
        <p:spPr>
          <a:xfrm>
            <a:off x="640080" y="4279392"/>
            <a:ext cx="118872" cy="118872"/>
          </a:xfrm>
          <a:prstGeom prst="ellipse">
            <a:avLst/>
          </a:prstGeom>
          <a:solidFill>
            <a:srgbClr val="A56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txBox="1"/>
          <p:nvPr/>
        </p:nvSpPr>
        <p:spPr>
          <a:xfrm>
            <a:off x="914400" y="4187952"/>
            <a:ext cx="3017520" cy="6858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03  BASIX.MARKET</a:t>
            </a:r>
            <a:endParaRPr b="0" i="0" sz="1400" u="none" cap="none" strike="noStrike">
              <a:solidFill>
                <a:schemeClr val="dk1"/>
              </a:solidFill>
              <a:latin typeface="Arial"/>
              <a:ea typeface="Arial"/>
              <a:cs typeface="Arial"/>
              <a:sym typeface="Arial"/>
            </a:endParaRPr>
          </a:p>
          <a:p>
            <a:pPr indent="0" lvl="0" marL="0" marR="0" rtl="0" algn="l">
              <a:lnSpc>
                <a:spcPct val="112000"/>
              </a:lnSpc>
              <a:spcBef>
                <a:spcPts val="0"/>
              </a:spcBef>
              <a:spcAft>
                <a:spcPts val="0"/>
              </a:spcAft>
              <a:buClr>
                <a:srgbClr val="B4B4B4"/>
              </a:buClr>
              <a:buSzPts val="1200"/>
              <a:buFont typeface="Arial"/>
              <a:buNone/>
            </a:pPr>
            <a:r>
              <a:rPr b="0" i="0" lang="en-US" sz="1200" u="none" cap="none" strike="noStrike">
                <a:solidFill>
                  <a:srgbClr val="B4B4B4"/>
                </a:solidFill>
                <a:latin typeface="Arial"/>
                <a:ea typeface="Arial"/>
                <a:cs typeface="Arial"/>
                <a:sym typeface="Arial"/>
              </a:rPr>
              <a:t>Builder and marketplace workflows</a:t>
            </a:r>
            <a:endParaRPr b="0" i="0" sz="1400" u="none" cap="none" strike="noStrike">
              <a:solidFill>
                <a:schemeClr val="dk1"/>
              </a:solidFill>
              <a:latin typeface="Arial"/>
              <a:ea typeface="Arial"/>
              <a:cs typeface="Arial"/>
              <a:sym typeface="Arial"/>
            </a:endParaRPr>
          </a:p>
        </p:txBody>
      </p:sp>
      <p:sp>
        <p:nvSpPr>
          <p:cNvPr id="153" name="Google Shape;153;p6"/>
          <p:cNvSpPr txBox="1"/>
          <p:nvPr/>
        </p:nvSpPr>
        <p:spPr>
          <a:xfrm>
            <a:off x="4206240" y="4187952"/>
            <a:ext cx="4114800"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A matching, onboarding or review agent for builders and projects</a:t>
            </a:r>
            <a:endParaRPr b="0" i="0" sz="1300" u="none" cap="none" strike="noStrike">
              <a:solidFill>
                <a:schemeClr val="dk1"/>
              </a:solidFill>
              <a:latin typeface="Arial"/>
              <a:ea typeface="Arial"/>
              <a:cs typeface="Arial"/>
              <a:sym typeface="Arial"/>
            </a:endParaRPr>
          </a:p>
        </p:txBody>
      </p:sp>
      <p:sp>
        <p:nvSpPr>
          <p:cNvPr id="154" name="Google Shape;154;p6"/>
          <p:cNvSpPr txBox="1"/>
          <p:nvPr/>
        </p:nvSpPr>
        <p:spPr>
          <a:xfrm>
            <a:off x="8595360" y="4187952"/>
            <a:ext cx="3596335"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00"/>
              <a:buFont typeface="Arial"/>
              <a:buNone/>
            </a:pPr>
            <a:r>
              <a:rPr b="0" i="0" lang="en-US" sz="1300" u="none" cap="none" strike="noStrike">
                <a:solidFill>
                  <a:srgbClr val="B4B4B4"/>
                </a:solidFill>
                <a:latin typeface="Arial"/>
                <a:ea typeface="Arial"/>
                <a:cs typeface="Arial"/>
                <a:sym typeface="Arial"/>
              </a:rPr>
              <a:t>Builders who like marketplaces and explainable recommendations</a:t>
            </a:r>
            <a:endParaRPr b="0" i="0" sz="1300" u="none" cap="none" strike="noStrike">
              <a:solidFill>
                <a:schemeClr val="dk1"/>
              </a:solidFill>
              <a:latin typeface="Arial"/>
              <a:ea typeface="Arial"/>
              <a:cs typeface="Arial"/>
              <a:sym typeface="Arial"/>
            </a:endParaRPr>
          </a:p>
        </p:txBody>
      </p:sp>
      <p:cxnSp>
        <p:nvCxnSpPr>
          <p:cNvPr id="155" name="Google Shape;155;p6"/>
          <p:cNvCxnSpPr/>
          <p:nvPr/>
        </p:nvCxnSpPr>
        <p:spPr>
          <a:xfrm>
            <a:off x="640080" y="4983480"/>
            <a:ext cx="10911535" cy="0"/>
          </a:xfrm>
          <a:prstGeom prst="straightConnector1">
            <a:avLst/>
          </a:prstGeom>
          <a:noFill/>
          <a:ln cap="flat" cmpd="sng" w="9525">
            <a:solidFill>
              <a:srgbClr val="262626"/>
            </a:solidFill>
            <a:prstDash val="solid"/>
            <a:round/>
            <a:headEnd len="sm" w="sm" type="none"/>
            <a:tailEnd len="sm" w="sm" type="none"/>
          </a:ln>
        </p:spPr>
      </p:cxnSp>
      <p:sp>
        <p:nvSpPr>
          <p:cNvPr id="156" name="Google Shape;156;p6"/>
          <p:cNvSpPr/>
          <p:nvPr/>
        </p:nvSpPr>
        <p:spPr>
          <a:xfrm>
            <a:off x="640080" y="5239512"/>
            <a:ext cx="118872" cy="118872"/>
          </a:xfrm>
          <a:prstGeom prst="ellipse">
            <a:avLst/>
          </a:prstGeom>
          <a:solidFill>
            <a:srgbClr val="F7B8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txBox="1"/>
          <p:nvPr/>
        </p:nvSpPr>
        <p:spPr>
          <a:xfrm>
            <a:off x="914400" y="5148072"/>
            <a:ext cx="3017520" cy="6858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04  World Tennis</a:t>
            </a:r>
            <a:endParaRPr b="0" i="0" sz="1400" u="none" cap="none" strike="noStrike">
              <a:solidFill>
                <a:schemeClr val="dk1"/>
              </a:solidFill>
              <a:latin typeface="Arial"/>
              <a:ea typeface="Arial"/>
              <a:cs typeface="Arial"/>
              <a:sym typeface="Arial"/>
            </a:endParaRPr>
          </a:p>
          <a:p>
            <a:pPr indent="0" lvl="0" marL="0" marR="0" rtl="0" algn="l">
              <a:lnSpc>
                <a:spcPct val="112000"/>
              </a:lnSpc>
              <a:spcBef>
                <a:spcPts val="0"/>
              </a:spcBef>
              <a:spcAft>
                <a:spcPts val="0"/>
              </a:spcAft>
              <a:buClr>
                <a:srgbClr val="B4B4B4"/>
              </a:buClr>
              <a:buSzPts val="1200"/>
              <a:buFont typeface="Arial"/>
              <a:buNone/>
            </a:pPr>
            <a:r>
              <a:rPr b="0" i="0" lang="en-US" sz="1200" u="none" cap="none" strike="noStrike">
                <a:solidFill>
                  <a:srgbClr val="B4B4B4"/>
                </a:solidFill>
                <a:latin typeface="Arial"/>
                <a:ea typeface="Arial"/>
                <a:cs typeface="Arial"/>
                <a:sym typeface="Arial"/>
              </a:rPr>
              <a:t>Player and club coordination</a:t>
            </a:r>
            <a:endParaRPr b="0" i="0" sz="1400" u="none" cap="none" strike="noStrike">
              <a:solidFill>
                <a:schemeClr val="dk1"/>
              </a:solidFill>
              <a:latin typeface="Arial"/>
              <a:ea typeface="Arial"/>
              <a:cs typeface="Arial"/>
              <a:sym typeface="Arial"/>
            </a:endParaRPr>
          </a:p>
        </p:txBody>
      </p:sp>
      <p:sp>
        <p:nvSpPr>
          <p:cNvPr id="158" name="Google Shape;158;p6"/>
          <p:cNvSpPr txBox="1"/>
          <p:nvPr/>
        </p:nvSpPr>
        <p:spPr>
          <a:xfrm>
            <a:off x="4206240" y="5148072"/>
            <a:ext cx="4114800"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A match and court-booking assistant that resolves conflicts</a:t>
            </a:r>
            <a:endParaRPr b="0" i="0" sz="1300" u="none" cap="none" strike="noStrike">
              <a:solidFill>
                <a:schemeClr val="dk1"/>
              </a:solidFill>
              <a:latin typeface="Arial"/>
              <a:ea typeface="Arial"/>
              <a:cs typeface="Arial"/>
              <a:sym typeface="Arial"/>
            </a:endParaRPr>
          </a:p>
        </p:txBody>
      </p:sp>
      <p:sp>
        <p:nvSpPr>
          <p:cNvPr id="159" name="Google Shape;159;p6"/>
          <p:cNvSpPr txBox="1"/>
          <p:nvPr/>
        </p:nvSpPr>
        <p:spPr>
          <a:xfrm>
            <a:off x="8595360" y="5148072"/>
            <a:ext cx="3596335"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00"/>
              <a:buFont typeface="Arial"/>
              <a:buNone/>
            </a:pPr>
            <a:r>
              <a:rPr b="0" i="0" lang="en-US" sz="1300" u="none" cap="none" strike="noStrike">
                <a:solidFill>
                  <a:srgbClr val="B4B4B4"/>
                </a:solidFill>
                <a:latin typeface="Arial"/>
                <a:ea typeface="Arial"/>
                <a:cs typeface="Arial"/>
                <a:sym typeface="Arial"/>
              </a:rPr>
              <a:t>Builders who want a clear, visual consumer demo</a:t>
            </a:r>
            <a:endParaRPr b="0" i="0" sz="1300" u="none" cap="none" strike="noStrike">
              <a:solidFill>
                <a:schemeClr val="dk1"/>
              </a:solidFill>
              <a:latin typeface="Arial"/>
              <a:ea typeface="Arial"/>
              <a:cs typeface="Arial"/>
              <a:sym typeface="Arial"/>
            </a:endParaRPr>
          </a:p>
        </p:txBody>
      </p:sp>
      <p:cxnSp>
        <p:nvCxnSpPr>
          <p:cNvPr id="160" name="Google Shape;160;p6"/>
          <p:cNvCxnSpPr/>
          <p:nvPr/>
        </p:nvCxnSpPr>
        <p:spPr>
          <a:xfrm>
            <a:off x="640080" y="5943600"/>
            <a:ext cx="10911535" cy="0"/>
          </a:xfrm>
          <a:prstGeom prst="straightConnector1">
            <a:avLst/>
          </a:prstGeom>
          <a:noFill/>
          <a:ln cap="flat" cmpd="sng" w="9525">
            <a:solidFill>
              <a:srgbClr val="262626"/>
            </a:solidFill>
            <a:prstDash val="solid"/>
            <a:round/>
            <a:headEnd len="sm" w="sm" type="none"/>
            <a:tailEnd len="sm" w="sm" type="none"/>
          </a:ln>
        </p:spPr>
      </p:cxnSp>
      <p:sp>
        <p:nvSpPr>
          <p:cNvPr id="161" name="Google Shape;161;p6"/>
          <p:cNvSpPr txBox="1"/>
          <p:nvPr/>
        </p:nvSpPr>
        <p:spPr>
          <a:xfrm>
            <a:off x="640080" y="5989320"/>
            <a:ext cx="10911535" cy="2743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The Rules Brief applies to every track.</a:t>
            </a:r>
            <a:endParaRPr b="0" i="0" sz="1200" u="none" cap="none" strike="noStrike">
              <a:solidFill>
                <a:schemeClr val="dk1"/>
              </a:solidFill>
              <a:latin typeface="Arial"/>
              <a:ea typeface="Arial"/>
              <a:cs typeface="Arial"/>
              <a:sym typeface="Arial"/>
            </a:endParaRPr>
          </a:p>
        </p:txBody>
      </p:sp>
      <p:sp>
        <p:nvSpPr>
          <p:cNvPr id="162" name="Google Shape;162;p6"/>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descr="Network graph background" id="168" name="Google Shape;168;p7"/>
          <p:cNvPicPr preferRelativeResize="0"/>
          <p:nvPr/>
        </p:nvPicPr>
        <p:blipFill rotWithShape="1">
          <a:blip r:embed="rId3">
            <a:alphaModFix amt="45000"/>
          </a:blip>
          <a:srcRect b="0" l="0" r="0" t="0"/>
          <a:stretch/>
        </p:blipFill>
        <p:spPr>
          <a:xfrm>
            <a:off x="0" y="45720"/>
            <a:ext cx="12191695" cy="6812280"/>
          </a:xfrm>
          <a:prstGeom prst="rect">
            <a:avLst/>
          </a:prstGeom>
          <a:noFill/>
          <a:ln>
            <a:noFill/>
          </a:ln>
        </p:spPr>
      </p:pic>
      <p:pic>
        <p:nvPicPr>
          <p:cNvPr descr="Artificial Superintelligence Alliance" id="169" name="Google Shape;169;p7"/>
          <p:cNvPicPr preferRelativeResize="0"/>
          <p:nvPr/>
        </p:nvPicPr>
        <p:blipFill rotWithShape="1">
          <a:blip r:embed="rId4">
            <a:alphaModFix/>
          </a:blip>
          <a:srcRect b="0" l="0" r="0" t="0"/>
          <a:stretch/>
        </p:blipFill>
        <p:spPr>
          <a:xfrm>
            <a:off x="640080" y="274320"/>
            <a:ext cx="1359408" cy="292608"/>
          </a:xfrm>
          <a:prstGeom prst="rect">
            <a:avLst/>
          </a:prstGeom>
          <a:noFill/>
          <a:ln>
            <a:noFill/>
          </a:ln>
        </p:spPr>
      </p:pic>
      <p:sp>
        <p:nvSpPr>
          <p:cNvPr id="170" name="Google Shape;170;p7"/>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01 · REJUVE.BIO</a:t>
            </a:r>
            <a:endParaRPr b="0" i="0" sz="950" u="none" cap="none" strike="noStrike">
              <a:solidFill>
                <a:schemeClr val="dk1"/>
              </a:solidFill>
              <a:latin typeface="Arial"/>
              <a:ea typeface="Arial"/>
              <a:cs typeface="Arial"/>
              <a:sym typeface="Arial"/>
            </a:endParaRPr>
          </a:p>
        </p:txBody>
      </p:sp>
      <p:sp>
        <p:nvSpPr>
          <p:cNvPr id="171" name="Google Shape;171;p7"/>
          <p:cNvSpPr/>
          <p:nvPr/>
        </p:nvSpPr>
        <p:spPr>
          <a:xfrm>
            <a:off x="640080" y="982980"/>
            <a:ext cx="118872" cy="118872"/>
          </a:xfrm>
          <a:prstGeom prst="ellipse">
            <a:avLst/>
          </a:prstGeom>
          <a:solidFill>
            <a:srgbClr val="3ED5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txBox="1"/>
          <p:nvPr/>
        </p:nvSpPr>
        <p:spPr>
          <a:xfrm>
            <a:off x="868680" y="91440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ourier New"/>
              <a:buNone/>
            </a:pPr>
            <a:r>
              <a:rPr b="1" i="0" lang="en-US" sz="1000" u="none" cap="none" strike="noStrike">
                <a:solidFill>
                  <a:srgbClr val="FFFFFF"/>
                </a:solidFill>
                <a:latin typeface="Courier New"/>
                <a:ea typeface="Courier New"/>
                <a:cs typeface="Courier New"/>
                <a:sym typeface="Courier New"/>
              </a:rPr>
              <a:t>TRACK 01  ·  REJUVE.BIO</a:t>
            </a:r>
            <a:endParaRPr b="0" i="0" sz="1000" u="none" cap="none" strike="noStrike">
              <a:solidFill>
                <a:schemeClr val="dk1"/>
              </a:solidFill>
              <a:latin typeface="Arial"/>
              <a:ea typeface="Arial"/>
              <a:cs typeface="Arial"/>
              <a:sym typeface="Arial"/>
            </a:endParaRPr>
          </a:p>
        </p:txBody>
      </p:sp>
      <p:pic>
        <p:nvPicPr>
          <p:cNvPr descr="Rejuve.bio" id="173" name="Google Shape;173;p7">
            <a:hlinkClick r:id="rId5"/>
          </p:cNvPr>
          <p:cNvPicPr preferRelativeResize="0"/>
          <p:nvPr/>
        </p:nvPicPr>
        <p:blipFill rotWithShape="1">
          <a:blip r:embed="rId6">
            <a:alphaModFix/>
          </a:blip>
          <a:srcRect b="0" l="0" r="0" t="0"/>
          <a:stretch/>
        </p:blipFill>
        <p:spPr>
          <a:xfrm>
            <a:off x="10225735" y="841248"/>
            <a:ext cx="1325880" cy="402336"/>
          </a:xfrm>
          <a:prstGeom prst="rect">
            <a:avLst/>
          </a:prstGeom>
          <a:noFill/>
          <a:ln>
            <a:noFill/>
          </a:ln>
        </p:spPr>
      </p:pic>
      <p:sp>
        <p:nvSpPr>
          <p:cNvPr id="174" name="Google Shape;174;p7"/>
          <p:cNvSpPr txBox="1"/>
          <p:nvPr/>
        </p:nvSpPr>
        <p:spPr>
          <a:xfrm>
            <a:off x="640080" y="1280160"/>
            <a:ext cx="10911535" cy="5943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Biomedical research assistance</a:t>
            </a:r>
            <a:endParaRPr b="0" i="0" sz="3000" u="none" cap="none" strike="noStrike">
              <a:solidFill>
                <a:schemeClr val="dk1"/>
              </a:solidFill>
              <a:latin typeface="Arial"/>
              <a:ea typeface="Arial"/>
              <a:cs typeface="Arial"/>
              <a:sym typeface="Arial"/>
            </a:endParaRPr>
          </a:p>
        </p:txBody>
      </p:sp>
      <p:sp>
        <p:nvSpPr>
          <p:cNvPr id="175" name="Google Shape;175;p7"/>
          <p:cNvSpPr txBox="1"/>
          <p:nvPr/>
        </p:nvSpPr>
        <p:spPr>
          <a:xfrm>
            <a:off x="640080" y="1920240"/>
            <a:ext cx="9601200"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3ED598"/>
              </a:buClr>
              <a:buSzPts val="1700"/>
              <a:buFont typeface="Arial"/>
              <a:buNone/>
            </a:pPr>
            <a:r>
              <a:rPr b="0" i="0" lang="en-US" sz="1700" u="none" cap="none" strike="noStrike">
                <a:solidFill>
                  <a:srgbClr val="3ED598"/>
                </a:solidFill>
                <a:latin typeface="Arial"/>
                <a:ea typeface="Arial"/>
                <a:cs typeface="Arial"/>
                <a:sym typeface="Arial"/>
              </a:rPr>
              <a:t>Build an Omega research assistant that finds and explains studies about medicines or lifestyle changes affecting a biological pathway.</a:t>
            </a:r>
            <a:endParaRPr b="0" i="0" sz="1700" u="none" cap="none" strike="noStrike">
              <a:solidFill>
                <a:schemeClr val="dk1"/>
              </a:solidFill>
              <a:latin typeface="Arial"/>
              <a:ea typeface="Arial"/>
              <a:cs typeface="Arial"/>
              <a:sym typeface="Arial"/>
            </a:endParaRPr>
          </a:p>
        </p:txBody>
      </p:sp>
      <p:cxnSp>
        <p:nvCxnSpPr>
          <p:cNvPr id="176" name="Google Shape;176;p7"/>
          <p:cNvCxnSpPr/>
          <p:nvPr/>
        </p:nvCxnSpPr>
        <p:spPr>
          <a:xfrm>
            <a:off x="640080" y="2926080"/>
            <a:ext cx="5181448" cy="0"/>
          </a:xfrm>
          <a:prstGeom prst="straightConnector1">
            <a:avLst/>
          </a:prstGeom>
          <a:noFill/>
          <a:ln cap="flat" cmpd="sng" w="9525">
            <a:solidFill>
              <a:srgbClr val="5A5A5A"/>
            </a:solidFill>
            <a:prstDash val="solid"/>
            <a:round/>
            <a:headEnd len="sm" w="sm" type="none"/>
            <a:tailEnd len="sm" w="sm" type="none"/>
          </a:ln>
        </p:spPr>
      </p:cxnSp>
      <p:sp>
        <p:nvSpPr>
          <p:cNvPr id="177" name="Google Shape;177;p7"/>
          <p:cNvSpPr txBox="1"/>
          <p:nvPr/>
        </p:nvSpPr>
        <p:spPr>
          <a:xfrm>
            <a:off x="640080" y="3063240"/>
            <a:ext cx="518144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WHO YOU ARE BUILDING FOR</a:t>
            </a:r>
            <a:endParaRPr b="0" i="0" sz="950" u="none" cap="none" strike="noStrike">
              <a:solidFill>
                <a:schemeClr val="dk1"/>
              </a:solidFill>
              <a:latin typeface="Arial"/>
              <a:ea typeface="Arial"/>
              <a:cs typeface="Arial"/>
              <a:sym typeface="Arial"/>
            </a:endParaRPr>
          </a:p>
        </p:txBody>
      </p:sp>
      <p:sp>
        <p:nvSpPr>
          <p:cNvPr id="178" name="Google Shape;178;p7"/>
          <p:cNvSpPr txBox="1"/>
          <p:nvPr/>
        </p:nvSpPr>
        <p:spPr>
          <a:xfrm>
            <a:off x="640080" y="3429000"/>
            <a:ext cx="5181448" cy="2651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Rejuve Biotech is building an AI research platform to speed up discovery of therapies for aging and age-related disease. Its approach unifies genetic, clinical and preclinical data into a knowledge graph, then uses neural-symbolic AI to generate testable hypotheses. Your users are researchers who need answers they can trace and check.</a:t>
            </a:r>
            <a:endParaRPr b="0" i="0" sz="1350" u="none" cap="none" strike="noStrike">
              <a:solidFill>
                <a:schemeClr val="dk1"/>
              </a:solidFill>
              <a:latin typeface="Arial"/>
              <a:ea typeface="Arial"/>
              <a:cs typeface="Arial"/>
              <a:sym typeface="Arial"/>
            </a:endParaRPr>
          </a:p>
        </p:txBody>
      </p:sp>
      <p:cxnSp>
        <p:nvCxnSpPr>
          <p:cNvPr id="179" name="Google Shape;179;p7"/>
          <p:cNvCxnSpPr/>
          <p:nvPr/>
        </p:nvCxnSpPr>
        <p:spPr>
          <a:xfrm>
            <a:off x="6370168" y="2926080"/>
            <a:ext cx="5181448" cy="0"/>
          </a:xfrm>
          <a:prstGeom prst="straightConnector1">
            <a:avLst/>
          </a:prstGeom>
          <a:noFill/>
          <a:ln cap="flat" cmpd="sng" w="9525">
            <a:solidFill>
              <a:srgbClr val="5A5A5A"/>
            </a:solidFill>
            <a:prstDash val="solid"/>
            <a:round/>
            <a:headEnd len="sm" w="sm" type="none"/>
            <a:tailEnd len="sm" w="sm" type="none"/>
          </a:ln>
        </p:spPr>
      </p:cxnSp>
      <p:sp>
        <p:nvSpPr>
          <p:cNvPr id="180" name="Google Shape;180;p7"/>
          <p:cNvSpPr txBox="1"/>
          <p:nvPr/>
        </p:nvSpPr>
        <p:spPr>
          <a:xfrm>
            <a:off x="6370168" y="3063240"/>
            <a:ext cx="518144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THE PROBLEM</a:t>
            </a:r>
            <a:endParaRPr b="0" i="0" sz="950" u="none" cap="none" strike="noStrike">
              <a:solidFill>
                <a:schemeClr val="dk1"/>
              </a:solidFill>
              <a:latin typeface="Arial"/>
              <a:ea typeface="Arial"/>
              <a:cs typeface="Arial"/>
              <a:sym typeface="Arial"/>
            </a:endParaRPr>
          </a:p>
        </p:txBody>
      </p:sp>
      <p:sp>
        <p:nvSpPr>
          <p:cNvPr id="181" name="Google Shape;181;p7"/>
          <p:cNvSpPr txBox="1"/>
          <p:nvPr/>
        </p:nvSpPr>
        <p:spPr>
          <a:xfrm>
            <a:off x="6370168" y="3429000"/>
            <a:ext cx="5181448" cy="2651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350"/>
              <a:buFont typeface="Arial"/>
              <a:buNone/>
            </a:pPr>
            <a:r>
              <a:rPr b="0" i="0" lang="en-US" sz="1350" u="none" cap="none" strike="noStrike">
                <a:solidFill>
                  <a:srgbClr val="FFFFFF"/>
                </a:solidFill>
                <a:latin typeface="Arial"/>
                <a:ea typeface="Arial"/>
                <a:cs typeface="Arial"/>
                <a:sym typeface="Arial"/>
              </a:rPr>
              <a:t>Research findings are scattered across papers. Studies may investigate different populations, measure different outcomes or reach different conclusions. Researchers need an assistant that preserves these differences and explains what the evidence actually supports.</a:t>
            </a:r>
            <a:endParaRPr b="0" i="0" sz="1350" u="none" cap="none" strike="noStrike">
              <a:solidFill>
                <a:schemeClr val="dk1"/>
              </a:solidFill>
              <a:latin typeface="Arial"/>
              <a:ea typeface="Arial"/>
              <a:cs typeface="Arial"/>
              <a:sym typeface="Arial"/>
            </a:endParaRPr>
          </a:p>
        </p:txBody>
      </p:sp>
      <p:sp>
        <p:nvSpPr>
          <p:cNvPr id="182" name="Google Shape;182;p7"/>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8"/>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01 · YOUR BUILD</a:t>
            </a:r>
            <a:endParaRPr b="0" i="0" sz="950" u="none" cap="none" strike="noStrike">
              <a:solidFill>
                <a:schemeClr val="dk1"/>
              </a:solidFill>
              <a:latin typeface="Arial"/>
              <a:ea typeface="Arial"/>
              <a:cs typeface="Arial"/>
              <a:sym typeface="Arial"/>
            </a:endParaRPr>
          </a:p>
        </p:txBody>
      </p:sp>
      <p:sp>
        <p:nvSpPr>
          <p:cNvPr id="189" name="Google Shape;189;p8"/>
          <p:cNvSpPr txBox="1"/>
          <p:nvPr/>
        </p:nvSpPr>
        <p:spPr>
          <a:xfrm>
            <a:off x="640080" y="914400"/>
            <a:ext cx="10911535"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Track 01. </a:t>
            </a:r>
            <a:r>
              <a:rPr b="1" i="0" lang="en-US" sz="3200" u="none" cap="none" strike="noStrike">
                <a:solidFill>
                  <a:srgbClr val="F2596B"/>
                </a:solidFill>
                <a:latin typeface="Arial"/>
                <a:ea typeface="Arial"/>
                <a:cs typeface="Arial"/>
                <a:sym typeface="Arial"/>
              </a:rPr>
              <a:t>Y</a:t>
            </a:r>
            <a:r>
              <a:rPr b="1" i="0" lang="en-US" sz="3200" u="none" cap="none" strike="noStrike">
                <a:solidFill>
                  <a:srgbClr val="F48364"/>
                </a:solidFill>
                <a:latin typeface="Arial"/>
                <a:ea typeface="Arial"/>
                <a:cs typeface="Arial"/>
                <a:sym typeface="Arial"/>
              </a:rPr>
              <a:t>o</a:t>
            </a:r>
            <a:r>
              <a:rPr b="1" i="0" lang="en-US" sz="3200" u="none" cap="none" strike="noStrike">
                <a:solidFill>
                  <a:srgbClr val="F6AD5E"/>
                </a:solidFill>
                <a:latin typeface="Arial"/>
                <a:ea typeface="Arial"/>
                <a:cs typeface="Arial"/>
                <a:sym typeface="Arial"/>
              </a:rPr>
              <a:t>u</a:t>
            </a:r>
            <a:r>
              <a:rPr b="1" i="0" lang="en-US" sz="3200" u="none" cap="none" strike="noStrike">
                <a:solidFill>
                  <a:srgbClr val="B9C270"/>
                </a:solidFill>
                <a:latin typeface="Arial"/>
                <a:ea typeface="Arial"/>
                <a:cs typeface="Arial"/>
                <a:sym typeface="Arial"/>
              </a:rPr>
              <a:t>r</a:t>
            </a:r>
            <a:r>
              <a:rPr b="1" i="0" lang="en-US" sz="3200" u="none" cap="none" strike="noStrike">
                <a:solidFill>
                  <a:srgbClr val="FFFFFF"/>
                </a:solidFill>
                <a:latin typeface="Arial"/>
                <a:ea typeface="Arial"/>
                <a:cs typeface="Arial"/>
                <a:sym typeface="Arial"/>
              </a:rPr>
              <a:t> </a:t>
            </a:r>
            <a:r>
              <a:rPr b="1" i="0" lang="en-US" sz="3200" u="none" cap="none" strike="noStrike">
                <a:solidFill>
                  <a:srgbClr val="67CF8B"/>
                </a:solidFill>
                <a:latin typeface="Arial"/>
                <a:ea typeface="Arial"/>
                <a:cs typeface="Arial"/>
                <a:sym typeface="Arial"/>
              </a:rPr>
              <a:t>b</a:t>
            </a:r>
            <a:r>
              <a:rPr b="1" i="0" lang="en-US" sz="3200" u="none" cap="none" strike="noStrike">
                <a:solidFill>
                  <a:srgbClr val="42C5AC"/>
                </a:solidFill>
                <a:latin typeface="Arial"/>
                <a:ea typeface="Arial"/>
                <a:cs typeface="Arial"/>
                <a:sym typeface="Arial"/>
              </a:rPr>
              <a:t>u</a:t>
            </a:r>
            <a:r>
              <a:rPr b="1" i="0" lang="en-US" sz="3200" u="none" cap="none" strike="noStrike">
                <a:solidFill>
                  <a:srgbClr val="49A5D3"/>
                </a:solidFill>
                <a:latin typeface="Arial"/>
                <a:ea typeface="Arial"/>
                <a:cs typeface="Arial"/>
                <a:sym typeface="Arial"/>
              </a:rPr>
              <a:t>i</a:t>
            </a:r>
            <a:r>
              <a:rPr b="1" i="0" lang="en-US" sz="3200" u="none" cap="none" strike="noStrike">
                <a:solidFill>
                  <a:srgbClr val="5989F0"/>
                </a:solidFill>
                <a:latin typeface="Arial"/>
                <a:ea typeface="Arial"/>
                <a:cs typeface="Arial"/>
                <a:sym typeface="Arial"/>
              </a:rPr>
              <a:t>l</a:t>
            </a:r>
            <a:r>
              <a:rPr b="1" i="0" lang="en-US" sz="3200" u="none" cap="none" strike="noStrike">
                <a:solidFill>
                  <a:srgbClr val="7F7BF0"/>
                </a:solidFill>
                <a:latin typeface="Arial"/>
                <a:ea typeface="Arial"/>
                <a:cs typeface="Arial"/>
                <a:sym typeface="Arial"/>
              </a:rPr>
              <a:t>d</a:t>
            </a:r>
            <a:r>
              <a:rPr b="1" i="0" lang="en-US" sz="3200" u="none" cap="none" strike="noStrike">
                <a:solidFill>
                  <a:srgbClr val="A56CF0"/>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pic>
        <p:nvPicPr>
          <p:cNvPr descr="Rejuve.bio" id="190" name="Google Shape;190;p8">
            <a:hlinkClick r:id="rId3"/>
          </p:cNvPr>
          <p:cNvPicPr preferRelativeResize="0"/>
          <p:nvPr/>
        </p:nvPicPr>
        <p:blipFill rotWithShape="1">
          <a:blip r:embed="rId4">
            <a:alphaModFix/>
          </a:blip>
          <a:srcRect b="0" l="0" r="0" t="0"/>
          <a:stretch/>
        </p:blipFill>
        <p:spPr>
          <a:xfrm>
            <a:off x="10424617" y="1063447"/>
            <a:ext cx="1126998" cy="341986"/>
          </a:xfrm>
          <a:prstGeom prst="rect">
            <a:avLst/>
          </a:prstGeom>
          <a:noFill/>
          <a:ln>
            <a:noFill/>
          </a:ln>
        </p:spPr>
      </p:pic>
      <p:sp>
        <p:nvSpPr>
          <p:cNvPr id="191" name="Google Shape;191;p8"/>
          <p:cNvSpPr txBox="1"/>
          <p:nvPr/>
        </p:nvSpPr>
        <p:spPr>
          <a:xfrm>
            <a:off x="640080" y="1783080"/>
            <a:ext cx="5120640" cy="12801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An Omega agent that takes a pathway and one focused question, for example “Which medicines or lifestyle changes have been studied for their effects on insulin signaling in humans, and what did the studies find?”.</a:t>
            </a:r>
            <a:endParaRPr b="0" i="0" sz="1400" u="none" cap="none" strike="noStrike">
              <a:solidFill>
                <a:schemeClr val="dk1"/>
              </a:solidFill>
              <a:latin typeface="Arial"/>
              <a:ea typeface="Arial"/>
              <a:cs typeface="Arial"/>
              <a:sym typeface="Arial"/>
            </a:endParaRPr>
          </a:p>
        </p:txBody>
      </p:sp>
      <p:sp>
        <p:nvSpPr>
          <p:cNvPr id="192" name="Google Shape;192;p8"/>
          <p:cNvSpPr/>
          <p:nvPr/>
        </p:nvSpPr>
        <p:spPr>
          <a:xfrm>
            <a:off x="640080" y="3200400"/>
            <a:ext cx="5120640" cy="1234440"/>
          </a:xfrm>
          <a:prstGeom prst="rect">
            <a:avLst/>
          </a:prstGeom>
          <a:solidFill>
            <a:srgbClr val="111111"/>
          </a:solidFill>
          <a:ln cap="flat" cmpd="sng" w="9525">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a:off x="640080" y="3200400"/>
            <a:ext cx="5120640" cy="32004"/>
          </a:xfrm>
          <a:prstGeom prst="rect">
            <a:avLst/>
          </a:prstGeom>
          <a:solidFill>
            <a:srgbClr val="F7B8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txBox="1"/>
          <p:nvPr/>
        </p:nvSpPr>
        <p:spPr>
          <a:xfrm>
            <a:off x="868680" y="3200400"/>
            <a:ext cx="4663440" cy="12344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D598"/>
              </a:buClr>
              <a:buSzPts val="1200"/>
              <a:buFont typeface="Arial"/>
              <a:buNone/>
            </a:pPr>
            <a:r>
              <a:rPr b="1" i="0" lang="en-US" sz="1200" u="none" cap="none" strike="noStrike">
                <a:solidFill>
                  <a:srgbClr val="3ED598"/>
                </a:solidFill>
                <a:latin typeface="Arial"/>
                <a:ea typeface="Arial"/>
                <a:cs typeface="Arial"/>
                <a:sym typeface="Arial"/>
              </a:rPr>
              <a:t>For Trainees: </a:t>
            </a:r>
            <a:r>
              <a:rPr b="0" i="0" lang="en-US" sz="1200" u="none" cap="none" strike="noStrike">
                <a:solidFill>
                  <a:srgbClr val="B4B4B4"/>
                </a:solidFill>
                <a:latin typeface="Arial"/>
                <a:ea typeface="Arial"/>
                <a:cs typeface="Arial"/>
                <a:sym typeface="Arial"/>
              </a:rPr>
              <a:t>insulin signaling is the communication process through which insulin a hormone tells cells how to take up, use and store sugar. Think of a pathway as a chain of biological messages.</a:t>
            </a:r>
            <a:endParaRPr b="0" i="0" sz="1200" u="none" cap="none" strike="noStrike">
              <a:solidFill>
                <a:schemeClr val="dk1"/>
              </a:solidFill>
              <a:latin typeface="Arial"/>
              <a:ea typeface="Arial"/>
              <a:cs typeface="Arial"/>
              <a:sym typeface="Arial"/>
            </a:endParaRPr>
          </a:p>
        </p:txBody>
      </p:sp>
      <p:sp>
        <p:nvSpPr>
          <p:cNvPr id="195" name="Google Shape;195;p8"/>
          <p:cNvSpPr txBox="1"/>
          <p:nvPr/>
        </p:nvSpPr>
        <p:spPr>
          <a:xfrm>
            <a:off x="640080" y="4617720"/>
            <a:ext cx="5120640" cy="5486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250"/>
              <a:buFont typeface="Arial"/>
              <a:buNone/>
            </a:pPr>
            <a:r>
              <a:rPr b="1" i="0" lang="en-US" sz="1250" u="none" cap="none" strike="noStrike">
                <a:solidFill>
                  <a:srgbClr val="FFFFFF"/>
                </a:solidFill>
                <a:latin typeface="Arial"/>
                <a:ea typeface="Arial"/>
                <a:cs typeface="Arial"/>
                <a:sym typeface="Arial"/>
              </a:rPr>
              <a:t>Lower blood sugar alone does not prove which part of insulin signaling changed.</a:t>
            </a:r>
            <a:endParaRPr b="0" i="0" sz="1250" u="none" cap="none" strike="noStrike">
              <a:solidFill>
                <a:schemeClr val="dk1"/>
              </a:solidFill>
              <a:latin typeface="Arial"/>
              <a:ea typeface="Arial"/>
              <a:cs typeface="Arial"/>
              <a:sym typeface="Arial"/>
            </a:endParaRPr>
          </a:p>
        </p:txBody>
      </p:sp>
      <p:sp>
        <p:nvSpPr>
          <p:cNvPr id="196" name="Google Shape;196;p8"/>
          <p:cNvSpPr txBox="1"/>
          <p:nvPr/>
        </p:nvSpPr>
        <p:spPr>
          <a:xfrm>
            <a:off x="640080" y="5166360"/>
            <a:ext cx="5120640" cy="8229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250"/>
              <a:buFont typeface="Arial"/>
              <a:buNone/>
            </a:pPr>
            <a:r>
              <a:rPr b="0" i="0" lang="en-US" sz="1250" u="none" cap="none" strike="noStrike">
                <a:solidFill>
                  <a:srgbClr val="B4B4B4"/>
                </a:solidFill>
                <a:latin typeface="Arial"/>
                <a:ea typeface="Arial"/>
                <a:cs typeface="Arial"/>
                <a:sym typeface="Arial"/>
              </a:rPr>
              <a:t>Keep the scope narrow: choose medicines or lifestyle changes, focus on human studies and inspect up to 10 papers.</a:t>
            </a:r>
            <a:endParaRPr b="0" i="0" sz="1250" u="none" cap="none" strike="noStrike">
              <a:solidFill>
                <a:schemeClr val="dk1"/>
              </a:solidFill>
              <a:latin typeface="Arial"/>
              <a:ea typeface="Arial"/>
              <a:cs typeface="Arial"/>
              <a:sym typeface="Arial"/>
            </a:endParaRPr>
          </a:p>
        </p:txBody>
      </p:sp>
      <p:sp>
        <p:nvSpPr>
          <p:cNvPr id="197" name="Google Shape;197;p8"/>
          <p:cNvSpPr txBox="1"/>
          <p:nvPr/>
        </p:nvSpPr>
        <p:spPr>
          <a:xfrm>
            <a:off x="6309360" y="1783080"/>
            <a:ext cx="5242255"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OMEGA SHOULD DISCOVER RELEVANT PAPERS AND RETURN:</a:t>
            </a:r>
            <a:endParaRPr b="0" i="0" sz="950" u="none" cap="none" strike="noStrike">
              <a:solidFill>
                <a:schemeClr val="dk1"/>
              </a:solidFill>
              <a:latin typeface="Arial"/>
              <a:ea typeface="Arial"/>
              <a:cs typeface="Arial"/>
              <a:sym typeface="Arial"/>
            </a:endParaRPr>
          </a:p>
        </p:txBody>
      </p:sp>
      <p:cxnSp>
        <p:nvCxnSpPr>
          <p:cNvPr id="198" name="Google Shape;198;p8"/>
          <p:cNvCxnSpPr/>
          <p:nvPr/>
        </p:nvCxnSpPr>
        <p:spPr>
          <a:xfrm>
            <a:off x="6309360" y="2148840"/>
            <a:ext cx="5242255" cy="0"/>
          </a:xfrm>
          <a:prstGeom prst="straightConnector1">
            <a:avLst/>
          </a:prstGeom>
          <a:noFill/>
          <a:ln cap="flat" cmpd="sng" w="9525">
            <a:solidFill>
              <a:srgbClr val="5A5A5A"/>
            </a:solidFill>
            <a:prstDash val="solid"/>
            <a:round/>
            <a:headEnd len="sm" w="sm" type="none"/>
            <a:tailEnd len="sm" w="sm" type="none"/>
          </a:ln>
        </p:spPr>
      </p:cxnSp>
      <p:sp>
        <p:nvSpPr>
          <p:cNvPr id="199" name="Google Shape;199;p8"/>
          <p:cNvSpPr txBox="1"/>
          <p:nvPr/>
        </p:nvSpPr>
        <p:spPr>
          <a:xfrm>
            <a:off x="6309360" y="2258568"/>
            <a:ext cx="45720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D598"/>
              </a:buClr>
              <a:buSzPts val="1300"/>
              <a:buFont typeface="Arial"/>
              <a:buNone/>
            </a:pPr>
            <a:r>
              <a:rPr b="1" i="0" lang="en-US" sz="1300" u="none" cap="none" strike="noStrike">
                <a:solidFill>
                  <a:srgbClr val="3ED598"/>
                </a:solidFill>
                <a:latin typeface="Arial"/>
                <a:ea typeface="Arial"/>
                <a:cs typeface="Arial"/>
                <a:sym typeface="Arial"/>
              </a:rPr>
              <a:t>01</a:t>
            </a:r>
            <a:endParaRPr b="0" i="0" sz="1300" u="none" cap="none" strike="noStrike">
              <a:solidFill>
                <a:schemeClr val="dk1"/>
              </a:solidFill>
              <a:latin typeface="Arial"/>
              <a:ea typeface="Arial"/>
              <a:cs typeface="Arial"/>
              <a:sym typeface="Arial"/>
            </a:endParaRPr>
          </a:p>
        </p:txBody>
      </p:sp>
      <p:sp>
        <p:nvSpPr>
          <p:cNvPr id="200" name="Google Shape;200;p8"/>
          <p:cNvSpPr txBox="1"/>
          <p:nvPr/>
        </p:nvSpPr>
        <p:spPr>
          <a:xfrm>
            <a:off x="6812280" y="2221992"/>
            <a:ext cx="4739335" cy="5029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50"/>
              <a:buFont typeface="Arial"/>
              <a:buNone/>
            </a:pPr>
            <a:r>
              <a:rPr b="0" i="0" lang="en-US" sz="1250" u="none" cap="none" strike="noStrike">
                <a:solidFill>
                  <a:srgbClr val="FFFFFF"/>
                </a:solidFill>
                <a:latin typeface="Arial"/>
                <a:ea typeface="Arial"/>
                <a:cs typeface="Arial"/>
                <a:sym typeface="Arial"/>
              </a:rPr>
              <a:t>the interventions studied, with source links and supporting quotations</a:t>
            </a:r>
            <a:endParaRPr b="0" i="0" sz="1250" u="none" cap="none" strike="noStrike">
              <a:solidFill>
                <a:schemeClr val="dk1"/>
              </a:solidFill>
              <a:latin typeface="Arial"/>
              <a:ea typeface="Arial"/>
              <a:cs typeface="Arial"/>
              <a:sym typeface="Arial"/>
            </a:endParaRPr>
          </a:p>
        </p:txBody>
      </p:sp>
      <p:cxnSp>
        <p:nvCxnSpPr>
          <p:cNvPr id="201" name="Google Shape;201;p8"/>
          <p:cNvCxnSpPr/>
          <p:nvPr/>
        </p:nvCxnSpPr>
        <p:spPr>
          <a:xfrm>
            <a:off x="6309360" y="2788920"/>
            <a:ext cx="5242255" cy="0"/>
          </a:xfrm>
          <a:prstGeom prst="straightConnector1">
            <a:avLst/>
          </a:prstGeom>
          <a:noFill/>
          <a:ln cap="flat" cmpd="sng" w="9525">
            <a:solidFill>
              <a:srgbClr val="262626"/>
            </a:solidFill>
            <a:prstDash val="solid"/>
            <a:round/>
            <a:headEnd len="sm" w="sm" type="none"/>
            <a:tailEnd len="sm" w="sm" type="none"/>
          </a:ln>
        </p:spPr>
      </p:cxnSp>
      <p:sp>
        <p:nvSpPr>
          <p:cNvPr id="202" name="Google Shape;202;p8"/>
          <p:cNvSpPr txBox="1"/>
          <p:nvPr/>
        </p:nvSpPr>
        <p:spPr>
          <a:xfrm>
            <a:off x="6309360" y="2898648"/>
            <a:ext cx="45720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D598"/>
              </a:buClr>
              <a:buSzPts val="1300"/>
              <a:buFont typeface="Arial"/>
              <a:buNone/>
            </a:pPr>
            <a:r>
              <a:rPr b="1" i="0" lang="en-US" sz="1300" u="none" cap="none" strike="noStrike">
                <a:solidFill>
                  <a:srgbClr val="3ED598"/>
                </a:solidFill>
                <a:latin typeface="Arial"/>
                <a:ea typeface="Arial"/>
                <a:cs typeface="Arial"/>
                <a:sym typeface="Arial"/>
              </a:rPr>
              <a:t>02</a:t>
            </a:r>
            <a:endParaRPr b="0" i="0" sz="1300" u="none" cap="none" strike="noStrike">
              <a:solidFill>
                <a:schemeClr val="dk1"/>
              </a:solidFill>
              <a:latin typeface="Arial"/>
              <a:ea typeface="Arial"/>
              <a:cs typeface="Arial"/>
              <a:sym typeface="Arial"/>
            </a:endParaRPr>
          </a:p>
        </p:txBody>
      </p:sp>
      <p:sp>
        <p:nvSpPr>
          <p:cNvPr id="203" name="Google Shape;203;p8"/>
          <p:cNvSpPr txBox="1"/>
          <p:nvPr/>
        </p:nvSpPr>
        <p:spPr>
          <a:xfrm>
            <a:off x="6812280" y="2862072"/>
            <a:ext cx="4739335" cy="5029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50"/>
              <a:buFont typeface="Arial"/>
              <a:buNone/>
            </a:pPr>
            <a:r>
              <a:rPr b="0" i="0" lang="en-US" sz="1250" u="none" cap="none" strike="noStrike">
                <a:solidFill>
                  <a:srgbClr val="FFFFFF"/>
                </a:solidFill>
                <a:latin typeface="Arial"/>
                <a:ea typeface="Arial"/>
                <a:cs typeface="Arial"/>
                <a:sym typeface="Arial"/>
              </a:rPr>
              <a:t>who participated, what was tested and what it was compared with</a:t>
            </a:r>
            <a:endParaRPr b="0" i="0" sz="1250" u="none" cap="none" strike="noStrike">
              <a:solidFill>
                <a:schemeClr val="dk1"/>
              </a:solidFill>
              <a:latin typeface="Arial"/>
              <a:ea typeface="Arial"/>
              <a:cs typeface="Arial"/>
              <a:sym typeface="Arial"/>
            </a:endParaRPr>
          </a:p>
        </p:txBody>
      </p:sp>
      <p:cxnSp>
        <p:nvCxnSpPr>
          <p:cNvPr id="204" name="Google Shape;204;p8"/>
          <p:cNvCxnSpPr/>
          <p:nvPr/>
        </p:nvCxnSpPr>
        <p:spPr>
          <a:xfrm>
            <a:off x="6309360" y="3429000"/>
            <a:ext cx="5242255" cy="0"/>
          </a:xfrm>
          <a:prstGeom prst="straightConnector1">
            <a:avLst/>
          </a:prstGeom>
          <a:noFill/>
          <a:ln cap="flat" cmpd="sng" w="9525">
            <a:solidFill>
              <a:srgbClr val="262626"/>
            </a:solidFill>
            <a:prstDash val="solid"/>
            <a:round/>
            <a:headEnd len="sm" w="sm" type="none"/>
            <a:tailEnd len="sm" w="sm" type="none"/>
          </a:ln>
        </p:spPr>
      </p:cxnSp>
      <p:sp>
        <p:nvSpPr>
          <p:cNvPr id="205" name="Google Shape;205;p8"/>
          <p:cNvSpPr txBox="1"/>
          <p:nvPr/>
        </p:nvSpPr>
        <p:spPr>
          <a:xfrm>
            <a:off x="6309360" y="3538728"/>
            <a:ext cx="45720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D598"/>
              </a:buClr>
              <a:buSzPts val="1300"/>
              <a:buFont typeface="Arial"/>
              <a:buNone/>
            </a:pPr>
            <a:r>
              <a:rPr b="1" i="0" lang="en-US" sz="1300" u="none" cap="none" strike="noStrike">
                <a:solidFill>
                  <a:srgbClr val="3ED598"/>
                </a:solidFill>
                <a:latin typeface="Arial"/>
                <a:ea typeface="Arial"/>
                <a:cs typeface="Arial"/>
                <a:sym typeface="Arial"/>
              </a:rPr>
              <a:t>03</a:t>
            </a:r>
            <a:endParaRPr b="0" i="0" sz="1300" u="none" cap="none" strike="noStrike">
              <a:solidFill>
                <a:schemeClr val="dk1"/>
              </a:solidFill>
              <a:latin typeface="Arial"/>
              <a:ea typeface="Arial"/>
              <a:cs typeface="Arial"/>
              <a:sym typeface="Arial"/>
            </a:endParaRPr>
          </a:p>
        </p:txBody>
      </p:sp>
      <p:sp>
        <p:nvSpPr>
          <p:cNvPr id="206" name="Google Shape;206;p8"/>
          <p:cNvSpPr txBox="1"/>
          <p:nvPr/>
        </p:nvSpPr>
        <p:spPr>
          <a:xfrm>
            <a:off x="6812280" y="3502152"/>
            <a:ext cx="4739335" cy="5029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50"/>
              <a:buFont typeface="Arial"/>
              <a:buNone/>
            </a:pPr>
            <a:r>
              <a:rPr b="0" i="0" lang="en-US" sz="1250" u="none" cap="none" strike="noStrike">
                <a:solidFill>
                  <a:srgbClr val="FFFFFF"/>
                </a:solidFill>
                <a:latin typeface="Arial"/>
                <a:ea typeface="Arial"/>
                <a:cs typeface="Arial"/>
                <a:sym typeface="Arial"/>
              </a:rPr>
              <a:t>what researchers measured and what changed</a:t>
            </a:r>
            <a:endParaRPr b="0" i="0" sz="1250" u="none" cap="none" strike="noStrike">
              <a:solidFill>
                <a:schemeClr val="dk1"/>
              </a:solidFill>
              <a:latin typeface="Arial"/>
              <a:ea typeface="Arial"/>
              <a:cs typeface="Arial"/>
              <a:sym typeface="Arial"/>
            </a:endParaRPr>
          </a:p>
        </p:txBody>
      </p:sp>
      <p:cxnSp>
        <p:nvCxnSpPr>
          <p:cNvPr id="207" name="Google Shape;207;p8"/>
          <p:cNvCxnSpPr/>
          <p:nvPr/>
        </p:nvCxnSpPr>
        <p:spPr>
          <a:xfrm>
            <a:off x="6309360" y="4069080"/>
            <a:ext cx="5242255" cy="0"/>
          </a:xfrm>
          <a:prstGeom prst="straightConnector1">
            <a:avLst/>
          </a:prstGeom>
          <a:noFill/>
          <a:ln cap="flat" cmpd="sng" w="9525">
            <a:solidFill>
              <a:srgbClr val="262626"/>
            </a:solidFill>
            <a:prstDash val="solid"/>
            <a:round/>
            <a:headEnd len="sm" w="sm" type="none"/>
            <a:tailEnd len="sm" w="sm" type="none"/>
          </a:ln>
        </p:spPr>
      </p:cxnSp>
      <p:sp>
        <p:nvSpPr>
          <p:cNvPr id="208" name="Google Shape;208;p8"/>
          <p:cNvSpPr txBox="1"/>
          <p:nvPr/>
        </p:nvSpPr>
        <p:spPr>
          <a:xfrm>
            <a:off x="6309360" y="4178808"/>
            <a:ext cx="45720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D598"/>
              </a:buClr>
              <a:buSzPts val="1300"/>
              <a:buFont typeface="Arial"/>
              <a:buNone/>
            </a:pPr>
            <a:r>
              <a:rPr b="1" i="0" lang="en-US" sz="1300" u="none" cap="none" strike="noStrike">
                <a:solidFill>
                  <a:srgbClr val="3ED598"/>
                </a:solidFill>
                <a:latin typeface="Arial"/>
                <a:ea typeface="Arial"/>
                <a:cs typeface="Arial"/>
                <a:sym typeface="Arial"/>
              </a:rPr>
              <a:t>04</a:t>
            </a:r>
            <a:endParaRPr b="0" i="0" sz="1300" u="none" cap="none" strike="noStrike">
              <a:solidFill>
                <a:schemeClr val="dk1"/>
              </a:solidFill>
              <a:latin typeface="Arial"/>
              <a:ea typeface="Arial"/>
              <a:cs typeface="Arial"/>
              <a:sym typeface="Arial"/>
            </a:endParaRPr>
          </a:p>
        </p:txBody>
      </p:sp>
      <p:sp>
        <p:nvSpPr>
          <p:cNvPr id="209" name="Google Shape;209;p8"/>
          <p:cNvSpPr txBox="1"/>
          <p:nvPr/>
        </p:nvSpPr>
        <p:spPr>
          <a:xfrm>
            <a:off x="6812280" y="4142232"/>
            <a:ext cx="4739335" cy="5029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50"/>
              <a:buFont typeface="Arial"/>
              <a:buNone/>
            </a:pPr>
            <a:r>
              <a:rPr b="0" i="0" lang="en-US" sz="1250" u="none" cap="none" strike="noStrike">
                <a:solidFill>
                  <a:srgbClr val="FFFFFF"/>
                </a:solidFill>
                <a:latin typeface="Arial"/>
                <a:ea typeface="Arial"/>
                <a:cs typeface="Arial"/>
                <a:sym typeface="Arial"/>
              </a:rPr>
              <a:t>whether the biological explanation was tested or remains a hypothesis</a:t>
            </a:r>
            <a:endParaRPr b="0" i="0" sz="1250" u="none" cap="none" strike="noStrike">
              <a:solidFill>
                <a:schemeClr val="dk1"/>
              </a:solidFill>
              <a:latin typeface="Arial"/>
              <a:ea typeface="Arial"/>
              <a:cs typeface="Arial"/>
              <a:sym typeface="Arial"/>
            </a:endParaRPr>
          </a:p>
        </p:txBody>
      </p:sp>
      <p:cxnSp>
        <p:nvCxnSpPr>
          <p:cNvPr id="210" name="Google Shape;210;p8"/>
          <p:cNvCxnSpPr/>
          <p:nvPr/>
        </p:nvCxnSpPr>
        <p:spPr>
          <a:xfrm>
            <a:off x="6309360" y="4709160"/>
            <a:ext cx="5242255" cy="0"/>
          </a:xfrm>
          <a:prstGeom prst="straightConnector1">
            <a:avLst/>
          </a:prstGeom>
          <a:noFill/>
          <a:ln cap="flat" cmpd="sng" w="9525">
            <a:solidFill>
              <a:srgbClr val="262626"/>
            </a:solidFill>
            <a:prstDash val="solid"/>
            <a:round/>
            <a:headEnd len="sm" w="sm" type="none"/>
            <a:tailEnd len="sm" w="sm" type="none"/>
          </a:ln>
        </p:spPr>
      </p:cxnSp>
      <p:sp>
        <p:nvSpPr>
          <p:cNvPr id="211" name="Google Shape;211;p8"/>
          <p:cNvSpPr txBox="1"/>
          <p:nvPr/>
        </p:nvSpPr>
        <p:spPr>
          <a:xfrm>
            <a:off x="6309360" y="4818888"/>
            <a:ext cx="45720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D598"/>
              </a:buClr>
              <a:buSzPts val="1300"/>
              <a:buFont typeface="Arial"/>
              <a:buNone/>
            </a:pPr>
            <a:r>
              <a:rPr b="1" i="0" lang="en-US" sz="1300" u="none" cap="none" strike="noStrike">
                <a:solidFill>
                  <a:srgbClr val="3ED598"/>
                </a:solidFill>
                <a:latin typeface="Arial"/>
                <a:ea typeface="Arial"/>
                <a:cs typeface="Arial"/>
                <a:sym typeface="Arial"/>
              </a:rPr>
              <a:t>05</a:t>
            </a:r>
            <a:endParaRPr b="0" i="0" sz="1300" u="none" cap="none" strike="noStrike">
              <a:solidFill>
                <a:schemeClr val="dk1"/>
              </a:solidFill>
              <a:latin typeface="Arial"/>
              <a:ea typeface="Arial"/>
              <a:cs typeface="Arial"/>
              <a:sym typeface="Arial"/>
            </a:endParaRPr>
          </a:p>
        </p:txBody>
      </p:sp>
      <p:sp>
        <p:nvSpPr>
          <p:cNvPr id="212" name="Google Shape;212;p8"/>
          <p:cNvSpPr txBox="1"/>
          <p:nvPr/>
        </p:nvSpPr>
        <p:spPr>
          <a:xfrm>
            <a:off x="6812280" y="4782312"/>
            <a:ext cx="4739335" cy="5029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50"/>
              <a:buFont typeface="Arial"/>
              <a:buNone/>
            </a:pPr>
            <a:r>
              <a:rPr b="0" i="0" lang="en-US" sz="1250" u="none" cap="none" strike="noStrike">
                <a:solidFill>
                  <a:srgbClr val="FFFFFF"/>
                </a:solidFill>
                <a:latin typeface="Arial"/>
                <a:ea typeface="Arial"/>
                <a:cs typeface="Arial"/>
                <a:sym typeface="Arial"/>
              </a:rPr>
              <a:t>conflicting findings, reported harms and missing information</a:t>
            </a:r>
            <a:endParaRPr b="0" i="0" sz="1250" u="none" cap="none" strike="noStrike">
              <a:solidFill>
                <a:schemeClr val="dk1"/>
              </a:solidFill>
              <a:latin typeface="Arial"/>
              <a:ea typeface="Arial"/>
              <a:cs typeface="Arial"/>
              <a:sym typeface="Arial"/>
            </a:endParaRPr>
          </a:p>
        </p:txBody>
      </p:sp>
      <p:cxnSp>
        <p:nvCxnSpPr>
          <p:cNvPr id="213" name="Google Shape;213;p8"/>
          <p:cNvCxnSpPr/>
          <p:nvPr/>
        </p:nvCxnSpPr>
        <p:spPr>
          <a:xfrm>
            <a:off x="6309360" y="5349240"/>
            <a:ext cx="5242255" cy="0"/>
          </a:xfrm>
          <a:prstGeom prst="straightConnector1">
            <a:avLst/>
          </a:prstGeom>
          <a:noFill/>
          <a:ln cap="flat" cmpd="sng" w="9525">
            <a:solidFill>
              <a:srgbClr val="262626"/>
            </a:solidFill>
            <a:prstDash val="solid"/>
            <a:round/>
            <a:headEnd len="sm" w="sm" type="none"/>
            <a:tailEnd len="sm" w="sm" type="none"/>
          </a:ln>
        </p:spPr>
      </p:cxnSp>
      <p:sp>
        <p:nvSpPr>
          <p:cNvPr id="214" name="Google Shape;214;p8"/>
          <p:cNvSpPr txBox="1"/>
          <p:nvPr/>
        </p:nvSpPr>
        <p:spPr>
          <a:xfrm>
            <a:off x="6309360" y="5458968"/>
            <a:ext cx="45720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D598"/>
              </a:buClr>
              <a:buSzPts val="1300"/>
              <a:buFont typeface="Arial"/>
              <a:buNone/>
            </a:pPr>
            <a:r>
              <a:rPr b="1" i="0" lang="en-US" sz="1300" u="none" cap="none" strike="noStrike">
                <a:solidFill>
                  <a:srgbClr val="3ED598"/>
                </a:solidFill>
                <a:latin typeface="Arial"/>
                <a:ea typeface="Arial"/>
                <a:cs typeface="Arial"/>
                <a:sym typeface="Arial"/>
              </a:rPr>
              <a:t>06</a:t>
            </a:r>
            <a:endParaRPr b="0" i="0" sz="1300" u="none" cap="none" strike="noStrike">
              <a:solidFill>
                <a:schemeClr val="dk1"/>
              </a:solidFill>
              <a:latin typeface="Arial"/>
              <a:ea typeface="Arial"/>
              <a:cs typeface="Arial"/>
              <a:sym typeface="Arial"/>
            </a:endParaRPr>
          </a:p>
        </p:txBody>
      </p:sp>
      <p:sp>
        <p:nvSpPr>
          <p:cNvPr id="215" name="Google Shape;215;p8"/>
          <p:cNvSpPr txBox="1"/>
          <p:nvPr/>
        </p:nvSpPr>
        <p:spPr>
          <a:xfrm>
            <a:off x="6812280" y="5422392"/>
            <a:ext cx="4739335" cy="5029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50"/>
              <a:buFont typeface="Arial"/>
              <a:buNone/>
            </a:pPr>
            <a:r>
              <a:rPr b="0" i="0" lang="en-US" sz="1250" u="none" cap="none" strike="noStrike">
                <a:solidFill>
                  <a:srgbClr val="FFFFFF"/>
                </a:solidFill>
                <a:latin typeface="Arial"/>
                <a:ea typeface="Arial"/>
                <a:cs typeface="Arial"/>
                <a:sym typeface="Arial"/>
              </a:rPr>
              <a:t>a conclusion explaining uncertainty and what evidence would change it</a:t>
            </a:r>
            <a:endParaRPr b="0" i="0" sz="1250" u="none" cap="none" strike="noStrike">
              <a:solidFill>
                <a:schemeClr val="dk1"/>
              </a:solidFill>
              <a:latin typeface="Arial"/>
              <a:ea typeface="Arial"/>
              <a:cs typeface="Arial"/>
              <a:sym typeface="Arial"/>
            </a:endParaRPr>
          </a:p>
        </p:txBody>
      </p:sp>
      <p:cxnSp>
        <p:nvCxnSpPr>
          <p:cNvPr id="216" name="Google Shape;216;p8"/>
          <p:cNvCxnSpPr/>
          <p:nvPr/>
        </p:nvCxnSpPr>
        <p:spPr>
          <a:xfrm>
            <a:off x="6309360" y="5989320"/>
            <a:ext cx="5242255" cy="0"/>
          </a:xfrm>
          <a:prstGeom prst="straightConnector1">
            <a:avLst/>
          </a:prstGeom>
          <a:noFill/>
          <a:ln cap="flat" cmpd="sng" w="9525">
            <a:solidFill>
              <a:srgbClr val="262626"/>
            </a:solidFill>
            <a:prstDash val="solid"/>
            <a:round/>
            <a:headEnd len="sm" w="sm" type="none"/>
            <a:tailEnd len="sm" w="sm" type="none"/>
          </a:ln>
        </p:spPr>
      </p:cxnSp>
      <p:sp>
        <p:nvSpPr>
          <p:cNvPr id="217" name="Google Shape;217;p8"/>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9"/>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01 · WHAT OMEGA DOES HERE</a:t>
            </a:r>
            <a:endParaRPr b="0" i="0" sz="950" u="none" cap="none" strike="noStrike">
              <a:solidFill>
                <a:schemeClr val="dk1"/>
              </a:solidFill>
              <a:latin typeface="Arial"/>
              <a:ea typeface="Arial"/>
              <a:cs typeface="Arial"/>
              <a:sym typeface="Arial"/>
            </a:endParaRPr>
          </a:p>
        </p:txBody>
      </p:sp>
      <p:sp>
        <p:nvSpPr>
          <p:cNvPr id="224" name="Google Shape;224;p9"/>
          <p:cNvSpPr txBox="1"/>
          <p:nvPr/>
        </p:nvSpPr>
        <p:spPr>
          <a:xfrm>
            <a:off x="640080" y="914400"/>
            <a:ext cx="10911535"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Track 01. </a:t>
            </a:r>
            <a:r>
              <a:rPr b="1" i="0" lang="en-US" sz="3200" u="none" cap="none" strike="noStrike">
                <a:solidFill>
                  <a:srgbClr val="F2596B"/>
                </a:solidFill>
                <a:latin typeface="Arial"/>
                <a:ea typeface="Arial"/>
                <a:cs typeface="Arial"/>
                <a:sym typeface="Arial"/>
              </a:rPr>
              <a:t>W</a:t>
            </a:r>
            <a:r>
              <a:rPr b="1" i="0" lang="en-US" sz="3200" u="none" cap="none" strike="noStrike">
                <a:solidFill>
                  <a:srgbClr val="F36F67"/>
                </a:solidFill>
                <a:latin typeface="Arial"/>
                <a:ea typeface="Arial"/>
                <a:cs typeface="Arial"/>
                <a:sym typeface="Arial"/>
              </a:rPr>
              <a:t>h</a:t>
            </a:r>
            <a:r>
              <a:rPr b="1" i="0" lang="en-US" sz="3200" u="none" cap="none" strike="noStrike">
                <a:solidFill>
                  <a:srgbClr val="F48664"/>
                </a:solidFill>
                <a:latin typeface="Arial"/>
                <a:ea typeface="Arial"/>
                <a:cs typeface="Arial"/>
                <a:sym typeface="Arial"/>
              </a:rPr>
              <a:t>a</a:t>
            </a:r>
            <a:r>
              <a:rPr b="1" i="0" lang="en-US" sz="3200" u="none" cap="none" strike="noStrike">
                <a:solidFill>
                  <a:srgbClr val="F69C60"/>
                </a:solidFill>
                <a:latin typeface="Arial"/>
                <a:ea typeface="Arial"/>
                <a:cs typeface="Arial"/>
                <a:sym typeface="Arial"/>
              </a:rPr>
              <a:t>t</a:t>
            </a:r>
            <a:r>
              <a:rPr b="1" i="0" lang="en-US" sz="3200" u="none" cap="none" strike="noStrike">
                <a:solidFill>
                  <a:srgbClr val="FFFFFF"/>
                </a:solidFill>
                <a:latin typeface="Arial"/>
                <a:ea typeface="Arial"/>
                <a:cs typeface="Arial"/>
                <a:sym typeface="Arial"/>
              </a:rPr>
              <a:t> </a:t>
            </a:r>
            <a:r>
              <a:rPr b="1" i="0" lang="en-US" sz="3200" u="none" cap="none" strike="noStrike">
                <a:solidFill>
                  <a:srgbClr val="F7B25D"/>
                </a:solidFill>
                <a:latin typeface="Arial"/>
                <a:ea typeface="Arial"/>
                <a:cs typeface="Arial"/>
                <a:sym typeface="Arial"/>
              </a:rPr>
              <a:t>O</a:t>
            </a:r>
            <a:r>
              <a:rPr b="1" i="0" lang="en-US" sz="3200" u="none" cap="none" strike="noStrike">
                <a:solidFill>
                  <a:srgbClr val="D6BD67"/>
                </a:solidFill>
                <a:latin typeface="Arial"/>
                <a:ea typeface="Arial"/>
                <a:cs typeface="Arial"/>
                <a:sym typeface="Arial"/>
              </a:rPr>
              <a:t>m</a:t>
            </a:r>
            <a:r>
              <a:rPr b="1" i="0" lang="en-US" sz="3200" u="none" cap="none" strike="noStrike">
                <a:solidFill>
                  <a:srgbClr val="ABC475"/>
                </a:solidFill>
                <a:latin typeface="Arial"/>
                <a:ea typeface="Arial"/>
                <a:cs typeface="Arial"/>
                <a:sym typeface="Arial"/>
              </a:rPr>
              <a:t>e</a:t>
            </a:r>
            <a:r>
              <a:rPr b="1" i="0" lang="en-US" sz="3200" u="none" cap="none" strike="noStrike">
                <a:solidFill>
                  <a:srgbClr val="7FCB83"/>
                </a:solidFill>
                <a:latin typeface="Arial"/>
                <a:ea typeface="Arial"/>
                <a:cs typeface="Arial"/>
                <a:sym typeface="Arial"/>
              </a:rPr>
              <a:t>g</a:t>
            </a:r>
            <a:r>
              <a:rPr b="1" i="0" lang="en-US" sz="3200" u="none" cap="none" strike="noStrike">
                <a:solidFill>
                  <a:srgbClr val="54D291"/>
                </a:solidFill>
                <a:latin typeface="Arial"/>
                <a:ea typeface="Arial"/>
                <a:cs typeface="Arial"/>
                <a:sym typeface="Arial"/>
              </a:rPr>
              <a:t>a</a:t>
            </a:r>
            <a:r>
              <a:rPr b="1" i="0" lang="en-US" sz="3200" u="none" cap="none" strike="noStrike">
                <a:solidFill>
                  <a:srgbClr val="FFFFFF"/>
                </a:solidFill>
                <a:latin typeface="Arial"/>
                <a:ea typeface="Arial"/>
                <a:cs typeface="Arial"/>
                <a:sym typeface="Arial"/>
              </a:rPr>
              <a:t> </a:t>
            </a:r>
            <a:r>
              <a:rPr b="1" i="0" lang="en-US" sz="3200" u="none" cap="none" strike="noStrike">
                <a:solidFill>
                  <a:srgbClr val="40CDA2"/>
                </a:solidFill>
                <a:latin typeface="Arial"/>
                <a:ea typeface="Arial"/>
                <a:cs typeface="Arial"/>
                <a:sym typeface="Arial"/>
              </a:rPr>
              <a:t>d</a:t>
            </a:r>
            <a:r>
              <a:rPr b="1" i="0" lang="en-US" sz="3200" u="none" cap="none" strike="noStrike">
                <a:solidFill>
                  <a:srgbClr val="44BCB7"/>
                </a:solidFill>
                <a:latin typeface="Arial"/>
                <a:ea typeface="Arial"/>
                <a:cs typeface="Arial"/>
                <a:sym typeface="Arial"/>
              </a:rPr>
              <a:t>o</a:t>
            </a:r>
            <a:r>
              <a:rPr b="1" i="0" lang="en-US" sz="3200" u="none" cap="none" strike="noStrike">
                <a:solidFill>
                  <a:srgbClr val="48ABCC"/>
                </a:solidFill>
                <a:latin typeface="Arial"/>
                <a:ea typeface="Arial"/>
                <a:cs typeface="Arial"/>
                <a:sym typeface="Arial"/>
              </a:rPr>
              <a:t>e</a:t>
            </a:r>
            <a:r>
              <a:rPr b="1" i="0" lang="en-US" sz="3200" u="none" cap="none" strike="noStrike">
                <a:solidFill>
                  <a:srgbClr val="4C9AE0"/>
                </a:solidFill>
                <a:latin typeface="Arial"/>
                <a:ea typeface="Arial"/>
                <a:cs typeface="Arial"/>
                <a:sym typeface="Arial"/>
              </a:rPr>
              <a:t>s</a:t>
            </a:r>
            <a:r>
              <a:rPr b="1" i="0" lang="en-US" sz="3200" u="none" cap="none" strike="noStrike">
                <a:solidFill>
                  <a:srgbClr val="FFFFFF"/>
                </a:solidFill>
                <a:latin typeface="Arial"/>
                <a:ea typeface="Arial"/>
                <a:cs typeface="Arial"/>
                <a:sym typeface="Arial"/>
              </a:rPr>
              <a:t> </a:t>
            </a:r>
            <a:r>
              <a:rPr b="1" i="0" lang="en-US" sz="3200" u="none" cap="none" strike="noStrike">
                <a:solidFill>
                  <a:srgbClr val="548BF0"/>
                </a:solidFill>
                <a:latin typeface="Arial"/>
                <a:ea typeface="Arial"/>
                <a:cs typeface="Arial"/>
                <a:sym typeface="Arial"/>
              </a:rPr>
              <a:t>h</a:t>
            </a:r>
            <a:r>
              <a:rPr b="1" i="0" lang="en-US" sz="3200" u="none" cap="none" strike="noStrike">
                <a:solidFill>
                  <a:srgbClr val="6883F0"/>
                </a:solidFill>
                <a:latin typeface="Arial"/>
                <a:ea typeface="Arial"/>
                <a:cs typeface="Arial"/>
                <a:sym typeface="Arial"/>
              </a:rPr>
              <a:t>e</a:t>
            </a:r>
            <a:r>
              <a:rPr b="1" i="0" lang="en-US" sz="3200" u="none" cap="none" strike="noStrike">
                <a:solidFill>
                  <a:srgbClr val="7D7CF0"/>
                </a:solidFill>
                <a:latin typeface="Arial"/>
                <a:ea typeface="Arial"/>
                <a:cs typeface="Arial"/>
                <a:sym typeface="Arial"/>
              </a:rPr>
              <a:t>r</a:t>
            </a:r>
            <a:r>
              <a:rPr b="1" i="0" lang="en-US" sz="3200" u="none" cap="none" strike="noStrike">
                <a:solidFill>
                  <a:srgbClr val="9174F0"/>
                </a:solidFill>
                <a:latin typeface="Arial"/>
                <a:ea typeface="Arial"/>
                <a:cs typeface="Arial"/>
                <a:sym typeface="Arial"/>
              </a:rPr>
              <a:t>e</a:t>
            </a:r>
            <a:r>
              <a:rPr b="1" i="0" lang="en-US" sz="3200" u="none" cap="none" strike="noStrike">
                <a:solidFill>
                  <a:srgbClr val="A56CF0"/>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pic>
        <p:nvPicPr>
          <p:cNvPr descr="Rejuve.bio" id="225" name="Google Shape;225;p9">
            <a:hlinkClick r:id="rId3"/>
          </p:cNvPr>
          <p:cNvPicPr preferRelativeResize="0"/>
          <p:nvPr/>
        </p:nvPicPr>
        <p:blipFill rotWithShape="1">
          <a:blip r:embed="rId4">
            <a:alphaModFix/>
          </a:blip>
          <a:srcRect b="0" l="0" r="0" t="0"/>
          <a:stretch/>
        </p:blipFill>
        <p:spPr>
          <a:xfrm>
            <a:off x="10424617" y="1063447"/>
            <a:ext cx="1126998" cy="341986"/>
          </a:xfrm>
          <a:prstGeom prst="rect">
            <a:avLst/>
          </a:prstGeom>
          <a:noFill/>
          <a:ln>
            <a:noFill/>
          </a:ln>
        </p:spPr>
      </p:pic>
      <p:cxnSp>
        <p:nvCxnSpPr>
          <p:cNvPr id="226" name="Google Shape;226;p9"/>
          <p:cNvCxnSpPr/>
          <p:nvPr/>
        </p:nvCxnSpPr>
        <p:spPr>
          <a:xfrm>
            <a:off x="640080" y="1783080"/>
            <a:ext cx="3362858" cy="0"/>
          </a:xfrm>
          <a:prstGeom prst="straightConnector1">
            <a:avLst/>
          </a:prstGeom>
          <a:noFill/>
          <a:ln cap="flat" cmpd="sng" w="9525">
            <a:solidFill>
              <a:srgbClr val="5A5A5A"/>
            </a:solidFill>
            <a:prstDash val="solid"/>
            <a:round/>
            <a:headEnd len="sm" w="sm" type="none"/>
            <a:tailEnd len="sm" w="sm" type="none"/>
          </a:ln>
        </p:spPr>
      </p:cxnSp>
      <p:sp>
        <p:nvSpPr>
          <p:cNvPr id="227" name="Google Shape;227;p9"/>
          <p:cNvSpPr txBox="1"/>
          <p:nvPr/>
        </p:nvSpPr>
        <p:spPr>
          <a:xfrm>
            <a:off x="640080" y="1947672"/>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D598"/>
              </a:buClr>
              <a:buSzPts val="1800"/>
              <a:buFont typeface="Arial"/>
              <a:buNone/>
            </a:pPr>
            <a:r>
              <a:rPr b="1" i="0" lang="en-US" sz="1800" u="none" cap="none" strike="noStrike">
                <a:solidFill>
                  <a:srgbClr val="3ED598"/>
                </a:solidFill>
                <a:latin typeface="Arial"/>
                <a:ea typeface="Arial"/>
                <a:cs typeface="Arial"/>
                <a:sym typeface="Arial"/>
              </a:rPr>
              <a:t>01</a:t>
            </a:r>
            <a:endParaRPr b="0" i="0" sz="1800" u="none" cap="none" strike="noStrike">
              <a:solidFill>
                <a:schemeClr val="dk1"/>
              </a:solidFill>
              <a:latin typeface="Arial"/>
              <a:ea typeface="Arial"/>
              <a:cs typeface="Arial"/>
              <a:sym typeface="Arial"/>
            </a:endParaRPr>
          </a:p>
        </p:txBody>
      </p:sp>
      <p:sp>
        <p:nvSpPr>
          <p:cNvPr id="228" name="Google Shape;228;p9"/>
          <p:cNvSpPr txBox="1"/>
          <p:nvPr/>
        </p:nvSpPr>
        <p:spPr>
          <a:xfrm>
            <a:off x="640080" y="2468880"/>
            <a:ext cx="3362858"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Agent loop</a:t>
            </a:r>
            <a:endParaRPr b="0" i="0" sz="1800" u="none" cap="none" strike="noStrike">
              <a:solidFill>
                <a:schemeClr val="dk1"/>
              </a:solidFill>
              <a:latin typeface="Arial"/>
              <a:ea typeface="Arial"/>
              <a:cs typeface="Arial"/>
              <a:sym typeface="Arial"/>
            </a:endParaRPr>
          </a:p>
        </p:txBody>
      </p:sp>
      <p:sp>
        <p:nvSpPr>
          <p:cNvPr id="229" name="Google Shape;229;p9"/>
          <p:cNvSpPr txBox="1"/>
          <p:nvPr/>
        </p:nvSpPr>
        <p:spPr>
          <a:xfrm>
            <a:off x="640080" y="2971800"/>
            <a:ext cx="3362858"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Plans searches, calls tools, inspects results and decides whether to investigate further or finish.</a:t>
            </a:r>
            <a:endParaRPr b="0" i="0" sz="1350" u="none" cap="none" strike="noStrike">
              <a:solidFill>
                <a:schemeClr val="dk1"/>
              </a:solidFill>
              <a:latin typeface="Arial"/>
              <a:ea typeface="Arial"/>
              <a:cs typeface="Arial"/>
              <a:sym typeface="Arial"/>
            </a:endParaRPr>
          </a:p>
        </p:txBody>
      </p:sp>
      <p:cxnSp>
        <p:nvCxnSpPr>
          <p:cNvPr id="230" name="Google Shape;230;p9"/>
          <p:cNvCxnSpPr/>
          <p:nvPr/>
        </p:nvCxnSpPr>
        <p:spPr>
          <a:xfrm>
            <a:off x="4414418" y="1783080"/>
            <a:ext cx="3362858" cy="0"/>
          </a:xfrm>
          <a:prstGeom prst="straightConnector1">
            <a:avLst/>
          </a:prstGeom>
          <a:noFill/>
          <a:ln cap="flat" cmpd="sng" w="9525">
            <a:solidFill>
              <a:srgbClr val="5A5A5A"/>
            </a:solidFill>
            <a:prstDash val="solid"/>
            <a:round/>
            <a:headEnd len="sm" w="sm" type="none"/>
            <a:tailEnd len="sm" w="sm" type="none"/>
          </a:ln>
        </p:spPr>
      </p:cxnSp>
      <p:sp>
        <p:nvSpPr>
          <p:cNvPr id="231" name="Google Shape;231;p9"/>
          <p:cNvSpPr txBox="1"/>
          <p:nvPr/>
        </p:nvSpPr>
        <p:spPr>
          <a:xfrm>
            <a:off x="4414418" y="1947672"/>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D598"/>
              </a:buClr>
              <a:buSzPts val="1800"/>
              <a:buFont typeface="Arial"/>
              <a:buNone/>
            </a:pPr>
            <a:r>
              <a:rPr b="1" i="0" lang="en-US" sz="1800" u="none" cap="none" strike="noStrike">
                <a:solidFill>
                  <a:srgbClr val="3ED598"/>
                </a:solidFill>
                <a:latin typeface="Arial"/>
                <a:ea typeface="Arial"/>
                <a:cs typeface="Arial"/>
                <a:sym typeface="Arial"/>
              </a:rPr>
              <a:t>02</a:t>
            </a:r>
            <a:endParaRPr b="0" i="0" sz="1800" u="none" cap="none" strike="noStrike">
              <a:solidFill>
                <a:schemeClr val="dk1"/>
              </a:solidFill>
              <a:latin typeface="Arial"/>
              <a:ea typeface="Arial"/>
              <a:cs typeface="Arial"/>
              <a:sym typeface="Arial"/>
            </a:endParaRPr>
          </a:p>
        </p:txBody>
      </p:sp>
      <p:sp>
        <p:nvSpPr>
          <p:cNvPr id="232" name="Google Shape;232;p9"/>
          <p:cNvSpPr txBox="1"/>
          <p:nvPr/>
        </p:nvSpPr>
        <p:spPr>
          <a:xfrm>
            <a:off x="4414418" y="2468880"/>
            <a:ext cx="3362858"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Memory and reasoning</a:t>
            </a:r>
            <a:endParaRPr b="0" i="0" sz="1800" u="none" cap="none" strike="noStrike">
              <a:solidFill>
                <a:schemeClr val="dk1"/>
              </a:solidFill>
              <a:latin typeface="Arial"/>
              <a:ea typeface="Arial"/>
              <a:cs typeface="Arial"/>
              <a:sym typeface="Arial"/>
            </a:endParaRPr>
          </a:p>
        </p:txBody>
      </p:sp>
      <p:sp>
        <p:nvSpPr>
          <p:cNvPr id="233" name="Google Shape;233;p9"/>
          <p:cNvSpPr txBox="1"/>
          <p:nvPr/>
        </p:nvSpPr>
        <p:spPr>
          <a:xfrm>
            <a:off x="4414418" y="2971800"/>
            <a:ext cx="3362858"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Saves checked sources, reuses findings across sessions and compares evidence across study contexts.</a:t>
            </a:r>
            <a:endParaRPr b="0" i="0" sz="1350" u="none" cap="none" strike="noStrike">
              <a:solidFill>
                <a:schemeClr val="dk1"/>
              </a:solidFill>
              <a:latin typeface="Arial"/>
              <a:ea typeface="Arial"/>
              <a:cs typeface="Arial"/>
              <a:sym typeface="Arial"/>
            </a:endParaRPr>
          </a:p>
        </p:txBody>
      </p:sp>
      <p:cxnSp>
        <p:nvCxnSpPr>
          <p:cNvPr id="234" name="Google Shape;234;p9"/>
          <p:cNvCxnSpPr/>
          <p:nvPr/>
        </p:nvCxnSpPr>
        <p:spPr>
          <a:xfrm>
            <a:off x="8188757" y="1783080"/>
            <a:ext cx="3362858" cy="0"/>
          </a:xfrm>
          <a:prstGeom prst="straightConnector1">
            <a:avLst/>
          </a:prstGeom>
          <a:noFill/>
          <a:ln cap="flat" cmpd="sng" w="9525">
            <a:solidFill>
              <a:srgbClr val="5A5A5A"/>
            </a:solidFill>
            <a:prstDash val="solid"/>
            <a:round/>
            <a:headEnd len="sm" w="sm" type="none"/>
            <a:tailEnd len="sm" w="sm" type="none"/>
          </a:ln>
        </p:spPr>
      </p:cxnSp>
      <p:sp>
        <p:nvSpPr>
          <p:cNvPr id="235" name="Google Shape;235;p9"/>
          <p:cNvSpPr txBox="1"/>
          <p:nvPr/>
        </p:nvSpPr>
        <p:spPr>
          <a:xfrm>
            <a:off x="8188757" y="1947672"/>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D598"/>
              </a:buClr>
              <a:buSzPts val="1800"/>
              <a:buFont typeface="Arial"/>
              <a:buNone/>
            </a:pPr>
            <a:r>
              <a:rPr b="1" i="0" lang="en-US" sz="1800" u="none" cap="none" strike="noStrike">
                <a:solidFill>
                  <a:srgbClr val="3ED598"/>
                </a:solidFill>
                <a:latin typeface="Arial"/>
                <a:ea typeface="Arial"/>
                <a:cs typeface="Arial"/>
                <a:sym typeface="Arial"/>
              </a:rPr>
              <a:t>03</a:t>
            </a:r>
            <a:endParaRPr b="0" i="0" sz="1800" u="none" cap="none" strike="noStrike">
              <a:solidFill>
                <a:schemeClr val="dk1"/>
              </a:solidFill>
              <a:latin typeface="Arial"/>
              <a:ea typeface="Arial"/>
              <a:cs typeface="Arial"/>
              <a:sym typeface="Arial"/>
            </a:endParaRPr>
          </a:p>
        </p:txBody>
      </p:sp>
      <p:sp>
        <p:nvSpPr>
          <p:cNvPr id="236" name="Google Shape;236;p9"/>
          <p:cNvSpPr txBox="1"/>
          <p:nvPr/>
        </p:nvSpPr>
        <p:spPr>
          <a:xfrm>
            <a:off x="8188757" y="2468880"/>
            <a:ext cx="3362858"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Tools</a:t>
            </a:r>
            <a:endParaRPr b="0" i="0" sz="1800" u="none" cap="none" strike="noStrike">
              <a:solidFill>
                <a:schemeClr val="dk1"/>
              </a:solidFill>
              <a:latin typeface="Arial"/>
              <a:ea typeface="Arial"/>
              <a:cs typeface="Arial"/>
              <a:sym typeface="Arial"/>
            </a:endParaRPr>
          </a:p>
        </p:txBody>
      </p:sp>
      <p:sp>
        <p:nvSpPr>
          <p:cNvPr id="237" name="Google Shape;237;p9"/>
          <p:cNvSpPr txBox="1"/>
          <p:nvPr/>
        </p:nvSpPr>
        <p:spPr>
          <a:xfrm>
            <a:off x="8188757" y="2971800"/>
            <a:ext cx="3362858"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Public literature search, source retrieval and structured evidence storage/export.</a:t>
            </a:r>
            <a:endParaRPr b="0" i="0" sz="1350" u="none" cap="none" strike="noStrike">
              <a:solidFill>
                <a:schemeClr val="dk1"/>
              </a:solidFill>
              <a:latin typeface="Arial"/>
              <a:ea typeface="Arial"/>
              <a:cs typeface="Arial"/>
              <a:sym typeface="Arial"/>
            </a:endParaRPr>
          </a:p>
        </p:txBody>
      </p:sp>
      <p:sp>
        <p:nvSpPr>
          <p:cNvPr id="238" name="Google Shape;238;p9"/>
          <p:cNvSpPr/>
          <p:nvPr/>
        </p:nvSpPr>
        <p:spPr>
          <a:xfrm>
            <a:off x="640080" y="4572000"/>
            <a:ext cx="10911535" cy="1600200"/>
          </a:xfrm>
          <a:prstGeom prst="rect">
            <a:avLst/>
          </a:prstGeom>
          <a:solidFill>
            <a:srgbClr val="111111"/>
          </a:solidFill>
          <a:ln cap="flat" cmpd="sng" w="9525">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640080" y="4572000"/>
            <a:ext cx="10911535" cy="32004"/>
          </a:xfrm>
          <a:prstGeom prst="rect">
            <a:avLst/>
          </a:prstGeom>
          <a:solidFill>
            <a:srgbClr val="F7B8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txBox="1"/>
          <p:nvPr/>
        </p:nvSpPr>
        <p:spPr>
          <a:xfrm>
            <a:off x="1005840" y="4572000"/>
            <a:ext cx="10180015" cy="16002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Use Omega’s native orchestration and persistent memory. PLN and numerical scoring are not required.</a:t>
            </a:r>
            <a:endParaRPr b="0" i="0" sz="1700" u="none" cap="none" strike="noStrike">
              <a:solidFill>
                <a:schemeClr val="dk1"/>
              </a:solidFill>
              <a:latin typeface="Arial"/>
              <a:ea typeface="Arial"/>
              <a:cs typeface="Arial"/>
              <a:sym typeface="Arial"/>
            </a:endParaRPr>
          </a:p>
        </p:txBody>
      </p:sp>
      <p:sp>
        <p:nvSpPr>
          <p:cNvPr id="241" name="Google Shape;241;p9"/>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0"/>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01 · DEMO AND CHECKLIST</a:t>
            </a:r>
            <a:endParaRPr b="0" i="0" sz="950" u="none" cap="none" strike="noStrike">
              <a:solidFill>
                <a:schemeClr val="dk1"/>
              </a:solidFill>
              <a:latin typeface="Arial"/>
              <a:ea typeface="Arial"/>
              <a:cs typeface="Arial"/>
              <a:sym typeface="Arial"/>
            </a:endParaRPr>
          </a:p>
        </p:txBody>
      </p:sp>
      <p:sp>
        <p:nvSpPr>
          <p:cNvPr id="248" name="Google Shape;248;p10"/>
          <p:cNvSpPr txBox="1"/>
          <p:nvPr/>
        </p:nvSpPr>
        <p:spPr>
          <a:xfrm>
            <a:off x="640080" y="914400"/>
            <a:ext cx="10911535"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Track 01. </a:t>
            </a:r>
            <a:r>
              <a:rPr b="1" i="0" lang="en-US" sz="3200" u="none" cap="none" strike="noStrike">
                <a:solidFill>
                  <a:srgbClr val="F2596B"/>
                </a:solidFill>
                <a:latin typeface="Arial"/>
                <a:ea typeface="Arial"/>
                <a:cs typeface="Arial"/>
                <a:sym typeface="Arial"/>
              </a:rPr>
              <a:t>S</a:t>
            </a:r>
            <a:r>
              <a:rPr b="1" i="0" lang="en-US" sz="3200" u="none" cap="none" strike="noStrike">
                <a:solidFill>
                  <a:srgbClr val="F36C68"/>
                </a:solidFill>
                <a:latin typeface="Arial"/>
                <a:ea typeface="Arial"/>
                <a:cs typeface="Arial"/>
                <a:sym typeface="Arial"/>
              </a:rPr>
              <a:t>h</a:t>
            </a:r>
            <a:r>
              <a:rPr b="1" i="0" lang="en-US" sz="3200" u="none" cap="none" strike="noStrike">
                <a:solidFill>
                  <a:srgbClr val="F47F65"/>
                </a:solidFill>
                <a:latin typeface="Arial"/>
                <a:ea typeface="Arial"/>
                <a:cs typeface="Arial"/>
                <a:sym typeface="Arial"/>
              </a:rPr>
              <a:t>o</a:t>
            </a:r>
            <a:r>
              <a:rPr b="1" i="0" lang="en-US" sz="3200" u="none" cap="none" strike="noStrike">
                <a:solidFill>
                  <a:srgbClr val="F59262"/>
                </a:solidFill>
                <a:latin typeface="Arial"/>
                <a:ea typeface="Arial"/>
                <a:cs typeface="Arial"/>
                <a:sym typeface="Arial"/>
              </a:rPr>
              <a:t>w</a:t>
            </a:r>
            <a:r>
              <a:rPr b="1" i="0" lang="en-US" sz="3200" u="none" cap="none" strike="noStrike">
                <a:solidFill>
                  <a:srgbClr val="FFFFFF"/>
                </a:solidFill>
                <a:latin typeface="Arial"/>
                <a:ea typeface="Arial"/>
                <a:cs typeface="Arial"/>
                <a:sym typeface="Arial"/>
              </a:rPr>
              <a:t> </a:t>
            </a:r>
            <a:r>
              <a:rPr b="1" i="0" lang="en-US" sz="3200" u="none" cap="none" strike="noStrike">
                <a:solidFill>
                  <a:srgbClr val="F6A55F"/>
                </a:solidFill>
                <a:latin typeface="Arial"/>
                <a:ea typeface="Arial"/>
                <a:cs typeface="Arial"/>
                <a:sym typeface="Arial"/>
              </a:rPr>
              <a:t>i</a:t>
            </a:r>
            <a:r>
              <a:rPr b="1" i="0" lang="en-US" sz="3200" u="none" cap="none" strike="noStrike">
                <a:solidFill>
                  <a:srgbClr val="F7B85C"/>
                </a:solidFill>
                <a:latin typeface="Arial"/>
                <a:ea typeface="Arial"/>
                <a:cs typeface="Arial"/>
                <a:sym typeface="Arial"/>
              </a:rPr>
              <a:t>t</a:t>
            </a:r>
            <a:r>
              <a:rPr b="1" i="0" lang="en-US" sz="3200" u="none" cap="none" strike="noStrike">
                <a:solidFill>
                  <a:srgbClr val="FFFFFF"/>
                </a:solidFill>
                <a:latin typeface="Arial"/>
                <a:ea typeface="Arial"/>
                <a:cs typeface="Arial"/>
                <a:sym typeface="Arial"/>
              </a:rPr>
              <a:t> </a:t>
            </a:r>
            <a:r>
              <a:rPr b="1" i="0" lang="en-US" sz="3200" u="none" cap="none" strike="noStrike">
                <a:solidFill>
                  <a:srgbClr val="D2BE68"/>
                </a:solidFill>
                <a:latin typeface="Arial"/>
                <a:ea typeface="Arial"/>
                <a:cs typeface="Arial"/>
                <a:sym typeface="Arial"/>
              </a:rPr>
              <a:t>i</a:t>
            </a:r>
            <a:r>
              <a:rPr b="1" i="0" lang="en-US" sz="3200" u="none" cap="none" strike="noStrike">
                <a:solidFill>
                  <a:srgbClr val="ADC474"/>
                </a:solidFill>
                <a:latin typeface="Arial"/>
                <a:ea typeface="Arial"/>
                <a:cs typeface="Arial"/>
                <a:sym typeface="Arial"/>
              </a:rPr>
              <a:t>n</a:t>
            </a:r>
            <a:r>
              <a:rPr b="1" i="0" lang="en-US" sz="3200" u="none" cap="none" strike="noStrike">
                <a:solidFill>
                  <a:srgbClr val="FFFFFF"/>
                </a:solidFill>
                <a:latin typeface="Arial"/>
                <a:ea typeface="Arial"/>
                <a:cs typeface="Arial"/>
                <a:sym typeface="Arial"/>
              </a:rPr>
              <a:t> </a:t>
            </a:r>
            <a:r>
              <a:rPr b="1" i="0" lang="en-US" sz="3200" u="none" cap="none" strike="noStrike">
                <a:solidFill>
                  <a:srgbClr val="88C980"/>
                </a:solidFill>
                <a:latin typeface="Arial"/>
                <a:ea typeface="Arial"/>
                <a:cs typeface="Arial"/>
                <a:sym typeface="Arial"/>
              </a:rPr>
              <a:t>t</a:t>
            </a:r>
            <a:r>
              <a:rPr b="1" i="0" lang="en-US" sz="3200" u="none" cap="none" strike="noStrike">
                <a:solidFill>
                  <a:srgbClr val="63CF8C"/>
                </a:solidFill>
                <a:latin typeface="Arial"/>
                <a:ea typeface="Arial"/>
                <a:cs typeface="Arial"/>
                <a:sym typeface="Arial"/>
              </a:rPr>
              <a:t>h</a:t>
            </a:r>
            <a:r>
              <a:rPr b="1" i="0" lang="en-US" sz="3200" u="none" cap="none" strike="noStrike">
                <a:solidFill>
                  <a:srgbClr val="3ED598"/>
                </a:solidFill>
                <a:latin typeface="Arial"/>
                <a:ea typeface="Arial"/>
                <a:cs typeface="Arial"/>
                <a:sym typeface="Arial"/>
              </a:rPr>
              <a:t>r</a:t>
            </a:r>
            <a:r>
              <a:rPr b="1" i="0" lang="en-US" sz="3200" u="none" cap="none" strike="noStrike">
                <a:solidFill>
                  <a:srgbClr val="41C7AA"/>
                </a:solidFill>
                <a:latin typeface="Arial"/>
                <a:ea typeface="Arial"/>
                <a:cs typeface="Arial"/>
                <a:sym typeface="Arial"/>
              </a:rPr>
              <a:t>e</a:t>
            </a:r>
            <a:r>
              <a:rPr b="1" i="0" lang="en-US" sz="3200" u="none" cap="none" strike="noStrike">
                <a:solidFill>
                  <a:srgbClr val="45B8BB"/>
                </a:solidFill>
                <a:latin typeface="Arial"/>
                <a:ea typeface="Arial"/>
                <a:cs typeface="Arial"/>
                <a:sym typeface="Arial"/>
              </a:rPr>
              <a:t>e</a:t>
            </a:r>
            <a:r>
              <a:rPr b="1" i="0" lang="en-US" sz="3200" u="none" cap="none" strike="noStrike">
                <a:solidFill>
                  <a:srgbClr val="FFFFFF"/>
                </a:solidFill>
                <a:latin typeface="Arial"/>
                <a:ea typeface="Arial"/>
                <a:cs typeface="Arial"/>
                <a:sym typeface="Arial"/>
              </a:rPr>
              <a:t> </a:t>
            </a:r>
            <a:r>
              <a:rPr b="1" i="0" lang="en-US" sz="3200" u="none" cap="none" strike="noStrike">
                <a:solidFill>
                  <a:srgbClr val="48AACD"/>
                </a:solidFill>
                <a:latin typeface="Arial"/>
                <a:ea typeface="Arial"/>
                <a:cs typeface="Arial"/>
                <a:sym typeface="Arial"/>
              </a:rPr>
              <a:t>m</a:t>
            </a:r>
            <a:r>
              <a:rPr b="1" i="0" lang="en-US" sz="3200" u="none" cap="none" strike="noStrike">
                <a:solidFill>
                  <a:srgbClr val="4C9BDE"/>
                </a:solidFill>
                <a:latin typeface="Arial"/>
                <a:ea typeface="Arial"/>
                <a:cs typeface="Arial"/>
                <a:sym typeface="Arial"/>
              </a:rPr>
              <a:t>i</a:t>
            </a:r>
            <a:r>
              <a:rPr b="1" i="0" lang="en-US" sz="3200" u="none" cap="none" strike="noStrike">
                <a:solidFill>
                  <a:srgbClr val="4F8DF0"/>
                </a:solidFill>
                <a:latin typeface="Arial"/>
                <a:ea typeface="Arial"/>
                <a:cs typeface="Arial"/>
                <a:sym typeface="Arial"/>
              </a:rPr>
              <a:t>n</a:t>
            </a:r>
            <a:r>
              <a:rPr b="1" i="0" lang="en-US" sz="3200" u="none" cap="none" strike="noStrike">
                <a:solidFill>
                  <a:srgbClr val="6086F0"/>
                </a:solidFill>
                <a:latin typeface="Arial"/>
                <a:ea typeface="Arial"/>
                <a:cs typeface="Arial"/>
                <a:sym typeface="Arial"/>
              </a:rPr>
              <a:t>u</a:t>
            </a:r>
            <a:r>
              <a:rPr b="1" i="0" lang="en-US" sz="3200" u="none" cap="none" strike="noStrike">
                <a:solidFill>
                  <a:srgbClr val="7180F0"/>
                </a:solidFill>
                <a:latin typeface="Arial"/>
                <a:ea typeface="Arial"/>
                <a:cs typeface="Arial"/>
                <a:sym typeface="Arial"/>
              </a:rPr>
              <a:t>t</a:t>
            </a:r>
            <a:r>
              <a:rPr b="1" i="0" lang="en-US" sz="3200" u="none" cap="none" strike="noStrike">
                <a:solidFill>
                  <a:srgbClr val="8379F0"/>
                </a:solidFill>
                <a:latin typeface="Arial"/>
                <a:ea typeface="Arial"/>
                <a:cs typeface="Arial"/>
                <a:sym typeface="Arial"/>
              </a:rPr>
              <a:t>e</a:t>
            </a:r>
            <a:r>
              <a:rPr b="1" i="0" lang="en-US" sz="3200" u="none" cap="none" strike="noStrike">
                <a:solidFill>
                  <a:srgbClr val="9473F0"/>
                </a:solidFill>
                <a:latin typeface="Arial"/>
                <a:ea typeface="Arial"/>
                <a:cs typeface="Arial"/>
                <a:sym typeface="Arial"/>
              </a:rPr>
              <a:t>s</a:t>
            </a:r>
            <a:r>
              <a:rPr b="1" i="0" lang="en-US" sz="3200" u="none" cap="none" strike="noStrike">
                <a:solidFill>
                  <a:srgbClr val="A56CF0"/>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pic>
        <p:nvPicPr>
          <p:cNvPr descr="Rejuve.bio" id="249" name="Google Shape;249;p10">
            <a:hlinkClick r:id="rId3"/>
          </p:cNvPr>
          <p:cNvPicPr preferRelativeResize="0"/>
          <p:nvPr/>
        </p:nvPicPr>
        <p:blipFill rotWithShape="1">
          <a:blip r:embed="rId4">
            <a:alphaModFix/>
          </a:blip>
          <a:srcRect b="0" l="0" r="0" t="0"/>
          <a:stretch/>
        </p:blipFill>
        <p:spPr>
          <a:xfrm>
            <a:off x="10424617" y="1063447"/>
            <a:ext cx="1126998" cy="341986"/>
          </a:xfrm>
          <a:prstGeom prst="rect">
            <a:avLst/>
          </a:prstGeom>
          <a:noFill/>
          <a:ln>
            <a:noFill/>
          </a:ln>
        </p:spPr>
      </p:pic>
      <p:sp>
        <p:nvSpPr>
          <p:cNvPr id="250" name="Google Shape;250;p10"/>
          <p:cNvSpPr txBox="1"/>
          <p:nvPr/>
        </p:nvSpPr>
        <p:spPr>
          <a:xfrm>
            <a:off x="640080" y="1783080"/>
            <a:ext cx="52578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DEMO SCRIPT (3 MINUTES)</a:t>
            </a:r>
            <a:endParaRPr b="0" i="0" sz="950" u="none" cap="none" strike="noStrike">
              <a:solidFill>
                <a:schemeClr val="dk1"/>
              </a:solidFill>
              <a:latin typeface="Arial"/>
              <a:ea typeface="Arial"/>
              <a:cs typeface="Arial"/>
              <a:sym typeface="Arial"/>
            </a:endParaRPr>
          </a:p>
        </p:txBody>
      </p:sp>
      <p:cxnSp>
        <p:nvCxnSpPr>
          <p:cNvPr id="251" name="Google Shape;251;p10"/>
          <p:cNvCxnSpPr/>
          <p:nvPr/>
        </p:nvCxnSpPr>
        <p:spPr>
          <a:xfrm>
            <a:off x="640080" y="2103120"/>
            <a:ext cx="5257800" cy="0"/>
          </a:xfrm>
          <a:prstGeom prst="straightConnector1">
            <a:avLst/>
          </a:prstGeom>
          <a:noFill/>
          <a:ln cap="flat" cmpd="sng" w="9525">
            <a:solidFill>
              <a:srgbClr val="5A5A5A"/>
            </a:solidFill>
            <a:prstDash val="solid"/>
            <a:round/>
            <a:headEnd len="sm" w="sm" type="none"/>
            <a:tailEnd len="sm" w="sm" type="none"/>
          </a:ln>
        </p:spPr>
      </p:cxnSp>
      <p:sp>
        <p:nvSpPr>
          <p:cNvPr id="252" name="Google Shape;252;p10"/>
          <p:cNvSpPr txBox="1"/>
          <p:nvPr/>
        </p:nvSpPr>
        <p:spPr>
          <a:xfrm>
            <a:off x="640080" y="2157984"/>
            <a:ext cx="36576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D598"/>
              </a:buClr>
              <a:buSzPts val="1500"/>
              <a:buFont typeface="Arial"/>
              <a:buNone/>
            </a:pPr>
            <a:r>
              <a:rPr b="1" i="0" lang="en-US" sz="1500" u="none" cap="none" strike="noStrike">
                <a:solidFill>
                  <a:srgbClr val="3ED598"/>
                </a:solidFill>
                <a:latin typeface="Arial"/>
                <a:ea typeface="Arial"/>
                <a:cs typeface="Arial"/>
                <a:sym typeface="Arial"/>
              </a:rPr>
              <a:t>1</a:t>
            </a:r>
            <a:endParaRPr b="0" i="0" sz="1500" u="none" cap="none" strike="noStrike">
              <a:solidFill>
                <a:schemeClr val="dk1"/>
              </a:solidFill>
              <a:latin typeface="Arial"/>
              <a:ea typeface="Arial"/>
              <a:cs typeface="Arial"/>
              <a:sym typeface="Arial"/>
            </a:endParaRPr>
          </a:p>
        </p:txBody>
      </p:sp>
      <p:sp>
        <p:nvSpPr>
          <p:cNvPr id="253" name="Google Shape;253;p10"/>
          <p:cNvSpPr txBox="1"/>
          <p:nvPr/>
        </p:nvSpPr>
        <p:spPr>
          <a:xfrm>
            <a:off x="1051560" y="2148840"/>
            <a:ext cx="4846320" cy="56692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Ask the focused research question.</a:t>
            </a:r>
            <a:endParaRPr b="0" i="0" sz="1200" u="none" cap="none" strike="noStrike">
              <a:solidFill>
                <a:schemeClr val="dk1"/>
              </a:solidFill>
              <a:latin typeface="Arial"/>
              <a:ea typeface="Arial"/>
              <a:cs typeface="Arial"/>
              <a:sym typeface="Arial"/>
            </a:endParaRPr>
          </a:p>
        </p:txBody>
      </p:sp>
      <p:cxnSp>
        <p:nvCxnSpPr>
          <p:cNvPr id="254" name="Google Shape;254;p10"/>
          <p:cNvCxnSpPr/>
          <p:nvPr/>
        </p:nvCxnSpPr>
        <p:spPr>
          <a:xfrm>
            <a:off x="640080" y="2743200"/>
            <a:ext cx="5257800" cy="0"/>
          </a:xfrm>
          <a:prstGeom prst="straightConnector1">
            <a:avLst/>
          </a:prstGeom>
          <a:noFill/>
          <a:ln cap="flat" cmpd="sng" w="9525">
            <a:solidFill>
              <a:srgbClr val="262626"/>
            </a:solidFill>
            <a:prstDash val="solid"/>
            <a:round/>
            <a:headEnd len="sm" w="sm" type="none"/>
            <a:tailEnd len="sm" w="sm" type="none"/>
          </a:ln>
        </p:spPr>
      </p:cxnSp>
      <p:sp>
        <p:nvSpPr>
          <p:cNvPr id="255" name="Google Shape;255;p10"/>
          <p:cNvSpPr txBox="1"/>
          <p:nvPr/>
        </p:nvSpPr>
        <p:spPr>
          <a:xfrm>
            <a:off x="640080" y="2798064"/>
            <a:ext cx="36576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D598"/>
              </a:buClr>
              <a:buSzPts val="1500"/>
              <a:buFont typeface="Arial"/>
              <a:buNone/>
            </a:pPr>
            <a:r>
              <a:rPr b="1" i="0" lang="en-US" sz="1500" u="none" cap="none" strike="noStrike">
                <a:solidFill>
                  <a:srgbClr val="3ED598"/>
                </a:solidFill>
                <a:latin typeface="Arial"/>
                <a:ea typeface="Arial"/>
                <a:cs typeface="Arial"/>
                <a:sym typeface="Arial"/>
              </a:rPr>
              <a:t>2</a:t>
            </a:r>
            <a:endParaRPr b="0" i="0" sz="1500" u="none" cap="none" strike="noStrike">
              <a:solidFill>
                <a:schemeClr val="dk1"/>
              </a:solidFill>
              <a:latin typeface="Arial"/>
              <a:ea typeface="Arial"/>
              <a:cs typeface="Arial"/>
              <a:sym typeface="Arial"/>
            </a:endParaRPr>
          </a:p>
        </p:txBody>
      </p:sp>
      <p:sp>
        <p:nvSpPr>
          <p:cNvPr id="256" name="Google Shape;256;p10"/>
          <p:cNvSpPr txBox="1"/>
          <p:nvPr/>
        </p:nvSpPr>
        <p:spPr>
          <a:xfrm>
            <a:off x="1051560" y="2788920"/>
            <a:ext cx="4846320" cy="56692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Show the source-linked findings, explanation, uncertainty and tool execution.</a:t>
            </a:r>
            <a:endParaRPr b="0" i="0" sz="1200" u="none" cap="none" strike="noStrike">
              <a:solidFill>
                <a:schemeClr val="dk1"/>
              </a:solidFill>
              <a:latin typeface="Arial"/>
              <a:ea typeface="Arial"/>
              <a:cs typeface="Arial"/>
              <a:sym typeface="Arial"/>
            </a:endParaRPr>
          </a:p>
        </p:txBody>
      </p:sp>
      <p:cxnSp>
        <p:nvCxnSpPr>
          <p:cNvPr id="257" name="Google Shape;257;p10"/>
          <p:cNvCxnSpPr/>
          <p:nvPr/>
        </p:nvCxnSpPr>
        <p:spPr>
          <a:xfrm>
            <a:off x="640080" y="3383280"/>
            <a:ext cx="5257800" cy="0"/>
          </a:xfrm>
          <a:prstGeom prst="straightConnector1">
            <a:avLst/>
          </a:prstGeom>
          <a:noFill/>
          <a:ln cap="flat" cmpd="sng" w="9525">
            <a:solidFill>
              <a:srgbClr val="262626"/>
            </a:solidFill>
            <a:prstDash val="solid"/>
            <a:round/>
            <a:headEnd len="sm" w="sm" type="none"/>
            <a:tailEnd len="sm" w="sm" type="none"/>
          </a:ln>
        </p:spPr>
      </p:cxnSp>
      <p:sp>
        <p:nvSpPr>
          <p:cNvPr id="258" name="Google Shape;258;p10"/>
          <p:cNvSpPr txBox="1"/>
          <p:nvPr/>
        </p:nvSpPr>
        <p:spPr>
          <a:xfrm>
            <a:off x="640080" y="3438144"/>
            <a:ext cx="36576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D598"/>
              </a:buClr>
              <a:buSzPts val="1500"/>
              <a:buFont typeface="Arial"/>
              <a:buNone/>
            </a:pPr>
            <a:r>
              <a:rPr b="1" i="0" lang="en-US" sz="1500" u="none" cap="none" strike="noStrike">
                <a:solidFill>
                  <a:srgbClr val="3ED598"/>
                </a:solidFill>
                <a:latin typeface="Arial"/>
                <a:ea typeface="Arial"/>
                <a:cs typeface="Arial"/>
                <a:sym typeface="Arial"/>
              </a:rPr>
              <a:t>3</a:t>
            </a:r>
            <a:endParaRPr b="0" i="0" sz="1500" u="none" cap="none" strike="noStrike">
              <a:solidFill>
                <a:schemeClr val="dk1"/>
              </a:solidFill>
              <a:latin typeface="Arial"/>
              <a:ea typeface="Arial"/>
              <a:cs typeface="Arial"/>
              <a:sym typeface="Arial"/>
            </a:endParaRPr>
          </a:p>
        </p:txBody>
      </p:sp>
      <p:sp>
        <p:nvSpPr>
          <p:cNvPr id="259" name="Google Shape;259;p10"/>
          <p:cNvSpPr txBox="1"/>
          <p:nvPr/>
        </p:nvSpPr>
        <p:spPr>
          <a:xfrm>
            <a:off x="1051560" y="3429000"/>
            <a:ext cx="4846320" cy="56692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Start a new session, ask a follow-up and demonstrate memory reuse.</a:t>
            </a:r>
            <a:endParaRPr b="0" i="0" sz="1200" u="none" cap="none" strike="noStrike">
              <a:solidFill>
                <a:schemeClr val="dk1"/>
              </a:solidFill>
              <a:latin typeface="Arial"/>
              <a:ea typeface="Arial"/>
              <a:cs typeface="Arial"/>
              <a:sym typeface="Arial"/>
            </a:endParaRPr>
          </a:p>
        </p:txBody>
      </p:sp>
      <p:cxnSp>
        <p:nvCxnSpPr>
          <p:cNvPr id="260" name="Google Shape;260;p10"/>
          <p:cNvCxnSpPr/>
          <p:nvPr/>
        </p:nvCxnSpPr>
        <p:spPr>
          <a:xfrm>
            <a:off x="640080" y="4023360"/>
            <a:ext cx="5257800" cy="0"/>
          </a:xfrm>
          <a:prstGeom prst="straightConnector1">
            <a:avLst/>
          </a:prstGeom>
          <a:noFill/>
          <a:ln cap="flat" cmpd="sng" w="9525">
            <a:solidFill>
              <a:srgbClr val="262626"/>
            </a:solidFill>
            <a:prstDash val="solid"/>
            <a:round/>
            <a:headEnd len="sm" w="sm" type="none"/>
            <a:tailEnd len="sm" w="sm" type="none"/>
          </a:ln>
        </p:spPr>
      </p:cxnSp>
      <p:sp>
        <p:nvSpPr>
          <p:cNvPr id="261" name="Google Shape;261;p10"/>
          <p:cNvSpPr txBox="1"/>
          <p:nvPr/>
        </p:nvSpPr>
        <p:spPr>
          <a:xfrm>
            <a:off x="640080" y="4078224"/>
            <a:ext cx="36576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D598"/>
              </a:buClr>
              <a:buSzPts val="1500"/>
              <a:buFont typeface="Arial"/>
              <a:buNone/>
            </a:pPr>
            <a:r>
              <a:rPr b="1" i="0" lang="en-US" sz="1500" u="none" cap="none" strike="noStrike">
                <a:solidFill>
                  <a:srgbClr val="3ED598"/>
                </a:solidFill>
                <a:latin typeface="Arial"/>
                <a:ea typeface="Arial"/>
                <a:cs typeface="Arial"/>
                <a:sym typeface="Arial"/>
              </a:rPr>
              <a:t>4</a:t>
            </a:r>
            <a:endParaRPr b="0" i="0" sz="1500" u="none" cap="none" strike="noStrike">
              <a:solidFill>
                <a:schemeClr val="dk1"/>
              </a:solidFill>
              <a:latin typeface="Arial"/>
              <a:ea typeface="Arial"/>
              <a:cs typeface="Arial"/>
              <a:sym typeface="Arial"/>
            </a:endParaRPr>
          </a:p>
        </p:txBody>
      </p:sp>
      <p:sp>
        <p:nvSpPr>
          <p:cNvPr id="262" name="Google Shape;262;p10"/>
          <p:cNvSpPr txBox="1"/>
          <p:nvPr/>
        </p:nvSpPr>
        <p:spPr>
          <a:xfrm>
            <a:off x="1051560" y="4069080"/>
            <a:ext cx="4846320" cy="56692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Show conflicting findings and an example where evidence is insufficient.</a:t>
            </a:r>
            <a:endParaRPr b="0" i="0" sz="1200" u="none" cap="none" strike="noStrike">
              <a:solidFill>
                <a:schemeClr val="dk1"/>
              </a:solidFill>
              <a:latin typeface="Arial"/>
              <a:ea typeface="Arial"/>
              <a:cs typeface="Arial"/>
              <a:sym typeface="Arial"/>
            </a:endParaRPr>
          </a:p>
        </p:txBody>
      </p:sp>
      <p:sp>
        <p:nvSpPr>
          <p:cNvPr id="263" name="Google Shape;263;p10"/>
          <p:cNvSpPr txBox="1"/>
          <p:nvPr/>
        </p:nvSpPr>
        <p:spPr>
          <a:xfrm>
            <a:off x="6355080" y="1783080"/>
            <a:ext cx="5196535"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SHOWCASE CHECKLIST</a:t>
            </a:r>
            <a:endParaRPr b="0" i="0" sz="950" u="none" cap="none" strike="noStrike">
              <a:solidFill>
                <a:schemeClr val="dk1"/>
              </a:solidFill>
              <a:latin typeface="Arial"/>
              <a:ea typeface="Arial"/>
              <a:cs typeface="Arial"/>
              <a:sym typeface="Arial"/>
            </a:endParaRPr>
          </a:p>
        </p:txBody>
      </p:sp>
      <p:cxnSp>
        <p:nvCxnSpPr>
          <p:cNvPr id="264" name="Google Shape;264;p10"/>
          <p:cNvCxnSpPr/>
          <p:nvPr/>
        </p:nvCxnSpPr>
        <p:spPr>
          <a:xfrm>
            <a:off x="6355080" y="2103120"/>
            <a:ext cx="5196535" cy="0"/>
          </a:xfrm>
          <a:prstGeom prst="straightConnector1">
            <a:avLst/>
          </a:prstGeom>
          <a:noFill/>
          <a:ln cap="flat" cmpd="sng" w="9525">
            <a:solidFill>
              <a:srgbClr val="5A5A5A"/>
            </a:solidFill>
            <a:prstDash val="solid"/>
            <a:round/>
            <a:headEnd len="sm" w="sm" type="none"/>
            <a:tailEnd len="sm" w="sm" type="none"/>
          </a:ln>
        </p:spPr>
      </p:cxnSp>
      <p:sp>
        <p:nvSpPr>
          <p:cNvPr id="265" name="Google Shape;265;p10"/>
          <p:cNvSpPr/>
          <p:nvPr/>
        </p:nvSpPr>
        <p:spPr>
          <a:xfrm>
            <a:off x="6355080" y="2221992"/>
            <a:ext cx="164592" cy="164592"/>
          </a:xfrm>
          <a:prstGeom prst="rect">
            <a:avLst/>
          </a:prstGeom>
          <a:solidFill>
            <a:srgbClr val="0A0A0A"/>
          </a:solidFill>
          <a:ln cap="flat" cmpd="sng" w="12700">
            <a:solidFill>
              <a:srgbClr val="3ED5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txBox="1"/>
          <p:nvPr/>
        </p:nvSpPr>
        <p:spPr>
          <a:xfrm>
            <a:off x="6675120" y="2139696"/>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Every substantive research claim links to supporting evidence</a:t>
            </a:r>
            <a:endParaRPr b="0" i="0" sz="1150" u="none" cap="none" strike="noStrike">
              <a:solidFill>
                <a:schemeClr val="dk1"/>
              </a:solidFill>
              <a:latin typeface="Arial"/>
              <a:ea typeface="Arial"/>
              <a:cs typeface="Arial"/>
              <a:sym typeface="Arial"/>
            </a:endParaRPr>
          </a:p>
        </p:txBody>
      </p:sp>
      <p:cxnSp>
        <p:nvCxnSpPr>
          <p:cNvPr id="267" name="Google Shape;267;p10"/>
          <p:cNvCxnSpPr/>
          <p:nvPr/>
        </p:nvCxnSpPr>
        <p:spPr>
          <a:xfrm>
            <a:off x="6355080" y="2532888"/>
            <a:ext cx="5196535" cy="0"/>
          </a:xfrm>
          <a:prstGeom prst="straightConnector1">
            <a:avLst/>
          </a:prstGeom>
          <a:noFill/>
          <a:ln cap="flat" cmpd="sng" w="9525">
            <a:solidFill>
              <a:srgbClr val="262626"/>
            </a:solidFill>
            <a:prstDash val="solid"/>
            <a:round/>
            <a:headEnd len="sm" w="sm" type="none"/>
            <a:tailEnd len="sm" w="sm" type="none"/>
          </a:ln>
        </p:spPr>
      </p:cxnSp>
      <p:sp>
        <p:nvSpPr>
          <p:cNvPr id="268" name="Google Shape;268;p10"/>
          <p:cNvSpPr/>
          <p:nvPr/>
        </p:nvSpPr>
        <p:spPr>
          <a:xfrm>
            <a:off x="6355080" y="2651760"/>
            <a:ext cx="164592" cy="164592"/>
          </a:xfrm>
          <a:prstGeom prst="rect">
            <a:avLst/>
          </a:prstGeom>
          <a:solidFill>
            <a:srgbClr val="0A0A0A"/>
          </a:solidFill>
          <a:ln cap="flat" cmpd="sng" w="12700">
            <a:solidFill>
              <a:srgbClr val="3ED5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0"/>
          <p:cNvSpPr txBox="1"/>
          <p:nvPr/>
        </p:nvSpPr>
        <p:spPr>
          <a:xfrm>
            <a:off x="6675120" y="2569464"/>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Scientific terminology is accurate, with brief explanations where needed</a:t>
            </a:r>
            <a:endParaRPr b="0" i="0" sz="1150" u="none" cap="none" strike="noStrike">
              <a:solidFill>
                <a:schemeClr val="dk1"/>
              </a:solidFill>
              <a:latin typeface="Arial"/>
              <a:ea typeface="Arial"/>
              <a:cs typeface="Arial"/>
              <a:sym typeface="Arial"/>
            </a:endParaRPr>
          </a:p>
        </p:txBody>
      </p:sp>
      <p:cxnSp>
        <p:nvCxnSpPr>
          <p:cNvPr id="270" name="Google Shape;270;p10"/>
          <p:cNvCxnSpPr/>
          <p:nvPr/>
        </p:nvCxnSpPr>
        <p:spPr>
          <a:xfrm>
            <a:off x="6355080" y="2962656"/>
            <a:ext cx="5196535" cy="0"/>
          </a:xfrm>
          <a:prstGeom prst="straightConnector1">
            <a:avLst/>
          </a:prstGeom>
          <a:noFill/>
          <a:ln cap="flat" cmpd="sng" w="9525">
            <a:solidFill>
              <a:srgbClr val="262626"/>
            </a:solidFill>
            <a:prstDash val="solid"/>
            <a:round/>
            <a:headEnd len="sm" w="sm" type="none"/>
            <a:tailEnd len="sm" w="sm" type="none"/>
          </a:ln>
        </p:spPr>
      </p:cxnSp>
      <p:sp>
        <p:nvSpPr>
          <p:cNvPr id="271" name="Google Shape;271;p10"/>
          <p:cNvSpPr/>
          <p:nvPr/>
        </p:nvSpPr>
        <p:spPr>
          <a:xfrm>
            <a:off x="6355080" y="3081528"/>
            <a:ext cx="164592" cy="164592"/>
          </a:xfrm>
          <a:prstGeom prst="rect">
            <a:avLst/>
          </a:prstGeom>
          <a:solidFill>
            <a:srgbClr val="0A0A0A"/>
          </a:solidFill>
          <a:ln cap="flat" cmpd="sng" w="12700">
            <a:solidFill>
              <a:srgbClr val="3ED5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0"/>
          <p:cNvSpPr txBox="1"/>
          <p:nvPr/>
        </p:nvSpPr>
        <p:spPr>
          <a:xfrm>
            <a:off x="6675120" y="2999232"/>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Measured findings and proposed explanations are distinguished</a:t>
            </a:r>
            <a:endParaRPr b="0" i="0" sz="1150" u="none" cap="none" strike="noStrike">
              <a:solidFill>
                <a:schemeClr val="dk1"/>
              </a:solidFill>
              <a:latin typeface="Arial"/>
              <a:ea typeface="Arial"/>
              <a:cs typeface="Arial"/>
              <a:sym typeface="Arial"/>
            </a:endParaRPr>
          </a:p>
        </p:txBody>
      </p:sp>
      <p:cxnSp>
        <p:nvCxnSpPr>
          <p:cNvPr id="273" name="Google Shape;273;p10"/>
          <p:cNvCxnSpPr/>
          <p:nvPr/>
        </p:nvCxnSpPr>
        <p:spPr>
          <a:xfrm>
            <a:off x="6355080" y="3392424"/>
            <a:ext cx="5196535" cy="0"/>
          </a:xfrm>
          <a:prstGeom prst="straightConnector1">
            <a:avLst/>
          </a:prstGeom>
          <a:noFill/>
          <a:ln cap="flat" cmpd="sng" w="9525">
            <a:solidFill>
              <a:srgbClr val="262626"/>
            </a:solidFill>
            <a:prstDash val="solid"/>
            <a:round/>
            <a:headEnd len="sm" w="sm" type="none"/>
            <a:tailEnd len="sm" w="sm" type="none"/>
          </a:ln>
        </p:spPr>
      </p:cxnSp>
      <p:sp>
        <p:nvSpPr>
          <p:cNvPr id="274" name="Google Shape;274;p10"/>
          <p:cNvSpPr/>
          <p:nvPr/>
        </p:nvSpPr>
        <p:spPr>
          <a:xfrm>
            <a:off x="6355080" y="3511296"/>
            <a:ext cx="164592" cy="164592"/>
          </a:xfrm>
          <a:prstGeom prst="rect">
            <a:avLst/>
          </a:prstGeom>
          <a:solidFill>
            <a:srgbClr val="0A0A0A"/>
          </a:solidFill>
          <a:ln cap="flat" cmpd="sng" w="12700">
            <a:solidFill>
              <a:srgbClr val="3ED5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txBox="1"/>
          <p:nvPr/>
        </p:nvSpPr>
        <p:spPr>
          <a:xfrm>
            <a:off x="6675120" y="3429000"/>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Conflicting and missing evidence are handled explicitly</a:t>
            </a:r>
            <a:endParaRPr b="0" i="0" sz="1150" u="none" cap="none" strike="noStrike">
              <a:solidFill>
                <a:schemeClr val="dk1"/>
              </a:solidFill>
              <a:latin typeface="Arial"/>
              <a:ea typeface="Arial"/>
              <a:cs typeface="Arial"/>
              <a:sym typeface="Arial"/>
            </a:endParaRPr>
          </a:p>
        </p:txBody>
      </p:sp>
      <p:cxnSp>
        <p:nvCxnSpPr>
          <p:cNvPr id="276" name="Google Shape;276;p10"/>
          <p:cNvCxnSpPr/>
          <p:nvPr/>
        </p:nvCxnSpPr>
        <p:spPr>
          <a:xfrm>
            <a:off x="6355080" y="3822192"/>
            <a:ext cx="5196535" cy="0"/>
          </a:xfrm>
          <a:prstGeom prst="straightConnector1">
            <a:avLst/>
          </a:prstGeom>
          <a:noFill/>
          <a:ln cap="flat" cmpd="sng" w="9525">
            <a:solidFill>
              <a:srgbClr val="262626"/>
            </a:solidFill>
            <a:prstDash val="solid"/>
            <a:round/>
            <a:headEnd len="sm" w="sm" type="none"/>
            <a:tailEnd len="sm" w="sm" type="none"/>
          </a:ln>
        </p:spPr>
      </p:cxnSp>
      <p:sp>
        <p:nvSpPr>
          <p:cNvPr id="277" name="Google Shape;277;p10"/>
          <p:cNvSpPr/>
          <p:nvPr/>
        </p:nvSpPr>
        <p:spPr>
          <a:xfrm>
            <a:off x="6355080" y="3941064"/>
            <a:ext cx="164592" cy="164592"/>
          </a:xfrm>
          <a:prstGeom prst="rect">
            <a:avLst/>
          </a:prstGeom>
          <a:solidFill>
            <a:srgbClr val="0A0A0A"/>
          </a:solidFill>
          <a:ln cap="flat" cmpd="sng" w="12700">
            <a:solidFill>
              <a:srgbClr val="3ED5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txBox="1"/>
          <p:nvPr/>
        </p:nvSpPr>
        <p:spPr>
          <a:xfrm>
            <a:off x="6675120" y="3858768"/>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Omega’s decision loop, tool execution and memory reuse are demonstrated</a:t>
            </a:r>
            <a:endParaRPr b="0" i="0" sz="1150" u="none" cap="none" strike="noStrike">
              <a:solidFill>
                <a:schemeClr val="dk1"/>
              </a:solidFill>
              <a:latin typeface="Arial"/>
              <a:ea typeface="Arial"/>
              <a:cs typeface="Arial"/>
              <a:sym typeface="Arial"/>
            </a:endParaRPr>
          </a:p>
        </p:txBody>
      </p:sp>
      <p:sp>
        <p:nvSpPr>
          <p:cNvPr id="279" name="Google Shape;279;p10"/>
          <p:cNvSpPr/>
          <p:nvPr/>
        </p:nvSpPr>
        <p:spPr>
          <a:xfrm>
            <a:off x="640080" y="4983480"/>
            <a:ext cx="10911535" cy="1234440"/>
          </a:xfrm>
          <a:prstGeom prst="rect">
            <a:avLst/>
          </a:prstGeom>
          <a:solidFill>
            <a:srgbClr val="111111"/>
          </a:solidFill>
          <a:ln cap="flat" cmpd="sng" w="9525">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0"/>
          <p:cNvSpPr/>
          <p:nvPr/>
        </p:nvSpPr>
        <p:spPr>
          <a:xfrm>
            <a:off x="640080" y="4983480"/>
            <a:ext cx="10911535" cy="32004"/>
          </a:xfrm>
          <a:prstGeom prst="rect">
            <a:avLst/>
          </a:prstGeom>
          <a:solidFill>
            <a:srgbClr val="F7B8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txBox="1"/>
          <p:nvPr/>
        </p:nvSpPr>
        <p:spPr>
          <a:xfrm>
            <a:off x="960120" y="5166360"/>
            <a:ext cx="490712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BOUNDARIES</a:t>
            </a:r>
            <a:endParaRPr b="0" i="0" sz="950" u="none" cap="none" strike="noStrike">
              <a:solidFill>
                <a:schemeClr val="dk1"/>
              </a:solidFill>
              <a:latin typeface="Arial"/>
              <a:ea typeface="Arial"/>
              <a:cs typeface="Arial"/>
              <a:sym typeface="Arial"/>
            </a:endParaRPr>
          </a:p>
        </p:txBody>
      </p:sp>
      <p:sp>
        <p:nvSpPr>
          <p:cNvPr id="282" name="Google Shape;282;p10"/>
          <p:cNvSpPr txBox="1"/>
          <p:nvPr/>
        </p:nvSpPr>
        <p:spPr>
          <a:xfrm>
            <a:off x="960120" y="5440680"/>
            <a:ext cx="4907128"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Use public, synthetic or explicitly authorised data only. No personal health data. This is research support, not medical advice, and the interface must say so.</a:t>
            </a:r>
            <a:endParaRPr b="0" i="0" sz="1200" u="none" cap="none" strike="noStrike">
              <a:solidFill>
                <a:schemeClr val="dk1"/>
              </a:solidFill>
              <a:latin typeface="Arial"/>
              <a:ea typeface="Arial"/>
              <a:cs typeface="Arial"/>
              <a:sym typeface="Arial"/>
            </a:endParaRPr>
          </a:p>
        </p:txBody>
      </p:sp>
      <p:sp>
        <p:nvSpPr>
          <p:cNvPr id="283" name="Google Shape;283;p10"/>
          <p:cNvSpPr txBox="1"/>
          <p:nvPr/>
        </p:nvSpPr>
        <p:spPr>
          <a:xfrm>
            <a:off x="6324448" y="5166360"/>
            <a:ext cx="490712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STRETCH IDEAS</a:t>
            </a:r>
            <a:endParaRPr b="0" i="0" sz="950" u="none" cap="none" strike="noStrike">
              <a:solidFill>
                <a:schemeClr val="dk1"/>
              </a:solidFill>
              <a:latin typeface="Arial"/>
              <a:ea typeface="Arial"/>
              <a:cs typeface="Arial"/>
              <a:sym typeface="Arial"/>
            </a:endParaRPr>
          </a:p>
        </p:txBody>
      </p:sp>
      <p:sp>
        <p:nvSpPr>
          <p:cNvPr id="284" name="Google Shape;284;p10"/>
          <p:cNvSpPr txBox="1"/>
          <p:nvPr/>
        </p:nvSpPr>
        <p:spPr>
          <a:xfrm>
            <a:off x="6324448" y="5440680"/>
            <a:ext cx="4907128"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200"/>
              <a:buFont typeface="Arial"/>
              <a:buNone/>
            </a:pPr>
            <a:r>
              <a:rPr b="0" i="0" lang="en-US" sz="1200" u="none" cap="none" strike="noStrike">
                <a:solidFill>
                  <a:srgbClr val="B4B4B4"/>
                </a:solidFill>
                <a:latin typeface="Arial"/>
                <a:ea typeface="Arial"/>
                <a:cs typeface="Arial"/>
                <a:sym typeface="Arial"/>
              </a:rPr>
              <a:t>Extract numerical effects and uncertainty; identify papers reporting the same study; export the evidence trail.</a:t>
            </a:r>
            <a:endParaRPr b="0" i="0" sz="1200" u="none" cap="none" strike="noStrike">
              <a:solidFill>
                <a:schemeClr val="dk1"/>
              </a:solidFill>
              <a:latin typeface="Arial"/>
              <a:ea typeface="Arial"/>
              <a:cs typeface="Arial"/>
              <a:sym typeface="Arial"/>
            </a:endParaRPr>
          </a:p>
        </p:txBody>
      </p:sp>
      <p:sp>
        <p:nvSpPr>
          <p:cNvPr id="285" name="Google Shape;285;p10"/>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descr="Network graph background" id="291" name="Google Shape;291;p11"/>
          <p:cNvPicPr preferRelativeResize="0"/>
          <p:nvPr/>
        </p:nvPicPr>
        <p:blipFill rotWithShape="1">
          <a:blip r:embed="rId3">
            <a:alphaModFix amt="45000"/>
          </a:blip>
          <a:srcRect b="0" l="0" r="0" t="0"/>
          <a:stretch/>
        </p:blipFill>
        <p:spPr>
          <a:xfrm>
            <a:off x="0" y="45720"/>
            <a:ext cx="12191695" cy="6812280"/>
          </a:xfrm>
          <a:prstGeom prst="rect">
            <a:avLst/>
          </a:prstGeom>
          <a:noFill/>
          <a:ln>
            <a:noFill/>
          </a:ln>
        </p:spPr>
      </p:pic>
      <p:pic>
        <p:nvPicPr>
          <p:cNvPr descr="Artificial Superintelligence Alliance" id="292" name="Google Shape;292;p11"/>
          <p:cNvPicPr preferRelativeResize="0"/>
          <p:nvPr/>
        </p:nvPicPr>
        <p:blipFill rotWithShape="1">
          <a:blip r:embed="rId4">
            <a:alphaModFix/>
          </a:blip>
          <a:srcRect b="0" l="0" r="0" t="0"/>
          <a:stretch/>
        </p:blipFill>
        <p:spPr>
          <a:xfrm>
            <a:off x="640080" y="274320"/>
            <a:ext cx="1359408" cy="292608"/>
          </a:xfrm>
          <a:prstGeom prst="rect">
            <a:avLst/>
          </a:prstGeom>
          <a:noFill/>
          <a:ln>
            <a:noFill/>
          </a:ln>
        </p:spPr>
      </p:pic>
      <p:sp>
        <p:nvSpPr>
          <p:cNvPr id="293" name="Google Shape;293;p11"/>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02 · OMEGA PAYOUTS</a:t>
            </a:r>
            <a:endParaRPr b="0" i="0" sz="950" u="none" cap="none" strike="noStrike">
              <a:solidFill>
                <a:schemeClr val="dk1"/>
              </a:solidFill>
              <a:latin typeface="Arial"/>
              <a:ea typeface="Arial"/>
              <a:cs typeface="Arial"/>
              <a:sym typeface="Arial"/>
            </a:endParaRPr>
          </a:p>
        </p:txBody>
      </p:sp>
      <p:sp>
        <p:nvSpPr>
          <p:cNvPr id="294" name="Google Shape;294;p11"/>
          <p:cNvSpPr/>
          <p:nvPr/>
        </p:nvSpPr>
        <p:spPr>
          <a:xfrm>
            <a:off x="640080" y="982980"/>
            <a:ext cx="118872" cy="118872"/>
          </a:xfrm>
          <a:prstGeom prst="ellipse">
            <a:avLst/>
          </a:prstGeom>
          <a:solidFill>
            <a:srgbClr val="4F8D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1"/>
          <p:cNvSpPr txBox="1"/>
          <p:nvPr/>
        </p:nvSpPr>
        <p:spPr>
          <a:xfrm>
            <a:off x="868680" y="91440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ourier New"/>
              <a:buNone/>
            </a:pPr>
            <a:r>
              <a:rPr b="1" i="0" lang="en-US" sz="1000" u="none" cap="none" strike="noStrike">
                <a:solidFill>
                  <a:srgbClr val="FFFFFF"/>
                </a:solidFill>
                <a:latin typeface="Courier New"/>
                <a:ea typeface="Courier New"/>
                <a:cs typeface="Courier New"/>
                <a:sym typeface="Courier New"/>
              </a:rPr>
              <a:t>TRACK 02  ·  OMEGA PAYOUTS</a:t>
            </a:r>
            <a:endParaRPr b="0" i="0" sz="1000" u="none" cap="none" strike="noStrike">
              <a:solidFill>
                <a:schemeClr val="dk1"/>
              </a:solidFill>
              <a:latin typeface="Arial"/>
              <a:ea typeface="Arial"/>
              <a:cs typeface="Arial"/>
              <a:sym typeface="Arial"/>
            </a:endParaRPr>
          </a:p>
        </p:txBody>
      </p:sp>
      <p:sp>
        <p:nvSpPr>
          <p:cNvPr id="296" name="Google Shape;296;p11"/>
          <p:cNvSpPr txBox="1"/>
          <p:nvPr/>
        </p:nvSpPr>
        <p:spPr>
          <a:xfrm>
            <a:off x="8808415" y="905256"/>
            <a:ext cx="2743200" cy="274320"/>
          </a:xfrm>
          <a:prstGeom prst="rect">
            <a:avLst/>
          </a:prstGeom>
          <a:noFill/>
          <a:ln>
            <a:noFill/>
          </a:ln>
        </p:spPr>
        <p:txBody>
          <a:bodyPr anchorCtr="0" anchor="ctr" bIns="0" lIns="0" spcFirstLastPara="1" rIns="0" wrap="square" tIns="0">
            <a:noAutofit/>
          </a:bodyPr>
          <a:lstStyle/>
          <a:p>
            <a:pPr indent="0" lvl="0" marL="0" marR="0" rtl="0" algn="r">
              <a:lnSpc>
                <a:spcPct val="112000"/>
              </a:lnSpc>
              <a:spcBef>
                <a:spcPts val="0"/>
              </a:spcBef>
              <a:spcAft>
                <a:spcPts val="0"/>
              </a:spcAft>
              <a:buClr>
                <a:srgbClr val="4F8DF0"/>
              </a:buClr>
              <a:buSzPts val="1000"/>
              <a:buFont typeface="Courier New"/>
              <a:buNone/>
            </a:pPr>
            <a:r>
              <a:rPr b="1" i="0" lang="en-US" sz="1000" u="none" cap="none" strike="noStrike">
                <a:solidFill>
                  <a:srgbClr val="4F8DF0"/>
                </a:solidFill>
                <a:latin typeface="Courier New"/>
                <a:ea typeface="Courier New"/>
                <a:cs typeface="Courier New"/>
                <a:sym typeface="Courier New"/>
              </a:rPr>
              <a:t>Stellar testnet · Raven</a:t>
            </a:r>
            <a:endParaRPr b="0" i="0" sz="1000" u="none" cap="none" strike="noStrike">
              <a:solidFill>
                <a:schemeClr val="dk1"/>
              </a:solidFill>
              <a:latin typeface="Arial"/>
              <a:ea typeface="Arial"/>
              <a:cs typeface="Arial"/>
              <a:sym typeface="Arial"/>
            </a:endParaRPr>
          </a:p>
        </p:txBody>
      </p:sp>
      <p:sp>
        <p:nvSpPr>
          <p:cNvPr id="297" name="Google Shape;297;p11"/>
          <p:cNvSpPr txBox="1"/>
          <p:nvPr/>
        </p:nvSpPr>
        <p:spPr>
          <a:xfrm>
            <a:off x="640080" y="1280160"/>
            <a:ext cx="10911535" cy="5943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Global payouts and prize transparency</a:t>
            </a:r>
            <a:endParaRPr b="0" i="0" sz="3000" u="none" cap="none" strike="noStrike">
              <a:solidFill>
                <a:schemeClr val="dk1"/>
              </a:solidFill>
              <a:latin typeface="Arial"/>
              <a:ea typeface="Arial"/>
              <a:cs typeface="Arial"/>
              <a:sym typeface="Arial"/>
            </a:endParaRPr>
          </a:p>
        </p:txBody>
      </p:sp>
      <p:sp>
        <p:nvSpPr>
          <p:cNvPr id="298" name="Google Shape;298;p11"/>
          <p:cNvSpPr txBox="1"/>
          <p:nvPr/>
        </p:nvSpPr>
        <p:spPr>
          <a:xfrm>
            <a:off x="640080" y="1920240"/>
            <a:ext cx="9601200"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4F8DF0"/>
              </a:buClr>
              <a:buSzPts val="1700"/>
              <a:buFont typeface="Arial"/>
              <a:buNone/>
            </a:pPr>
            <a:r>
              <a:rPr b="0" i="0" lang="en-US" sz="1700" u="none" cap="none" strike="noStrike">
                <a:solidFill>
                  <a:srgbClr val="4F8DF0"/>
                </a:solidFill>
                <a:latin typeface="Arial"/>
                <a:ea typeface="Arial"/>
                <a:cs typeface="Arial"/>
                <a:sym typeface="Arial"/>
              </a:rPr>
              <a:t>Build an Omega agent that decides who gets paid from a prize fund, routes the payouts, and keeps a public ledger anyone can check.</a:t>
            </a:r>
            <a:endParaRPr b="0" i="0" sz="1700" u="none" cap="none" strike="noStrike">
              <a:solidFill>
                <a:schemeClr val="dk1"/>
              </a:solidFill>
              <a:latin typeface="Arial"/>
              <a:ea typeface="Arial"/>
              <a:cs typeface="Arial"/>
              <a:sym typeface="Arial"/>
            </a:endParaRPr>
          </a:p>
        </p:txBody>
      </p:sp>
      <p:cxnSp>
        <p:nvCxnSpPr>
          <p:cNvPr id="299" name="Google Shape;299;p11"/>
          <p:cNvCxnSpPr/>
          <p:nvPr/>
        </p:nvCxnSpPr>
        <p:spPr>
          <a:xfrm>
            <a:off x="640080" y="2926080"/>
            <a:ext cx="5181448" cy="0"/>
          </a:xfrm>
          <a:prstGeom prst="straightConnector1">
            <a:avLst/>
          </a:prstGeom>
          <a:noFill/>
          <a:ln cap="flat" cmpd="sng" w="9525">
            <a:solidFill>
              <a:srgbClr val="5A5A5A"/>
            </a:solidFill>
            <a:prstDash val="solid"/>
            <a:round/>
            <a:headEnd len="sm" w="sm" type="none"/>
            <a:tailEnd len="sm" w="sm" type="none"/>
          </a:ln>
        </p:spPr>
      </p:cxnSp>
      <p:sp>
        <p:nvSpPr>
          <p:cNvPr id="300" name="Google Shape;300;p11"/>
          <p:cNvSpPr txBox="1"/>
          <p:nvPr/>
        </p:nvSpPr>
        <p:spPr>
          <a:xfrm>
            <a:off x="640080" y="3063240"/>
            <a:ext cx="518144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WHO YOU ARE BUILDING FOR</a:t>
            </a:r>
            <a:endParaRPr b="0" i="0" sz="950" u="none" cap="none" strike="noStrike">
              <a:solidFill>
                <a:schemeClr val="dk1"/>
              </a:solidFill>
              <a:latin typeface="Arial"/>
              <a:ea typeface="Arial"/>
              <a:cs typeface="Arial"/>
              <a:sym typeface="Arial"/>
            </a:endParaRPr>
          </a:p>
        </p:txBody>
      </p:sp>
      <p:sp>
        <p:nvSpPr>
          <p:cNvPr id="301" name="Google Shape;301;p11"/>
          <p:cNvSpPr txBox="1"/>
          <p:nvPr/>
        </p:nvSpPr>
        <p:spPr>
          <a:xfrm>
            <a:off x="640080" y="3429000"/>
            <a:ext cx="5181448" cy="2651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BASIX.MARKET runs hackathons and buildathons with builders across Lisbon, Nairobi and Chennai. Winners are judged, placed and paid. As events grow, organisers need prize funds that are transparent and payouts that reach people on different continents reliably.</a:t>
            </a:r>
            <a:endParaRPr b="0" i="0" sz="1350" u="none" cap="none" strike="noStrike">
              <a:solidFill>
                <a:schemeClr val="dk1"/>
              </a:solidFill>
              <a:latin typeface="Arial"/>
              <a:ea typeface="Arial"/>
              <a:cs typeface="Arial"/>
              <a:sym typeface="Arial"/>
            </a:endParaRPr>
          </a:p>
        </p:txBody>
      </p:sp>
      <p:cxnSp>
        <p:nvCxnSpPr>
          <p:cNvPr id="302" name="Google Shape;302;p11"/>
          <p:cNvCxnSpPr/>
          <p:nvPr/>
        </p:nvCxnSpPr>
        <p:spPr>
          <a:xfrm>
            <a:off x="6370168" y="2926080"/>
            <a:ext cx="5181448" cy="0"/>
          </a:xfrm>
          <a:prstGeom prst="straightConnector1">
            <a:avLst/>
          </a:prstGeom>
          <a:noFill/>
          <a:ln cap="flat" cmpd="sng" w="9525">
            <a:solidFill>
              <a:srgbClr val="5A5A5A"/>
            </a:solidFill>
            <a:prstDash val="solid"/>
            <a:round/>
            <a:headEnd len="sm" w="sm" type="none"/>
            <a:tailEnd len="sm" w="sm" type="none"/>
          </a:ln>
        </p:spPr>
      </p:cxnSp>
      <p:sp>
        <p:nvSpPr>
          <p:cNvPr id="303" name="Google Shape;303;p11"/>
          <p:cNvSpPr txBox="1"/>
          <p:nvPr/>
        </p:nvSpPr>
        <p:spPr>
          <a:xfrm>
            <a:off x="6370168" y="3063240"/>
            <a:ext cx="518144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THE PROBLEM</a:t>
            </a:r>
            <a:endParaRPr b="0" i="0" sz="950" u="none" cap="none" strike="noStrike">
              <a:solidFill>
                <a:schemeClr val="dk1"/>
              </a:solidFill>
              <a:latin typeface="Arial"/>
              <a:ea typeface="Arial"/>
              <a:cs typeface="Arial"/>
              <a:sym typeface="Arial"/>
            </a:endParaRPr>
          </a:p>
        </p:txBody>
      </p:sp>
      <p:sp>
        <p:nvSpPr>
          <p:cNvPr id="304" name="Google Shape;304;p11"/>
          <p:cNvSpPr txBox="1"/>
          <p:nvPr/>
        </p:nvSpPr>
        <p:spPr>
          <a:xfrm>
            <a:off x="6370168" y="3429000"/>
            <a:ext cx="5181448" cy="2651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350"/>
              <a:buFont typeface="Arial"/>
              <a:buNone/>
            </a:pPr>
            <a:r>
              <a:rPr b="0" i="0" lang="en-US" sz="1350" u="none" cap="none" strike="noStrike">
                <a:solidFill>
                  <a:srgbClr val="FFFFFF"/>
                </a:solidFill>
                <a:latin typeface="Arial"/>
                <a:ea typeface="Arial"/>
                <a:cs typeface="Arial"/>
                <a:sym typeface="Arial"/>
              </a:rPr>
              <a:t>Prize funds are usually a spreadsheet and a promise. Participants cannot see how much was received, how much was paid, what fees went where, or what was carried forward. Cross-border payouts fail, duplicate, or get stuck, and nobody can trace why.</a:t>
            </a:r>
            <a:endParaRPr b="0" i="0" sz="1350" u="none" cap="none" strike="noStrike">
              <a:solidFill>
                <a:schemeClr val="dk1"/>
              </a:solidFill>
              <a:latin typeface="Arial"/>
              <a:ea typeface="Arial"/>
              <a:cs typeface="Arial"/>
              <a:sym typeface="Arial"/>
            </a:endParaRPr>
          </a:p>
        </p:txBody>
      </p:sp>
      <p:sp>
        <p:nvSpPr>
          <p:cNvPr id="305" name="Google Shape;305;p11"/>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2"/>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02 · YOUR BUILD</a:t>
            </a:r>
            <a:endParaRPr b="0" i="0" sz="950" u="none" cap="none" strike="noStrike">
              <a:solidFill>
                <a:schemeClr val="dk1"/>
              </a:solidFill>
              <a:latin typeface="Arial"/>
              <a:ea typeface="Arial"/>
              <a:cs typeface="Arial"/>
              <a:sym typeface="Arial"/>
            </a:endParaRPr>
          </a:p>
        </p:txBody>
      </p:sp>
      <p:sp>
        <p:nvSpPr>
          <p:cNvPr id="312" name="Google Shape;312;p12"/>
          <p:cNvSpPr txBox="1"/>
          <p:nvPr/>
        </p:nvSpPr>
        <p:spPr>
          <a:xfrm>
            <a:off x="640080" y="914400"/>
            <a:ext cx="10911535"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Track 02. </a:t>
            </a:r>
            <a:r>
              <a:rPr b="1" i="0" lang="en-US" sz="3200" u="none" cap="none" strike="noStrike">
                <a:solidFill>
                  <a:srgbClr val="F2596B"/>
                </a:solidFill>
                <a:latin typeface="Arial"/>
                <a:ea typeface="Arial"/>
                <a:cs typeface="Arial"/>
                <a:sym typeface="Arial"/>
              </a:rPr>
              <a:t>Y</a:t>
            </a:r>
            <a:r>
              <a:rPr b="1" i="0" lang="en-US" sz="3200" u="none" cap="none" strike="noStrike">
                <a:solidFill>
                  <a:srgbClr val="F48364"/>
                </a:solidFill>
                <a:latin typeface="Arial"/>
                <a:ea typeface="Arial"/>
                <a:cs typeface="Arial"/>
                <a:sym typeface="Arial"/>
              </a:rPr>
              <a:t>o</a:t>
            </a:r>
            <a:r>
              <a:rPr b="1" i="0" lang="en-US" sz="3200" u="none" cap="none" strike="noStrike">
                <a:solidFill>
                  <a:srgbClr val="F6AD5E"/>
                </a:solidFill>
                <a:latin typeface="Arial"/>
                <a:ea typeface="Arial"/>
                <a:cs typeface="Arial"/>
                <a:sym typeface="Arial"/>
              </a:rPr>
              <a:t>u</a:t>
            </a:r>
            <a:r>
              <a:rPr b="1" i="0" lang="en-US" sz="3200" u="none" cap="none" strike="noStrike">
                <a:solidFill>
                  <a:srgbClr val="B9C270"/>
                </a:solidFill>
                <a:latin typeface="Arial"/>
                <a:ea typeface="Arial"/>
                <a:cs typeface="Arial"/>
                <a:sym typeface="Arial"/>
              </a:rPr>
              <a:t>r</a:t>
            </a:r>
            <a:r>
              <a:rPr b="1" i="0" lang="en-US" sz="3200" u="none" cap="none" strike="noStrike">
                <a:solidFill>
                  <a:srgbClr val="FFFFFF"/>
                </a:solidFill>
                <a:latin typeface="Arial"/>
                <a:ea typeface="Arial"/>
                <a:cs typeface="Arial"/>
                <a:sym typeface="Arial"/>
              </a:rPr>
              <a:t> </a:t>
            </a:r>
            <a:r>
              <a:rPr b="1" i="0" lang="en-US" sz="3200" u="none" cap="none" strike="noStrike">
                <a:solidFill>
                  <a:srgbClr val="67CF8B"/>
                </a:solidFill>
                <a:latin typeface="Arial"/>
                <a:ea typeface="Arial"/>
                <a:cs typeface="Arial"/>
                <a:sym typeface="Arial"/>
              </a:rPr>
              <a:t>b</a:t>
            </a:r>
            <a:r>
              <a:rPr b="1" i="0" lang="en-US" sz="3200" u="none" cap="none" strike="noStrike">
                <a:solidFill>
                  <a:srgbClr val="42C5AC"/>
                </a:solidFill>
                <a:latin typeface="Arial"/>
                <a:ea typeface="Arial"/>
                <a:cs typeface="Arial"/>
                <a:sym typeface="Arial"/>
              </a:rPr>
              <a:t>u</a:t>
            </a:r>
            <a:r>
              <a:rPr b="1" i="0" lang="en-US" sz="3200" u="none" cap="none" strike="noStrike">
                <a:solidFill>
                  <a:srgbClr val="49A5D3"/>
                </a:solidFill>
                <a:latin typeface="Arial"/>
                <a:ea typeface="Arial"/>
                <a:cs typeface="Arial"/>
                <a:sym typeface="Arial"/>
              </a:rPr>
              <a:t>i</a:t>
            </a:r>
            <a:r>
              <a:rPr b="1" i="0" lang="en-US" sz="3200" u="none" cap="none" strike="noStrike">
                <a:solidFill>
                  <a:srgbClr val="5989F0"/>
                </a:solidFill>
                <a:latin typeface="Arial"/>
                <a:ea typeface="Arial"/>
                <a:cs typeface="Arial"/>
                <a:sym typeface="Arial"/>
              </a:rPr>
              <a:t>l</a:t>
            </a:r>
            <a:r>
              <a:rPr b="1" i="0" lang="en-US" sz="3200" u="none" cap="none" strike="noStrike">
                <a:solidFill>
                  <a:srgbClr val="7F7BF0"/>
                </a:solidFill>
                <a:latin typeface="Arial"/>
                <a:ea typeface="Arial"/>
                <a:cs typeface="Arial"/>
                <a:sym typeface="Arial"/>
              </a:rPr>
              <a:t>d</a:t>
            </a:r>
            <a:r>
              <a:rPr b="1" i="0" lang="en-US" sz="3200" u="none" cap="none" strike="noStrike">
                <a:solidFill>
                  <a:srgbClr val="A56CF0"/>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
        <p:nvSpPr>
          <p:cNvPr id="313" name="Google Shape;313;p12"/>
          <p:cNvSpPr txBox="1"/>
          <p:nvPr/>
        </p:nvSpPr>
        <p:spPr>
          <a:xfrm>
            <a:off x="8808415" y="1097280"/>
            <a:ext cx="2743200" cy="274320"/>
          </a:xfrm>
          <a:prstGeom prst="rect">
            <a:avLst/>
          </a:prstGeom>
          <a:noFill/>
          <a:ln>
            <a:noFill/>
          </a:ln>
        </p:spPr>
        <p:txBody>
          <a:bodyPr anchorCtr="0" anchor="ctr" bIns="0" lIns="0" spcFirstLastPara="1" rIns="0" wrap="square" tIns="0">
            <a:noAutofit/>
          </a:bodyPr>
          <a:lstStyle/>
          <a:p>
            <a:pPr indent="0" lvl="0" marL="0" marR="0" rtl="0" algn="r">
              <a:lnSpc>
                <a:spcPct val="112000"/>
              </a:lnSpc>
              <a:spcBef>
                <a:spcPts val="0"/>
              </a:spcBef>
              <a:spcAft>
                <a:spcPts val="0"/>
              </a:spcAft>
              <a:buClr>
                <a:srgbClr val="4F8DF0"/>
              </a:buClr>
              <a:buSzPts val="1000"/>
              <a:buFont typeface="Courier New"/>
              <a:buNone/>
            </a:pPr>
            <a:r>
              <a:rPr b="1" i="0" lang="en-US" sz="1000" u="none" cap="none" strike="noStrike">
                <a:solidFill>
                  <a:srgbClr val="4F8DF0"/>
                </a:solidFill>
                <a:latin typeface="Courier New"/>
                <a:ea typeface="Courier New"/>
                <a:cs typeface="Courier New"/>
                <a:sym typeface="Courier New"/>
              </a:rPr>
              <a:t>Stellar testnet · Raven</a:t>
            </a:r>
            <a:endParaRPr b="0" i="0" sz="1000" u="none" cap="none" strike="noStrike">
              <a:solidFill>
                <a:schemeClr val="dk1"/>
              </a:solidFill>
              <a:latin typeface="Arial"/>
              <a:ea typeface="Arial"/>
              <a:cs typeface="Arial"/>
              <a:sym typeface="Arial"/>
            </a:endParaRPr>
          </a:p>
        </p:txBody>
      </p:sp>
      <p:sp>
        <p:nvSpPr>
          <p:cNvPr id="314" name="Google Shape;314;p12"/>
          <p:cNvSpPr txBox="1"/>
          <p:nvPr/>
        </p:nvSpPr>
        <p:spPr>
          <a:xfrm>
            <a:off x="640080" y="1783080"/>
            <a:ext cx="8686800" cy="6858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500"/>
              <a:buFont typeface="Arial"/>
              <a:buNone/>
            </a:pPr>
            <a:r>
              <a:rPr b="0" i="0" lang="en-US" sz="1500" u="none" cap="none" strike="noStrike">
                <a:solidFill>
                  <a:srgbClr val="FFFFFF"/>
                </a:solidFill>
                <a:latin typeface="Arial"/>
                <a:ea typeface="Arial"/>
                <a:cs typeface="Arial"/>
                <a:sym typeface="Arial"/>
              </a:rPr>
              <a:t>Two parts that work together:</a:t>
            </a:r>
            <a:endParaRPr b="0" i="0" sz="1500" u="none" cap="none" strike="noStrike">
              <a:solidFill>
                <a:schemeClr val="dk1"/>
              </a:solidFill>
              <a:latin typeface="Arial"/>
              <a:ea typeface="Arial"/>
              <a:cs typeface="Arial"/>
              <a:sym typeface="Arial"/>
            </a:endParaRPr>
          </a:p>
        </p:txBody>
      </p:sp>
      <p:cxnSp>
        <p:nvCxnSpPr>
          <p:cNvPr id="315" name="Google Shape;315;p12"/>
          <p:cNvCxnSpPr/>
          <p:nvPr/>
        </p:nvCxnSpPr>
        <p:spPr>
          <a:xfrm>
            <a:off x="640080" y="2697480"/>
            <a:ext cx="5295748" cy="0"/>
          </a:xfrm>
          <a:prstGeom prst="straightConnector1">
            <a:avLst/>
          </a:prstGeom>
          <a:noFill/>
          <a:ln cap="flat" cmpd="sng" w="9525">
            <a:solidFill>
              <a:srgbClr val="5A5A5A"/>
            </a:solidFill>
            <a:prstDash val="solid"/>
            <a:round/>
            <a:headEnd len="sm" w="sm" type="none"/>
            <a:tailEnd len="sm" w="sm" type="none"/>
          </a:ln>
        </p:spPr>
      </p:cxnSp>
      <p:sp>
        <p:nvSpPr>
          <p:cNvPr id="316" name="Google Shape;316;p12"/>
          <p:cNvSpPr txBox="1"/>
          <p:nvPr/>
        </p:nvSpPr>
        <p:spPr>
          <a:xfrm>
            <a:off x="640080" y="2834640"/>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4F8DF0"/>
              </a:buClr>
              <a:buSzPts val="1800"/>
              <a:buFont typeface="Arial"/>
              <a:buNone/>
            </a:pPr>
            <a:r>
              <a:rPr b="1" i="0" lang="en-US" sz="1800" u="none" cap="none" strike="noStrike">
                <a:solidFill>
                  <a:srgbClr val="4F8DF0"/>
                </a:solidFill>
                <a:latin typeface="Arial"/>
                <a:ea typeface="Arial"/>
                <a:cs typeface="Arial"/>
                <a:sym typeface="Arial"/>
              </a:rPr>
              <a:t>01</a:t>
            </a:r>
            <a:endParaRPr b="0" i="0" sz="1800" u="none" cap="none" strike="noStrike">
              <a:solidFill>
                <a:schemeClr val="dk1"/>
              </a:solidFill>
              <a:latin typeface="Arial"/>
              <a:ea typeface="Arial"/>
              <a:cs typeface="Arial"/>
              <a:sym typeface="Arial"/>
            </a:endParaRPr>
          </a:p>
        </p:txBody>
      </p:sp>
      <p:sp>
        <p:nvSpPr>
          <p:cNvPr id="317" name="Google Shape;317;p12"/>
          <p:cNvSpPr txBox="1"/>
          <p:nvPr/>
        </p:nvSpPr>
        <p:spPr>
          <a:xfrm>
            <a:off x="640080" y="3337560"/>
            <a:ext cx="5295748"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 payout coordinator</a:t>
            </a:r>
            <a:endParaRPr b="0" i="0" sz="1600" u="none" cap="none" strike="noStrike">
              <a:solidFill>
                <a:schemeClr val="dk1"/>
              </a:solidFill>
              <a:latin typeface="Arial"/>
              <a:ea typeface="Arial"/>
              <a:cs typeface="Arial"/>
              <a:sym typeface="Arial"/>
            </a:endParaRPr>
          </a:p>
        </p:txBody>
      </p:sp>
      <p:sp>
        <p:nvSpPr>
          <p:cNvPr id="318" name="Google Shape;318;p12"/>
          <p:cNvSpPr txBox="1"/>
          <p:nvPr/>
        </p:nvSpPr>
        <p:spPr>
          <a:xfrm>
            <a:off x="640080" y="3840480"/>
            <a:ext cx="5295748" cy="16459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00"/>
              <a:buFont typeface="Arial"/>
              <a:buNone/>
            </a:pPr>
            <a:r>
              <a:rPr b="0" i="0" lang="en-US" sz="1300" u="none" cap="none" strike="noStrike">
                <a:solidFill>
                  <a:srgbClr val="B4B4B4"/>
                </a:solidFill>
                <a:latin typeface="Arial"/>
                <a:ea typeface="Arial"/>
                <a:cs typeface="Arial"/>
                <a:sym typeface="Arial"/>
              </a:rPr>
              <a:t>an Omega agent that applies a published funding rule, proposes payouts, waits for organiser approval, then sends them on Stellar testnet.</a:t>
            </a:r>
            <a:endParaRPr b="0" i="0" sz="1300" u="none" cap="none" strike="noStrike">
              <a:solidFill>
                <a:schemeClr val="dk1"/>
              </a:solidFill>
              <a:latin typeface="Arial"/>
              <a:ea typeface="Arial"/>
              <a:cs typeface="Arial"/>
              <a:sym typeface="Arial"/>
            </a:endParaRPr>
          </a:p>
        </p:txBody>
      </p:sp>
      <p:cxnSp>
        <p:nvCxnSpPr>
          <p:cNvPr id="319" name="Google Shape;319;p12"/>
          <p:cNvCxnSpPr/>
          <p:nvPr/>
        </p:nvCxnSpPr>
        <p:spPr>
          <a:xfrm>
            <a:off x="6255868" y="2697480"/>
            <a:ext cx="5295748" cy="0"/>
          </a:xfrm>
          <a:prstGeom prst="straightConnector1">
            <a:avLst/>
          </a:prstGeom>
          <a:noFill/>
          <a:ln cap="flat" cmpd="sng" w="9525">
            <a:solidFill>
              <a:srgbClr val="5A5A5A"/>
            </a:solidFill>
            <a:prstDash val="solid"/>
            <a:round/>
            <a:headEnd len="sm" w="sm" type="none"/>
            <a:tailEnd len="sm" w="sm" type="none"/>
          </a:ln>
        </p:spPr>
      </p:cxnSp>
      <p:sp>
        <p:nvSpPr>
          <p:cNvPr id="320" name="Google Shape;320;p12"/>
          <p:cNvSpPr txBox="1"/>
          <p:nvPr/>
        </p:nvSpPr>
        <p:spPr>
          <a:xfrm>
            <a:off x="6255868" y="2834640"/>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4F8DF0"/>
              </a:buClr>
              <a:buSzPts val="1800"/>
              <a:buFont typeface="Arial"/>
              <a:buNone/>
            </a:pPr>
            <a:r>
              <a:rPr b="1" i="0" lang="en-US" sz="1800" u="none" cap="none" strike="noStrike">
                <a:solidFill>
                  <a:srgbClr val="4F8DF0"/>
                </a:solidFill>
                <a:latin typeface="Arial"/>
                <a:ea typeface="Arial"/>
                <a:cs typeface="Arial"/>
                <a:sym typeface="Arial"/>
              </a:rPr>
              <a:t>02</a:t>
            </a:r>
            <a:endParaRPr b="0" i="0" sz="1800" u="none" cap="none" strike="noStrike">
              <a:solidFill>
                <a:schemeClr val="dk1"/>
              </a:solidFill>
              <a:latin typeface="Arial"/>
              <a:ea typeface="Arial"/>
              <a:cs typeface="Arial"/>
              <a:sym typeface="Arial"/>
            </a:endParaRPr>
          </a:p>
        </p:txBody>
      </p:sp>
      <p:sp>
        <p:nvSpPr>
          <p:cNvPr id="321" name="Google Shape;321;p12"/>
          <p:cNvSpPr txBox="1"/>
          <p:nvPr/>
        </p:nvSpPr>
        <p:spPr>
          <a:xfrm>
            <a:off x="6255868" y="3337560"/>
            <a:ext cx="5295748"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 public prize-fund ledger</a:t>
            </a:r>
            <a:endParaRPr b="0" i="0" sz="1600" u="none" cap="none" strike="noStrike">
              <a:solidFill>
                <a:schemeClr val="dk1"/>
              </a:solidFill>
              <a:latin typeface="Arial"/>
              <a:ea typeface="Arial"/>
              <a:cs typeface="Arial"/>
              <a:sym typeface="Arial"/>
            </a:endParaRPr>
          </a:p>
        </p:txBody>
      </p:sp>
      <p:sp>
        <p:nvSpPr>
          <p:cNvPr id="322" name="Google Shape;322;p12"/>
          <p:cNvSpPr txBox="1"/>
          <p:nvPr/>
        </p:nvSpPr>
        <p:spPr>
          <a:xfrm>
            <a:off x="6255868" y="3840480"/>
            <a:ext cx="5295748" cy="16459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00"/>
              <a:buFont typeface="Arial"/>
              <a:buNone/>
            </a:pPr>
            <a:r>
              <a:rPr b="0" i="0" lang="en-US" sz="1300" u="none" cap="none" strike="noStrike">
                <a:solidFill>
                  <a:srgbClr val="B4B4B4"/>
                </a:solidFill>
                <a:latin typeface="Arial"/>
                <a:ea typeface="Arial"/>
                <a:cs typeface="Arial"/>
                <a:sym typeface="Arial"/>
              </a:rPr>
              <a:t>a page or feed showing funds received, paid, fees and the reserve carried to the next event, each line linked to a receipt.</a:t>
            </a:r>
            <a:endParaRPr b="0" i="0" sz="1300" u="none" cap="none" strike="noStrike">
              <a:solidFill>
                <a:schemeClr val="dk1"/>
              </a:solidFill>
              <a:latin typeface="Arial"/>
              <a:ea typeface="Arial"/>
              <a:cs typeface="Arial"/>
              <a:sym typeface="Arial"/>
            </a:endParaRPr>
          </a:p>
        </p:txBody>
      </p:sp>
      <p:sp>
        <p:nvSpPr>
          <p:cNvPr id="323" name="Google Shape;323;p12"/>
          <p:cNvSpPr/>
          <p:nvPr/>
        </p:nvSpPr>
        <p:spPr>
          <a:xfrm>
            <a:off x="640080" y="5257800"/>
            <a:ext cx="10911535" cy="914400"/>
          </a:xfrm>
          <a:prstGeom prst="rect">
            <a:avLst/>
          </a:prstGeom>
          <a:solidFill>
            <a:srgbClr val="111111"/>
          </a:solidFill>
          <a:ln cap="flat" cmpd="sng" w="9525">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2"/>
          <p:cNvSpPr/>
          <p:nvPr/>
        </p:nvSpPr>
        <p:spPr>
          <a:xfrm>
            <a:off x="640080" y="5257800"/>
            <a:ext cx="10911535" cy="32004"/>
          </a:xfrm>
          <a:prstGeom prst="rect">
            <a:avLst/>
          </a:prstGeom>
          <a:solidFill>
            <a:srgbClr val="F7B8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2"/>
          <p:cNvSpPr txBox="1"/>
          <p:nvPr/>
        </p:nvSpPr>
        <p:spPr>
          <a:xfrm>
            <a:off x="960120" y="5257800"/>
            <a:ext cx="10271455" cy="9144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Use Raven for Stellar development help. Any NEAR Intents cross-chain leg is simulated with a dry quote, because NEAR Intents has no testnet.</a:t>
            </a:r>
            <a:endParaRPr b="0" i="0" sz="1300" u="none" cap="none" strike="noStrike">
              <a:solidFill>
                <a:schemeClr val="dk1"/>
              </a:solidFill>
              <a:latin typeface="Arial"/>
              <a:ea typeface="Arial"/>
              <a:cs typeface="Arial"/>
              <a:sym typeface="Arial"/>
            </a:endParaRPr>
          </a:p>
        </p:txBody>
      </p:sp>
      <p:sp>
        <p:nvSpPr>
          <p:cNvPr id="326" name="Google Shape;326;p12"/>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3"/>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02 · WHAT OMEGA DOES HERE</a:t>
            </a:r>
            <a:endParaRPr b="0" i="0" sz="950" u="none" cap="none" strike="noStrike">
              <a:solidFill>
                <a:schemeClr val="dk1"/>
              </a:solidFill>
              <a:latin typeface="Arial"/>
              <a:ea typeface="Arial"/>
              <a:cs typeface="Arial"/>
              <a:sym typeface="Arial"/>
            </a:endParaRPr>
          </a:p>
        </p:txBody>
      </p:sp>
      <p:sp>
        <p:nvSpPr>
          <p:cNvPr id="333" name="Google Shape;333;p13"/>
          <p:cNvSpPr txBox="1"/>
          <p:nvPr/>
        </p:nvSpPr>
        <p:spPr>
          <a:xfrm>
            <a:off x="640080" y="914400"/>
            <a:ext cx="10911535"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Track 02. </a:t>
            </a:r>
            <a:r>
              <a:rPr b="1" i="0" lang="en-US" sz="3200" u="none" cap="none" strike="noStrike">
                <a:solidFill>
                  <a:srgbClr val="F2596B"/>
                </a:solidFill>
                <a:latin typeface="Arial"/>
                <a:ea typeface="Arial"/>
                <a:cs typeface="Arial"/>
                <a:sym typeface="Arial"/>
              </a:rPr>
              <a:t>W</a:t>
            </a:r>
            <a:r>
              <a:rPr b="1" i="0" lang="en-US" sz="3200" u="none" cap="none" strike="noStrike">
                <a:solidFill>
                  <a:srgbClr val="F36F67"/>
                </a:solidFill>
                <a:latin typeface="Arial"/>
                <a:ea typeface="Arial"/>
                <a:cs typeface="Arial"/>
                <a:sym typeface="Arial"/>
              </a:rPr>
              <a:t>h</a:t>
            </a:r>
            <a:r>
              <a:rPr b="1" i="0" lang="en-US" sz="3200" u="none" cap="none" strike="noStrike">
                <a:solidFill>
                  <a:srgbClr val="F48664"/>
                </a:solidFill>
                <a:latin typeface="Arial"/>
                <a:ea typeface="Arial"/>
                <a:cs typeface="Arial"/>
                <a:sym typeface="Arial"/>
              </a:rPr>
              <a:t>a</a:t>
            </a:r>
            <a:r>
              <a:rPr b="1" i="0" lang="en-US" sz="3200" u="none" cap="none" strike="noStrike">
                <a:solidFill>
                  <a:srgbClr val="F69C60"/>
                </a:solidFill>
                <a:latin typeface="Arial"/>
                <a:ea typeface="Arial"/>
                <a:cs typeface="Arial"/>
                <a:sym typeface="Arial"/>
              </a:rPr>
              <a:t>t</a:t>
            </a:r>
            <a:r>
              <a:rPr b="1" i="0" lang="en-US" sz="3200" u="none" cap="none" strike="noStrike">
                <a:solidFill>
                  <a:srgbClr val="FFFFFF"/>
                </a:solidFill>
                <a:latin typeface="Arial"/>
                <a:ea typeface="Arial"/>
                <a:cs typeface="Arial"/>
                <a:sym typeface="Arial"/>
              </a:rPr>
              <a:t> </a:t>
            </a:r>
            <a:r>
              <a:rPr b="1" i="0" lang="en-US" sz="3200" u="none" cap="none" strike="noStrike">
                <a:solidFill>
                  <a:srgbClr val="F7B25D"/>
                </a:solidFill>
                <a:latin typeface="Arial"/>
                <a:ea typeface="Arial"/>
                <a:cs typeface="Arial"/>
                <a:sym typeface="Arial"/>
              </a:rPr>
              <a:t>O</a:t>
            </a:r>
            <a:r>
              <a:rPr b="1" i="0" lang="en-US" sz="3200" u="none" cap="none" strike="noStrike">
                <a:solidFill>
                  <a:srgbClr val="D6BD67"/>
                </a:solidFill>
                <a:latin typeface="Arial"/>
                <a:ea typeface="Arial"/>
                <a:cs typeface="Arial"/>
                <a:sym typeface="Arial"/>
              </a:rPr>
              <a:t>m</a:t>
            </a:r>
            <a:r>
              <a:rPr b="1" i="0" lang="en-US" sz="3200" u="none" cap="none" strike="noStrike">
                <a:solidFill>
                  <a:srgbClr val="ABC475"/>
                </a:solidFill>
                <a:latin typeface="Arial"/>
                <a:ea typeface="Arial"/>
                <a:cs typeface="Arial"/>
                <a:sym typeface="Arial"/>
              </a:rPr>
              <a:t>e</a:t>
            </a:r>
            <a:r>
              <a:rPr b="1" i="0" lang="en-US" sz="3200" u="none" cap="none" strike="noStrike">
                <a:solidFill>
                  <a:srgbClr val="7FCB83"/>
                </a:solidFill>
                <a:latin typeface="Arial"/>
                <a:ea typeface="Arial"/>
                <a:cs typeface="Arial"/>
                <a:sym typeface="Arial"/>
              </a:rPr>
              <a:t>g</a:t>
            </a:r>
            <a:r>
              <a:rPr b="1" i="0" lang="en-US" sz="3200" u="none" cap="none" strike="noStrike">
                <a:solidFill>
                  <a:srgbClr val="54D291"/>
                </a:solidFill>
                <a:latin typeface="Arial"/>
                <a:ea typeface="Arial"/>
                <a:cs typeface="Arial"/>
                <a:sym typeface="Arial"/>
              </a:rPr>
              <a:t>a</a:t>
            </a:r>
            <a:r>
              <a:rPr b="1" i="0" lang="en-US" sz="3200" u="none" cap="none" strike="noStrike">
                <a:solidFill>
                  <a:srgbClr val="FFFFFF"/>
                </a:solidFill>
                <a:latin typeface="Arial"/>
                <a:ea typeface="Arial"/>
                <a:cs typeface="Arial"/>
                <a:sym typeface="Arial"/>
              </a:rPr>
              <a:t> </a:t>
            </a:r>
            <a:r>
              <a:rPr b="1" i="0" lang="en-US" sz="3200" u="none" cap="none" strike="noStrike">
                <a:solidFill>
                  <a:srgbClr val="40CDA2"/>
                </a:solidFill>
                <a:latin typeface="Arial"/>
                <a:ea typeface="Arial"/>
                <a:cs typeface="Arial"/>
                <a:sym typeface="Arial"/>
              </a:rPr>
              <a:t>d</a:t>
            </a:r>
            <a:r>
              <a:rPr b="1" i="0" lang="en-US" sz="3200" u="none" cap="none" strike="noStrike">
                <a:solidFill>
                  <a:srgbClr val="44BCB7"/>
                </a:solidFill>
                <a:latin typeface="Arial"/>
                <a:ea typeface="Arial"/>
                <a:cs typeface="Arial"/>
                <a:sym typeface="Arial"/>
              </a:rPr>
              <a:t>o</a:t>
            </a:r>
            <a:r>
              <a:rPr b="1" i="0" lang="en-US" sz="3200" u="none" cap="none" strike="noStrike">
                <a:solidFill>
                  <a:srgbClr val="48ABCC"/>
                </a:solidFill>
                <a:latin typeface="Arial"/>
                <a:ea typeface="Arial"/>
                <a:cs typeface="Arial"/>
                <a:sym typeface="Arial"/>
              </a:rPr>
              <a:t>e</a:t>
            </a:r>
            <a:r>
              <a:rPr b="1" i="0" lang="en-US" sz="3200" u="none" cap="none" strike="noStrike">
                <a:solidFill>
                  <a:srgbClr val="4C9AE0"/>
                </a:solidFill>
                <a:latin typeface="Arial"/>
                <a:ea typeface="Arial"/>
                <a:cs typeface="Arial"/>
                <a:sym typeface="Arial"/>
              </a:rPr>
              <a:t>s</a:t>
            </a:r>
            <a:r>
              <a:rPr b="1" i="0" lang="en-US" sz="3200" u="none" cap="none" strike="noStrike">
                <a:solidFill>
                  <a:srgbClr val="FFFFFF"/>
                </a:solidFill>
                <a:latin typeface="Arial"/>
                <a:ea typeface="Arial"/>
                <a:cs typeface="Arial"/>
                <a:sym typeface="Arial"/>
              </a:rPr>
              <a:t> </a:t>
            </a:r>
            <a:r>
              <a:rPr b="1" i="0" lang="en-US" sz="3200" u="none" cap="none" strike="noStrike">
                <a:solidFill>
                  <a:srgbClr val="548BF0"/>
                </a:solidFill>
                <a:latin typeface="Arial"/>
                <a:ea typeface="Arial"/>
                <a:cs typeface="Arial"/>
                <a:sym typeface="Arial"/>
              </a:rPr>
              <a:t>h</a:t>
            </a:r>
            <a:r>
              <a:rPr b="1" i="0" lang="en-US" sz="3200" u="none" cap="none" strike="noStrike">
                <a:solidFill>
                  <a:srgbClr val="6883F0"/>
                </a:solidFill>
                <a:latin typeface="Arial"/>
                <a:ea typeface="Arial"/>
                <a:cs typeface="Arial"/>
                <a:sym typeface="Arial"/>
              </a:rPr>
              <a:t>e</a:t>
            </a:r>
            <a:r>
              <a:rPr b="1" i="0" lang="en-US" sz="3200" u="none" cap="none" strike="noStrike">
                <a:solidFill>
                  <a:srgbClr val="7D7CF0"/>
                </a:solidFill>
                <a:latin typeface="Arial"/>
                <a:ea typeface="Arial"/>
                <a:cs typeface="Arial"/>
                <a:sym typeface="Arial"/>
              </a:rPr>
              <a:t>r</a:t>
            </a:r>
            <a:r>
              <a:rPr b="1" i="0" lang="en-US" sz="3200" u="none" cap="none" strike="noStrike">
                <a:solidFill>
                  <a:srgbClr val="9174F0"/>
                </a:solidFill>
                <a:latin typeface="Arial"/>
                <a:ea typeface="Arial"/>
                <a:cs typeface="Arial"/>
                <a:sym typeface="Arial"/>
              </a:rPr>
              <a:t>e</a:t>
            </a:r>
            <a:r>
              <a:rPr b="1" i="0" lang="en-US" sz="3200" u="none" cap="none" strike="noStrike">
                <a:solidFill>
                  <a:srgbClr val="A56CF0"/>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
        <p:nvSpPr>
          <p:cNvPr id="334" name="Google Shape;334;p13"/>
          <p:cNvSpPr txBox="1"/>
          <p:nvPr/>
        </p:nvSpPr>
        <p:spPr>
          <a:xfrm>
            <a:off x="8808415" y="1097280"/>
            <a:ext cx="2743200" cy="274320"/>
          </a:xfrm>
          <a:prstGeom prst="rect">
            <a:avLst/>
          </a:prstGeom>
          <a:noFill/>
          <a:ln>
            <a:noFill/>
          </a:ln>
        </p:spPr>
        <p:txBody>
          <a:bodyPr anchorCtr="0" anchor="ctr" bIns="0" lIns="0" spcFirstLastPara="1" rIns="0" wrap="square" tIns="0">
            <a:noAutofit/>
          </a:bodyPr>
          <a:lstStyle/>
          <a:p>
            <a:pPr indent="0" lvl="0" marL="0" marR="0" rtl="0" algn="r">
              <a:lnSpc>
                <a:spcPct val="112000"/>
              </a:lnSpc>
              <a:spcBef>
                <a:spcPts val="0"/>
              </a:spcBef>
              <a:spcAft>
                <a:spcPts val="0"/>
              </a:spcAft>
              <a:buClr>
                <a:srgbClr val="4F8DF0"/>
              </a:buClr>
              <a:buSzPts val="1000"/>
              <a:buFont typeface="Courier New"/>
              <a:buNone/>
            </a:pPr>
            <a:r>
              <a:rPr b="1" i="0" lang="en-US" sz="1000" u="none" cap="none" strike="noStrike">
                <a:solidFill>
                  <a:srgbClr val="4F8DF0"/>
                </a:solidFill>
                <a:latin typeface="Courier New"/>
                <a:ea typeface="Courier New"/>
                <a:cs typeface="Courier New"/>
                <a:sym typeface="Courier New"/>
              </a:rPr>
              <a:t>Stellar testnet · Raven</a:t>
            </a:r>
            <a:endParaRPr b="0" i="0" sz="1000" u="none" cap="none" strike="noStrike">
              <a:solidFill>
                <a:schemeClr val="dk1"/>
              </a:solidFill>
              <a:latin typeface="Arial"/>
              <a:ea typeface="Arial"/>
              <a:cs typeface="Arial"/>
              <a:sym typeface="Arial"/>
            </a:endParaRPr>
          </a:p>
        </p:txBody>
      </p:sp>
      <p:cxnSp>
        <p:nvCxnSpPr>
          <p:cNvPr id="335" name="Google Shape;335;p13"/>
          <p:cNvCxnSpPr/>
          <p:nvPr/>
        </p:nvCxnSpPr>
        <p:spPr>
          <a:xfrm>
            <a:off x="640080" y="1783080"/>
            <a:ext cx="3362858" cy="0"/>
          </a:xfrm>
          <a:prstGeom prst="straightConnector1">
            <a:avLst/>
          </a:prstGeom>
          <a:noFill/>
          <a:ln cap="flat" cmpd="sng" w="9525">
            <a:solidFill>
              <a:srgbClr val="5A5A5A"/>
            </a:solidFill>
            <a:prstDash val="solid"/>
            <a:round/>
            <a:headEnd len="sm" w="sm" type="none"/>
            <a:tailEnd len="sm" w="sm" type="none"/>
          </a:ln>
        </p:spPr>
      </p:cxnSp>
      <p:sp>
        <p:nvSpPr>
          <p:cNvPr id="336" name="Google Shape;336;p13"/>
          <p:cNvSpPr txBox="1"/>
          <p:nvPr/>
        </p:nvSpPr>
        <p:spPr>
          <a:xfrm>
            <a:off x="640080" y="1947672"/>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4F8DF0"/>
              </a:buClr>
              <a:buSzPts val="1800"/>
              <a:buFont typeface="Arial"/>
              <a:buNone/>
            </a:pPr>
            <a:r>
              <a:rPr b="1" i="0" lang="en-US" sz="1800" u="none" cap="none" strike="noStrike">
                <a:solidFill>
                  <a:srgbClr val="4F8DF0"/>
                </a:solidFill>
                <a:latin typeface="Arial"/>
                <a:ea typeface="Arial"/>
                <a:cs typeface="Arial"/>
                <a:sym typeface="Arial"/>
              </a:rPr>
              <a:t>01</a:t>
            </a:r>
            <a:endParaRPr b="0" i="0" sz="1800" u="none" cap="none" strike="noStrike">
              <a:solidFill>
                <a:schemeClr val="dk1"/>
              </a:solidFill>
              <a:latin typeface="Arial"/>
              <a:ea typeface="Arial"/>
              <a:cs typeface="Arial"/>
              <a:sym typeface="Arial"/>
            </a:endParaRPr>
          </a:p>
        </p:txBody>
      </p:sp>
      <p:sp>
        <p:nvSpPr>
          <p:cNvPr id="337" name="Google Shape;337;p13"/>
          <p:cNvSpPr txBox="1"/>
          <p:nvPr/>
        </p:nvSpPr>
        <p:spPr>
          <a:xfrm>
            <a:off x="640080" y="2468880"/>
            <a:ext cx="3362858"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Role</a:t>
            </a:r>
            <a:endParaRPr b="0" i="0" sz="1800" u="none" cap="none" strike="noStrike">
              <a:solidFill>
                <a:schemeClr val="dk1"/>
              </a:solidFill>
              <a:latin typeface="Arial"/>
              <a:ea typeface="Arial"/>
              <a:cs typeface="Arial"/>
              <a:sym typeface="Arial"/>
            </a:endParaRPr>
          </a:p>
        </p:txBody>
      </p:sp>
      <p:sp>
        <p:nvSpPr>
          <p:cNvPr id="338" name="Google Shape;338;p13"/>
          <p:cNvSpPr txBox="1"/>
          <p:nvPr/>
        </p:nvSpPr>
        <p:spPr>
          <a:xfrm>
            <a:off x="640080" y="2971800"/>
            <a:ext cx="3362858"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Payout coordinator that applies the rule, proposes, and executes only after approval</a:t>
            </a:r>
            <a:endParaRPr b="0" i="0" sz="1350" u="none" cap="none" strike="noStrike">
              <a:solidFill>
                <a:schemeClr val="dk1"/>
              </a:solidFill>
              <a:latin typeface="Arial"/>
              <a:ea typeface="Arial"/>
              <a:cs typeface="Arial"/>
              <a:sym typeface="Arial"/>
            </a:endParaRPr>
          </a:p>
        </p:txBody>
      </p:sp>
      <p:cxnSp>
        <p:nvCxnSpPr>
          <p:cNvPr id="339" name="Google Shape;339;p13"/>
          <p:cNvCxnSpPr/>
          <p:nvPr/>
        </p:nvCxnSpPr>
        <p:spPr>
          <a:xfrm>
            <a:off x="4414418" y="1783080"/>
            <a:ext cx="3362858" cy="0"/>
          </a:xfrm>
          <a:prstGeom prst="straightConnector1">
            <a:avLst/>
          </a:prstGeom>
          <a:noFill/>
          <a:ln cap="flat" cmpd="sng" w="9525">
            <a:solidFill>
              <a:srgbClr val="5A5A5A"/>
            </a:solidFill>
            <a:prstDash val="solid"/>
            <a:round/>
            <a:headEnd len="sm" w="sm" type="none"/>
            <a:tailEnd len="sm" w="sm" type="none"/>
          </a:ln>
        </p:spPr>
      </p:cxnSp>
      <p:sp>
        <p:nvSpPr>
          <p:cNvPr id="340" name="Google Shape;340;p13"/>
          <p:cNvSpPr txBox="1"/>
          <p:nvPr/>
        </p:nvSpPr>
        <p:spPr>
          <a:xfrm>
            <a:off x="4414418" y="1947672"/>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4F8DF0"/>
              </a:buClr>
              <a:buSzPts val="1800"/>
              <a:buFont typeface="Arial"/>
              <a:buNone/>
            </a:pPr>
            <a:r>
              <a:rPr b="1" i="0" lang="en-US" sz="1800" u="none" cap="none" strike="noStrike">
                <a:solidFill>
                  <a:srgbClr val="4F8DF0"/>
                </a:solidFill>
                <a:latin typeface="Arial"/>
                <a:ea typeface="Arial"/>
                <a:cs typeface="Arial"/>
                <a:sym typeface="Arial"/>
              </a:rPr>
              <a:t>02</a:t>
            </a:r>
            <a:endParaRPr b="0" i="0" sz="1800" u="none" cap="none" strike="noStrike">
              <a:solidFill>
                <a:schemeClr val="dk1"/>
              </a:solidFill>
              <a:latin typeface="Arial"/>
              <a:ea typeface="Arial"/>
              <a:cs typeface="Arial"/>
              <a:sym typeface="Arial"/>
            </a:endParaRPr>
          </a:p>
        </p:txBody>
      </p:sp>
      <p:sp>
        <p:nvSpPr>
          <p:cNvPr id="341" name="Google Shape;341;p13"/>
          <p:cNvSpPr txBox="1"/>
          <p:nvPr/>
        </p:nvSpPr>
        <p:spPr>
          <a:xfrm>
            <a:off x="4414418" y="2468880"/>
            <a:ext cx="3362858"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Memory and reasoning</a:t>
            </a:r>
            <a:endParaRPr b="0" i="0" sz="1800" u="none" cap="none" strike="noStrike">
              <a:solidFill>
                <a:schemeClr val="dk1"/>
              </a:solidFill>
              <a:latin typeface="Arial"/>
              <a:ea typeface="Arial"/>
              <a:cs typeface="Arial"/>
              <a:sym typeface="Arial"/>
            </a:endParaRPr>
          </a:p>
        </p:txBody>
      </p:sp>
      <p:sp>
        <p:nvSpPr>
          <p:cNvPr id="342" name="Google Shape;342;p13"/>
          <p:cNvSpPr txBox="1"/>
          <p:nvPr/>
        </p:nvSpPr>
        <p:spPr>
          <a:xfrm>
            <a:off x="4414418" y="2971800"/>
            <a:ext cx="3362858"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Remembers every request and payout; reasons over the funding rule; detects duplicates and failures</a:t>
            </a:r>
            <a:endParaRPr b="0" i="0" sz="1350" u="none" cap="none" strike="noStrike">
              <a:solidFill>
                <a:schemeClr val="dk1"/>
              </a:solidFill>
              <a:latin typeface="Arial"/>
              <a:ea typeface="Arial"/>
              <a:cs typeface="Arial"/>
              <a:sym typeface="Arial"/>
            </a:endParaRPr>
          </a:p>
        </p:txBody>
      </p:sp>
      <p:cxnSp>
        <p:nvCxnSpPr>
          <p:cNvPr id="343" name="Google Shape;343;p13"/>
          <p:cNvCxnSpPr/>
          <p:nvPr/>
        </p:nvCxnSpPr>
        <p:spPr>
          <a:xfrm>
            <a:off x="8188757" y="1783080"/>
            <a:ext cx="3362858" cy="0"/>
          </a:xfrm>
          <a:prstGeom prst="straightConnector1">
            <a:avLst/>
          </a:prstGeom>
          <a:noFill/>
          <a:ln cap="flat" cmpd="sng" w="9525">
            <a:solidFill>
              <a:srgbClr val="5A5A5A"/>
            </a:solidFill>
            <a:prstDash val="solid"/>
            <a:round/>
            <a:headEnd len="sm" w="sm" type="none"/>
            <a:tailEnd len="sm" w="sm" type="none"/>
          </a:ln>
        </p:spPr>
      </p:cxnSp>
      <p:sp>
        <p:nvSpPr>
          <p:cNvPr id="344" name="Google Shape;344;p13"/>
          <p:cNvSpPr txBox="1"/>
          <p:nvPr/>
        </p:nvSpPr>
        <p:spPr>
          <a:xfrm>
            <a:off x="8188757" y="1947672"/>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4F8DF0"/>
              </a:buClr>
              <a:buSzPts val="1800"/>
              <a:buFont typeface="Arial"/>
              <a:buNone/>
            </a:pPr>
            <a:r>
              <a:rPr b="1" i="0" lang="en-US" sz="1800" u="none" cap="none" strike="noStrike">
                <a:solidFill>
                  <a:srgbClr val="4F8DF0"/>
                </a:solidFill>
                <a:latin typeface="Arial"/>
                <a:ea typeface="Arial"/>
                <a:cs typeface="Arial"/>
                <a:sym typeface="Arial"/>
              </a:rPr>
              <a:t>03</a:t>
            </a:r>
            <a:endParaRPr b="0" i="0" sz="1800" u="none" cap="none" strike="noStrike">
              <a:solidFill>
                <a:schemeClr val="dk1"/>
              </a:solidFill>
              <a:latin typeface="Arial"/>
              <a:ea typeface="Arial"/>
              <a:cs typeface="Arial"/>
              <a:sym typeface="Arial"/>
            </a:endParaRPr>
          </a:p>
        </p:txBody>
      </p:sp>
      <p:sp>
        <p:nvSpPr>
          <p:cNvPr id="345" name="Google Shape;345;p13"/>
          <p:cNvSpPr txBox="1"/>
          <p:nvPr/>
        </p:nvSpPr>
        <p:spPr>
          <a:xfrm>
            <a:off x="8188757" y="2468880"/>
            <a:ext cx="3362858"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Tools</a:t>
            </a:r>
            <a:endParaRPr b="0" i="0" sz="1800" u="none" cap="none" strike="noStrike">
              <a:solidFill>
                <a:schemeClr val="dk1"/>
              </a:solidFill>
              <a:latin typeface="Arial"/>
              <a:ea typeface="Arial"/>
              <a:cs typeface="Arial"/>
              <a:sym typeface="Arial"/>
            </a:endParaRPr>
          </a:p>
        </p:txBody>
      </p:sp>
      <p:sp>
        <p:nvSpPr>
          <p:cNvPr id="346" name="Google Shape;346;p13"/>
          <p:cNvSpPr txBox="1"/>
          <p:nvPr/>
        </p:nvSpPr>
        <p:spPr>
          <a:xfrm>
            <a:off x="8188757" y="2971800"/>
            <a:ext cx="3362858"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Stellar testnet, the ledger store, a simulated NEAR Intents quote</a:t>
            </a:r>
            <a:endParaRPr b="0" i="0" sz="1350" u="none" cap="none" strike="noStrike">
              <a:solidFill>
                <a:schemeClr val="dk1"/>
              </a:solidFill>
              <a:latin typeface="Arial"/>
              <a:ea typeface="Arial"/>
              <a:cs typeface="Arial"/>
              <a:sym typeface="Arial"/>
            </a:endParaRPr>
          </a:p>
        </p:txBody>
      </p:sp>
      <p:sp>
        <p:nvSpPr>
          <p:cNvPr id="347" name="Google Shape;347;p13"/>
          <p:cNvSpPr/>
          <p:nvPr/>
        </p:nvSpPr>
        <p:spPr>
          <a:xfrm>
            <a:off x="640080" y="4572000"/>
            <a:ext cx="10911535" cy="1600200"/>
          </a:xfrm>
          <a:prstGeom prst="rect">
            <a:avLst/>
          </a:prstGeom>
          <a:solidFill>
            <a:srgbClr val="111111"/>
          </a:solidFill>
          <a:ln cap="flat" cmpd="sng" w="9525">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
          <p:cNvSpPr/>
          <p:nvPr/>
        </p:nvSpPr>
        <p:spPr>
          <a:xfrm>
            <a:off x="640080" y="4572000"/>
            <a:ext cx="10911535" cy="32004"/>
          </a:xfrm>
          <a:prstGeom prst="rect">
            <a:avLst/>
          </a:prstGeom>
          <a:solidFill>
            <a:srgbClr val="F7B8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3"/>
          <p:cNvSpPr txBox="1"/>
          <p:nvPr/>
        </p:nvSpPr>
        <p:spPr>
          <a:xfrm>
            <a:off x="1005840" y="4800600"/>
            <a:ext cx="54864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EXAMPLE FUNDING RULE</a:t>
            </a:r>
            <a:endParaRPr b="0" i="0" sz="950" u="none" cap="none" strike="noStrike">
              <a:solidFill>
                <a:schemeClr val="dk1"/>
              </a:solidFill>
              <a:latin typeface="Arial"/>
              <a:ea typeface="Arial"/>
              <a:cs typeface="Arial"/>
              <a:sym typeface="Arial"/>
            </a:endParaRPr>
          </a:p>
        </p:txBody>
      </p:sp>
      <p:sp>
        <p:nvSpPr>
          <p:cNvPr id="350" name="Google Shape;350;p13"/>
          <p:cNvSpPr txBox="1"/>
          <p:nvPr/>
        </p:nvSpPr>
        <p:spPr>
          <a:xfrm>
            <a:off x="1005840" y="5074920"/>
            <a:ext cx="10180015" cy="9601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350"/>
              <a:buFont typeface="Arial"/>
              <a:buNone/>
            </a:pPr>
            <a:r>
              <a:rPr b="0" i="0" lang="en-US" sz="1350" u="none" cap="none" strike="noStrike">
                <a:solidFill>
                  <a:srgbClr val="FFFFFF"/>
                </a:solidFill>
                <a:latin typeface="Arial"/>
                <a:ea typeface="Arial"/>
                <a:cs typeface="Arial"/>
                <a:sym typeface="Arial"/>
              </a:rPr>
              <a:t>Release funds in proportion to eligible teams. 20 eligible teams out of a 50-team target is 40%. A $1,700 fund then gives $680 for awards and $1,020 reserved for the next event, before fees. Publish the rule before registration.</a:t>
            </a:r>
            <a:endParaRPr b="0" i="0" sz="1350" u="none" cap="none" strike="noStrike">
              <a:solidFill>
                <a:schemeClr val="dk1"/>
              </a:solidFill>
              <a:latin typeface="Arial"/>
              <a:ea typeface="Arial"/>
              <a:cs typeface="Arial"/>
              <a:sym typeface="Arial"/>
            </a:endParaRPr>
          </a:p>
        </p:txBody>
      </p:sp>
      <p:sp>
        <p:nvSpPr>
          <p:cNvPr id="351" name="Google Shape;351;p13"/>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4"/>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02 · DEMO AND CHECKLIST</a:t>
            </a:r>
            <a:endParaRPr b="0" i="0" sz="950" u="none" cap="none" strike="noStrike">
              <a:solidFill>
                <a:schemeClr val="dk1"/>
              </a:solidFill>
              <a:latin typeface="Arial"/>
              <a:ea typeface="Arial"/>
              <a:cs typeface="Arial"/>
              <a:sym typeface="Arial"/>
            </a:endParaRPr>
          </a:p>
        </p:txBody>
      </p:sp>
      <p:sp>
        <p:nvSpPr>
          <p:cNvPr id="358" name="Google Shape;358;p14"/>
          <p:cNvSpPr txBox="1"/>
          <p:nvPr/>
        </p:nvSpPr>
        <p:spPr>
          <a:xfrm>
            <a:off x="640080" y="914400"/>
            <a:ext cx="10911535"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Track 02. </a:t>
            </a:r>
            <a:r>
              <a:rPr b="1" i="0" lang="en-US" sz="3200" u="none" cap="none" strike="noStrike">
                <a:solidFill>
                  <a:srgbClr val="F2596B"/>
                </a:solidFill>
                <a:latin typeface="Arial"/>
                <a:ea typeface="Arial"/>
                <a:cs typeface="Arial"/>
                <a:sym typeface="Arial"/>
              </a:rPr>
              <a:t>S</a:t>
            </a:r>
            <a:r>
              <a:rPr b="1" i="0" lang="en-US" sz="3200" u="none" cap="none" strike="noStrike">
                <a:solidFill>
                  <a:srgbClr val="F36C68"/>
                </a:solidFill>
                <a:latin typeface="Arial"/>
                <a:ea typeface="Arial"/>
                <a:cs typeface="Arial"/>
                <a:sym typeface="Arial"/>
              </a:rPr>
              <a:t>h</a:t>
            </a:r>
            <a:r>
              <a:rPr b="1" i="0" lang="en-US" sz="3200" u="none" cap="none" strike="noStrike">
                <a:solidFill>
                  <a:srgbClr val="F47F65"/>
                </a:solidFill>
                <a:latin typeface="Arial"/>
                <a:ea typeface="Arial"/>
                <a:cs typeface="Arial"/>
                <a:sym typeface="Arial"/>
              </a:rPr>
              <a:t>o</a:t>
            </a:r>
            <a:r>
              <a:rPr b="1" i="0" lang="en-US" sz="3200" u="none" cap="none" strike="noStrike">
                <a:solidFill>
                  <a:srgbClr val="F59262"/>
                </a:solidFill>
                <a:latin typeface="Arial"/>
                <a:ea typeface="Arial"/>
                <a:cs typeface="Arial"/>
                <a:sym typeface="Arial"/>
              </a:rPr>
              <a:t>w</a:t>
            </a:r>
            <a:r>
              <a:rPr b="1" i="0" lang="en-US" sz="3200" u="none" cap="none" strike="noStrike">
                <a:solidFill>
                  <a:srgbClr val="FFFFFF"/>
                </a:solidFill>
                <a:latin typeface="Arial"/>
                <a:ea typeface="Arial"/>
                <a:cs typeface="Arial"/>
                <a:sym typeface="Arial"/>
              </a:rPr>
              <a:t> </a:t>
            </a:r>
            <a:r>
              <a:rPr b="1" i="0" lang="en-US" sz="3200" u="none" cap="none" strike="noStrike">
                <a:solidFill>
                  <a:srgbClr val="F6A55F"/>
                </a:solidFill>
                <a:latin typeface="Arial"/>
                <a:ea typeface="Arial"/>
                <a:cs typeface="Arial"/>
                <a:sym typeface="Arial"/>
              </a:rPr>
              <a:t>i</a:t>
            </a:r>
            <a:r>
              <a:rPr b="1" i="0" lang="en-US" sz="3200" u="none" cap="none" strike="noStrike">
                <a:solidFill>
                  <a:srgbClr val="F7B85C"/>
                </a:solidFill>
                <a:latin typeface="Arial"/>
                <a:ea typeface="Arial"/>
                <a:cs typeface="Arial"/>
                <a:sym typeface="Arial"/>
              </a:rPr>
              <a:t>t</a:t>
            </a:r>
            <a:r>
              <a:rPr b="1" i="0" lang="en-US" sz="3200" u="none" cap="none" strike="noStrike">
                <a:solidFill>
                  <a:srgbClr val="FFFFFF"/>
                </a:solidFill>
                <a:latin typeface="Arial"/>
                <a:ea typeface="Arial"/>
                <a:cs typeface="Arial"/>
                <a:sym typeface="Arial"/>
              </a:rPr>
              <a:t> </a:t>
            </a:r>
            <a:r>
              <a:rPr b="1" i="0" lang="en-US" sz="3200" u="none" cap="none" strike="noStrike">
                <a:solidFill>
                  <a:srgbClr val="D2BE68"/>
                </a:solidFill>
                <a:latin typeface="Arial"/>
                <a:ea typeface="Arial"/>
                <a:cs typeface="Arial"/>
                <a:sym typeface="Arial"/>
              </a:rPr>
              <a:t>i</a:t>
            </a:r>
            <a:r>
              <a:rPr b="1" i="0" lang="en-US" sz="3200" u="none" cap="none" strike="noStrike">
                <a:solidFill>
                  <a:srgbClr val="ADC474"/>
                </a:solidFill>
                <a:latin typeface="Arial"/>
                <a:ea typeface="Arial"/>
                <a:cs typeface="Arial"/>
                <a:sym typeface="Arial"/>
              </a:rPr>
              <a:t>n</a:t>
            </a:r>
            <a:r>
              <a:rPr b="1" i="0" lang="en-US" sz="3200" u="none" cap="none" strike="noStrike">
                <a:solidFill>
                  <a:srgbClr val="FFFFFF"/>
                </a:solidFill>
                <a:latin typeface="Arial"/>
                <a:ea typeface="Arial"/>
                <a:cs typeface="Arial"/>
                <a:sym typeface="Arial"/>
              </a:rPr>
              <a:t> </a:t>
            </a:r>
            <a:r>
              <a:rPr b="1" i="0" lang="en-US" sz="3200" u="none" cap="none" strike="noStrike">
                <a:solidFill>
                  <a:srgbClr val="88C980"/>
                </a:solidFill>
                <a:latin typeface="Arial"/>
                <a:ea typeface="Arial"/>
                <a:cs typeface="Arial"/>
                <a:sym typeface="Arial"/>
              </a:rPr>
              <a:t>t</a:t>
            </a:r>
            <a:r>
              <a:rPr b="1" i="0" lang="en-US" sz="3200" u="none" cap="none" strike="noStrike">
                <a:solidFill>
                  <a:srgbClr val="63CF8C"/>
                </a:solidFill>
                <a:latin typeface="Arial"/>
                <a:ea typeface="Arial"/>
                <a:cs typeface="Arial"/>
                <a:sym typeface="Arial"/>
              </a:rPr>
              <a:t>h</a:t>
            </a:r>
            <a:r>
              <a:rPr b="1" i="0" lang="en-US" sz="3200" u="none" cap="none" strike="noStrike">
                <a:solidFill>
                  <a:srgbClr val="3ED598"/>
                </a:solidFill>
                <a:latin typeface="Arial"/>
                <a:ea typeface="Arial"/>
                <a:cs typeface="Arial"/>
                <a:sym typeface="Arial"/>
              </a:rPr>
              <a:t>r</a:t>
            </a:r>
            <a:r>
              <a:rPr b="1" i="0" lang="en-US" sz="3200" u="none" cap="none" strike="noStrike">
                <a:solidFill>
                  <a:srgbClr val="41C7AA"/>
                </a:solidFill>
                <a:latin typeface="Arial"/>
                <a:ea typeface="Arial"/>
                <a:cs typeface="Arial"/>
                <a:sym typeface="Arial"/>
              </a:rPr>
              <a:t>e</a:t>
            </a:r>
            <a:r>
              <a:rPr b="1" i="0" lang="en-US" sz="3200" u="none" cap="none" strike="noStrike">
                <a:solidFill>
                  <a:srgbClr val="45B8BB"/>
                </a:solidFill>
                <a:latin typeface="Arial"/>
                <a:ea typeface="Arial"/>
                <a:cs typeface="Arial"/>
                <a:sym typeface="Arial"/>
              </a:rPr>
              <a:t>e</a:t>
            </a:r>
            <a:r>
              <a:rPr b="1" i="0" lang="en-US" sz="3200" u="none" cap="none" strike="noStrike">
                <a:solidFill>
                  <a:srgbClr val="FFFFFF"/>
                </a:solidFill>
                <a:latin typeface="Arial"/>
                <a:ea typeface="Arial"/>
                <a:cs typeface="Arial"/>
                <a:sym typeface="Arial"/>
              </a:rPr>
              <a:t> </a:t>
            </a:r>
            <a:r>
              <a:rPr b="1" i="0" lang="en-US" sz="3200" u="none" cap="none" strike="noStrike">
                <a:solidFill>
                  <a:srgbClr val="48AACD"/>
                </a:solidFill>
                <a:latin typeface="Arial"/>
                <a:ea typeface="Arial"/>
                <a:cs typeface="Arial"/>
                <a:sym typeface="Arial"/>
              </a:rPr>
              <a:t>m</a:t>
            </a:r>
            <a:r>
              <a:rPr b="1" i="0" lang="en-US" sz="3200" u="none" cap="none" strike="noStrike">
                <a:solidFill>
                  <a:srgbClr val="4C9BDE"/>
                </a:solidFill>
                <a:latin typeface="Arial"/>
                <a:ea typeface="Arial"/>
                <a:cs typeface="Arial"/>
                <a:sym typeface="Arial"/>
              </a:rPr>
              <a:t>i</a:t>
            </a:r>
            <a:r>
              <a:rPr b="1" i="0" lang="en-US" sz="3200" u="none" cap="none" strike="noStrike">
                <a:solidFill>
                  <a:srgbClr val="4F8DF0"/>
                </a:solidFill>
                <a:latin typeface="Arial"/>
                <a:ea typeface="Arial"/>
                <a:cs typeface="Arial"/>
                <a:sym typeface="Arial"/>
              </a:rPr>
              <a:t>n</a:t>
            </a:r>
            <a:r>
              <a:rPr b="1" i="0" lang="en-US" sz="3200" u="none" cap="none" strike="noStrike">
                <a:solidFill>
                  <a:srgbClr val="6086F0"/>
                </a:solidFill>
                <a:latin typeface="Arial"/>
                <a:ea typeface="Arial"/>
                <a:cs typeface="Arial"/>
                <a:sym typeface="Arial"/>
              </a:rPr>
              <a:t>u</a:t>
            </a:r>
            <a:r>
              <a:rPr b="1" i="0" lang="en-US" sz="3200" u="none" cap="none" strike="noStrike">
                <a:solidFill>
                  <a:srgbClr val="7180F0"/>
                </a:solidFill>
                <a:latin typeface="Arial"/>
                <a:ea typeface="Arial"/>
                <a:cs typeface="Arial"/>
                <a:sym typeface="Arial"/>
              </a:rPr>
              <a:t>t</a:t>
            </a:r>
            <a:r>
              <a:rPr b="1" i="0" lang="en-US" sz="3200" u="none" cap="none" strike="noStrike">
                <a:solidFill>
                  <a:srgbClr val="8379F0"/>
                </a:solidFill>
                <a:latin typeface="Arial"/>
                <a:ea typeface="Arial"/>
                <a:cs typeface="Arial"/>
                <a:sym typeface="Arial"/>
              </a:rPr>
              <a:t>e</a:t>
            </a:r>
            <a:r>
              <a:rPr b="1" i="0" lang="en-US" sz="3200" u="none" cap="none" strike="noStrike">
                <a:solidFill>
                  <a:srgbClr val="9473F0"/>
                </a:solidFill>
                <a:latin typeface="Arial"/>
                <a:ea typeface="Arial"/>
                <a:cs typeface="Arial"/>
                <a:sym typeface="Arial"/>
              </a:rPr>
              <a:t>s</a:t>
            </a:r>
            <a:r>
              <a:rPr b="1" i="0" lang="en-US" sz="3200" u="none" cap="none" strike="noStrike">
                <a:solidFill>
                  <a:srgbClr val="A56CF0"/>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
        <p:nvSpPr>
          <p:cNvPr id="359" name="Google Shape;359;p14"/>
          <p:cNvSpPr txBox="1"/>
          <p:nvPr/>
        </p:nvSpPr>
        <p:spPr>
          <a:xfrm>
            <a:off x="8808415" y="1097280"/>
            <a:ext cx="2743200" cy="274320"/>
          </a:xfrm>
          <a:prstGeom prst="rect">
            <a:avLst/>
          </a:prstGeom>
          <a:noFill/>
          <a:ln>
            <a:noFill/>
          </a:ln>
        </p:spPr>
        <p:txBody>
          <a:bodyPr anchorCtr="0" anchor="ctr" bIns="0" lIns="0" spcFirstLastPara="1" rIns="0" wrap="square" tIns="0">
            <a:noAutofit/>
          </a:bodyPr>
          <a:lstStyle/>
          <a:p>
            <a:pPr indent="0" lvl="0" marL="0" marR="0" rtl="0" algn="r">
              <a:lnSpc>
                <a:spcPct val="112000"/>
              </a:lnSpc>
              <a:spcBef>
                <a:spcPts val="0"/>
              </a:spcBef>
              <a:spcAft>
                <a:spcPts val="0"/>
              </a:spcAft>
              <a:buClr>
                <a:srgbClr val="4F8DF0"/>
              </a:buClr>
              <a:buSzPts val="1000"/>
              <a:buFont typeface="Courier New"/>
              <a:buNone/>
            </a:pPr>
            <a:r>
              <a:rPr b="1" i="0" lang="en-US" sz="1000" u="none" cap="none" strike="noStrike">
                <a:solidFill>
                  <a:srgbClr val="4F8DF0"/>
                </a:solidFill>
                <a:latin typeface="Courier New"/>
                <a:ea typeface="Courier New"/>
                <a:cs typeface="Courier New"/>
                <a:sym typeface="Courier New"/>
              </a:rPr>
              <a:t>Stellar testnet · Raven</a:t>
            </a:r>
            <a:endParaRPr b="0" i="0" sz="1000" u="none" cap="none" strike="noStrike">
              <a:solidFill>
                <a:schemeClr val="dk1"/>
              </a:solidFill>
              <a:latin typeface="Arial"/>
              <a:ea typeface="Arial"/>
              <a:cs typeface="Arial"/>
              <a:sym typeface="Arial"/>
            </a:endParaRPr>
          </a:p>
        </p:txBody>
      </p:sp>
      <p:sp>
        <p:nvSpPr>
          <p:cNvPr id="360" name="Google Shape;360;p14"/>
          <p:cNvSpPr txBox="1"/>
          <p:nvPr/>
        </p:nvSpPr>
        <p:spPr>
          <a:xfrm>
            <a:off x="640080" y="1783080"/>
            <a:ext cx="52578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DEMO SCRIPT (3 MINUTES)</a:t>
            </a:r>
            <a:endParaRPr b="0" i="0" sz="950" u="none" cap="none" strike="noStrike">
              <a:solidFill>
                <a:schemeClr val="dk1"/>
              </a:solidFill>
              <a:latin typeface="Arial"/>
              <a:ea typeface="Arial"/>
              <a:cs typeface="Arial"/>
              <a:sym typeface="Arial"/>
            </a:endParaRPr>
          </a:p>
        </p:txBody>
      </p:sp>
      <p:cxnSp>
        <p:nvCxnSpPr>
          <p:cNvPr id="361" name="Google Shape;361;p14"/>
          <p:cNvCxnSpPr/>
          <p:nvPr/>
        </p:nvCxnSpPr>
        <p:spPr>
          <a:xfrm>
            <a:off x="640080" y="2103120"/>
            <a:ext cx="5257800" cy="0"/>
          </a:xfrm>
          <a:prstGeom prst="straightConnector1">
            <a:avLst/>
          </a:prstGeom>
          <a:noFill/>
          <a:ln cap="flat" cmpd="sng" w="9525">
            <a:solidFill>
              <a:srgbClr val="5A5A5A"/>
            </a:solidFill>
            <a:prstDash val="solid"/>
            <a:round/>
            <a:headEnd len="sm" w="sm" type="none"/>
            <a:tailEnd len="sm" w="sm" type="none"/>
          </a:ln>
        </p:spPr>
      </p:cxnSp>
      <p:sp>
        <p:nvSpPr>
          <p:cNvPr id="362" name="Google Shape;362;p14"/>
          <p:cNvSpPr txBox="1"/>
          <p:nvPr/>
        </p:nvSpPr>
        <p:spPr>
          <a:xfrm>
            <a:off x="640080" y="2157984"/>
            <a:ext cx="365760" cy="4572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4F8DF0"/>
              </a:buClr>
              <a:buSzPts val="1500"/>
              <a:buFont typeface="Arial"/>
              <a:buNone/>
            </a:pPr>
            <a:r>
              <a:rPr b="1" i="0" lang="en-US" sz="1500" u="none" cap="none" strike="noStrike">
                <a:solidFill>
                  <a:srgbClr val="4F8DF0"/>
                </a:solidFill>
                <a:latin typeface="Arial"/>
                <a:ea typeface="Arial"/>
                <a:cs typeface="Arial"/>
                <a:sym typeface="Arial"/>
              </a:rPr>
              <a:t>1</a:t>
            </a:r>
            <a:endParaRPr b="0" i="0" sz="1500" u="none" cap="none" strike="noStrike">
              <a:solidFill>
                <a:schemeClr val="dk1"/>
              </a:solidFill>
              <a:latin typeface="Arial"/>
              <a:ea typeface="Arial"/>
              <a:cs typeface="Arial"/>
              <a:sym typeface="Arial"/>
            </a:endParaRPr>
          </a:p>
        </p:txBody>
      </p:sp>
      <p:sp>
        <p:nvSpPr>
          <p:cNvPr id="363" name="Google Shape;363;p14"/>
          <p:cNvSpPr txBox="1"/>
          <p:nvPr/>
        </p:nvSpPr>
        <p:spPr>
          <a:xfrm>
            <a:off x="1051560" y="2148840"/>
            <a:ext cx="4846320" cy="47548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Show the published rule: target, eligible count, cutoff and organiser attestation.</a:t>
            </a:r>
            <a:endParaRPr b="0" i="0" sz="1200" u="none" cap="none" strike="noStrike">
              <a:solidFill>
                <a:schemeClr val="dk1"/>
              </a:solidFill>
              <a:latin typeface="Arial"/>
              <a:ea typeface="Arial"/>
              <a:cs typeface="Arial"/>
              <a:sym typeface="Arial"/>
            </a:endParaRPr>
          </a:p>
        </p:txBody>
      </p:sp>
      <p:cxnSp>
        <p:nvCxnSpPr>
          <p:cNvPr id="364" name="Google Shape;364;p14"/>
          <p:cNvCxnSpPr/>
          <p:nvPr/>
        </p:nvCxnSpPr>
        <p:spPr>
          <a:xfrm>
            <a:off x="640080" y="2651760"/>
            <a:ext cx="5257800" cy="0"/>
          </a:xfrm>
          <a:prstGeom prst="straightConnector1">
            <a:avLst/>
          </a:prstGeom>
          <a:noFill/>
          <a:ln cap="flat" cmpd="sng" w="9525">
            <a:solidFill>
              <a:srgbClr val="262626"/>
            </a:solidFill>
            <a:prstDash val="solid"/>
            <a:round/>
            <a:headEnd len="sm" w="sm" type="none"/>
            <a:tailEnd len="sm" w="sm" type="none"/>
          </a:ln>
        </p:spPr>
      </p:cxnSp>
      <p:sp>
        <p:nvSpPr>
          <p:cNvPr id="365" name="Google Shape;365;p14"/>
          <p:cNvSpPr txBox="1"/>
          <p:nvPr/>
        </p:nvSpPr>
        <p:spPr>
          <a:xfrm>
            <a:off x="640080" y="2706624"/>
            <a:ext cx="365760" cy="4572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4F8DF0"/>
              </a:buClr>
              <a:buSzPts val="1500"/>
              <a:buFont typeface="Arial"/>
              <a:buNone/>
            </a:pPr>
            <a:r>
              <a:rPr b="1" i="0" lang="en-US" sz="1500" u="none" cap="none" strike="noStrike">
                <a:solidFill>
                  <a:srgbClr val="4F8DF0"/>
                </a:solidFill>
                <a:latin typeface="Arial"/>
                <a:ea typeface="Arial"/>
                <a:cs typeface="Arial"/>
                <a:sym typeface="Arial"/>
              </a:rPr>
              <a:t>2</a:t>
            </a:r>
            <a:endParaRPr b="0" i="0" sz="1500" u="none" cap="none" strike="noStrike">
              <a:solidFill>
                <a:schemeClr val="dk1"/>
              </a:solidFill>
              <a:latin typeface="Arial"/>
              <a:ea typeface="Arial"/>
              <a:cs typeface="Arial"/>
              <a:sym typeface="Arial"/>
            </a:endParaRPr>
          </a:p>
        </p:txBody>
      </p:sp>
      <p:sp>
        <p:nvSpPr>
          <p:cNvPr id="366" name="Google Shape;366;p14"/>
          <p:cNvSpPr txBox="1"/>
          <p:nvPr/>
        </p:nvSpPr>
        <p:spPr>
          <a:xfrm>
            <a:off x="1051560" y="2697480"/>
            <a:ext cx="4846320" cy="47548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The agent proposes payouts: recipient, asset, quote and fees. The organiser approves.</a:t>
            </a:r>
            <a:endParaRPr b="0" i="0" sz="1200" u="none" cap="none" strike="noStrike">
              <a:solidFill>
                <a:schemeClr val="dk1"/>
              </a:solidFill>
              <a:latin typeface="Arial"/>
              <a:ea typeface="Arial"/>
              <a:cs typeface="Arial"/>
              <a:sym typeface="Arial"/>
            </a:endParaRPr>
          </a:p>
        </p:txBody>
      </p:sp>
      <p:cxnSp>
        <p:nvCxnSpPr>
          <p:cNvPr id="367" name="Google Shape;367;p14"/>
          <p:cNvCxnSpPr/>
          <p:nvPr/>
        </p:nvCxnSpPr>
        <p:spPr>
          <a:xfrm>
            <a:off x="640080" y="3200400"/>
            <a:ext cx="5257800" cy="0"/>
          </a:xfrm>
          <a:prstGeom prst="straightConnector1">
            <a:avLst/>
          </a:prstGeom>
          <a:noFill/>
          <a:ln cap="flat" cmpd="sng" w="9525">
            <a:solidFill>
              <a:srgbClr val="262626"/>
            </a:solidFill>
            <a:prstDash val="solid"/>
            <a:round/>
            <a:headEnd len="sm" w="sm" type="none"/>
            <a:tailEnd len="sm" w="sm" type="none"/>
          </a:ln>
        </p:spPr>
      </p:cxnSp>
      <p:sp>
        <p:nvSpPr>
          <p:cNvPr id="368" name="Google Shape;368;p14"/>
          <p:cNvSpPr txBox="1"/>
          <p:nvPr/>
        </p:nvSpPr>
        <p:spPr>
          <a:xfrm>
            <a:off x="640080" y="3255264"/>
            <a:ext cx="365760" cy="4572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4F8DF0"/>
              </a:buClr>
              <a:buSzPts val="1500"/>
              <a:buFont typeface="Arial"/>
              <a:buNone/>
            </a:pPr>
            <a:r>
              <a:rPr b="1" i="0" lang="en-US" sz="1500" u="none" cap="none" strike="noStrike">
                <a:solidFill>
                  <a:srgbClr val="4F8DF0"/>
                </a:solidFill>
                <a:latin typeface="Arial"/>
                <a:ea typeface="Arial"/>
                <a:cs typeface="Arial"/>
                <a:sym typeface="Arial"/>
              </a:rPr>
              <a:t>3</a:t>
            </a:r>
            <a:endParaRPr b="0" i="0" sz="1500" u="none" cap="none" strike="noStrike">
              <a:solidFill>
                <a:schemeClr val="dk1"/>
              </a:solidFill>
              <a:latin typeface="Arial"/>
              <a:ea typeface="Arial"/>
              <a:cs typeface="Arial"/>
              <a:sym typeface="Arial"/>
            </a:endParaRPr>
          </a:p>
        </p:txBody>
      </p:sp>
      <p:sp>
        <p:nvSpPr>
          <p:cNvPr id="369" name="Google Shape;369;p14"/>
          <p:cNvSpPr txBox="1"/>
          <p:nvPr/>
        </p:nvSpPr>
        <p:spPr>
          <a:xfrm>
            <a:off x="1051560" y="3246120"/>
            <a:ext cx="4846320" cy="47548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Payouts settle on testnet. Each appears on the ledger with a receipt.</a:t>
            </a:r>
            <a:endParaRPr b="0" i="0" sz="1200" u="none" cap="none" strike="noStrike">
              <a:solidFill>
                <a:schemeClr val="dk1"/>
              </a:solidFill>
              <a:latin typeface="Arial"/>
              <a:ea typeface="Arial"/>
              <a:cs typeface="Arial"/>
              <a:sym typeface="Arial"/>
            </a:endParaRPr>
          </a:p>
        </p:txBody>
      </p:sp>
      <p:cxnSp>
        <p:nvCxnSpPr>
          <p:cNvPr id="370" name="Google Shape;370;p14"/>
          <p:cNvCxnSpPr/>
          <p:nvPr/>
        </p:nvCxnSpPr>
        <p:spPr>
          <a:xfrm>
            <a:off x="640080" y="3749040"/>
            <a:ext cx="5257800" cy="0"/>
          </a:xfrm>
          <a:prstGeom prst="straightConnector1">
            <a:avLst/>
          </a:prstGeom>
          <a:noFill/>
          <a:ln cap="flat" cmpd="sng" w="9525">
            <a:solidFill>
              <a:srgbClr val="262626"/>
            </a:solidFill>
            <a:prstDash val="solid"/>
            <a:round/>
            <a:headEnd len="sm" w="sm" type="none"/>
            <a:tailEnd len="sm" w="sm" type="none"/>
          </a:ln>
        </p:spPr>
      </p:cxnSp>
      <p:sp>
        <p:nvSpPr>
          <p:cNvPr id="371" name="Google Shape;371;p14"/>
          <p:cNvSpPr txBox="1"/>
          <p:nvPr/>
        </p:nvSpPr>
        <p:spPr>
          <a:xfrm>
            <a:off x="640080" y="3803904"/>
            <a:ext cx="365760" cy="4572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4F8DF0"/>
              </a:buClr>
              <a:buSzPts val="1500"/>
              <a:buFont typeface="Arial"/>
              <a:buNone/>
            </a:pPr>
            <a:r>
              <a:rPr b="1" i="0" lang="en-US" sz="1500" u="none" cap="none" strike="noStrike">
                <a:solidFill>
                  <a:srgbClr val="4F8DF0"/>
                </a:solidFill>
                <a:latin typeface="Arial"/>
                <a:ea typeface="Arial"/>
                <a:cs typeface="Arial"/>
                <a:sym typeface="Arial"/>
              </a:rPr>
              <a:t>4</a:t>
            </a:r>
            <a:endParaRPr b="0" i="0" sz="1500" u="none" cap="none" strike="noStrike">
              <a:solidFill>
                <a:schemeClr val="dk1"/>
              </a:solidFill>
              <a:latin typeface="Arial"/>
              <a:ea typeface="Arial"/>
              <a:cs typeface="Arial"/>
              <a:sym typeface="Arial"/>
            </a:endParaRPr>
          </a:p>
        </p:txBody>
      </p:sp>
      <p:sp>
        <p:nvSpPr>
          <p:cNvPr id="372" name="Google Shape;372;p14"/>
          <p:cNvSpPr txBox="1"/>
          <p:nvPr/>
        </p:nvSpPr>
        <p:spPr>
          <a:xfrm>
            <a:off x="1051560" y="3794760"/>
            <a:ext cx="4846320" cy="47548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Submit a duplicate request and a failing one. Show both handled and recorded.</a:t>
            </a:r>
            <a:endParaRPr b="0" i="0" sz="1200" u="none" cap="none" strike="noStrike">
              <a:solidFill>
                <a:schemeClr val="dk1"/>
              </a:solidFill>
              <a:latin typeface="Arial"/>
              <a:ea typeface="Arial"/>
              <a:cs typeface="Arial"/>
              <a:sym typeface="Arial"/>
            </a:endParaRPr>
          </a:p>
        </p:txBody>
      </p:sp>
      <p:cxnSp>
        <p:nvCxnSpPr>
          <p:cNvPr id="373" name="Google Shape;373;p14"/>
          <p:cNvCxnSpPr/>
          <p:nvPr/>
        </p:nvCxnSpPr>
        <p:spPr>
          <a:xfrm>
            <a:off x="640080" y="4297680"/>
            <a:ext cx="5257800" cy="0"/>
          </a:xfrm>
          <a:prstGeom prst="straightConnector1">
            <a:avLst/>
          </a:prstGeom>
          <a:noFill/>
          <a:ln cap="flat" cmpd="sng" w="9525">
            <a:solidFill>
              <a:srgbClr val="262626"/>
            </a:solidFill>
            <a:prstDash val="solid"/>
            <a:round/>
            <a:headEnd len="sm" w="sm" type="none"/>
            <a:tailEnd len="sm" w="sm" type="none"/>
          </a:ln>
        </p:spPr>
      </p:cxnSp>
      <p:sp>
        <p:nvSpPr>
          <p:cNvPr id="374" name="Google Shape;374;p14"/>
          <p:cNvSpPr txBox="1"/>
          <p:nvPr/>
        </p:nvSpPr>
        <p:spPr>
          <a:xfrm>
            <a:off x="640080" y="4352544"/>
            <a:ext cx="365760" cy="4572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4F8DF0"/>
              </a:buClr>
              <a:buSzPts val="1500"/>
              <a:buFont typeface="Arial"/>
              <a:buNone/>
            </a:pPr>
            <a:r>
              <a:rPr b="1" i="0" lang="en-US" sz="1500" u="none" cap="none" strike="noStrike">
                <a:solidFill>
                  <a:srgbClr val="4F8DF0"/>
                </a:solidFill>
                <a:latin typeface="Arial"/>
                <a:ea typeface="Arial"/>
                <a:cs typeface="Arial"/>
                <a:sym typeface="Arial"/>
              </a:rPr>
              <a:t>5</a:t>
            </a:r>
            <a:endParaRPr b="0" i="0" sz="1500" u="none" cap="none" strike="noStrike">
              <a:solidFill>
                <a:schemeClr val="dk1"/>
              </a:solidFill>
              <a:latin typeface="Arial"/>
              <a:ea typeface="Arial"/>
              <a:cs typeface="Arial"/>
              <a:sym typeface="Arial"/>
            </a:endParaRPr>
          </a:p>
        </p:txBody>
      </p:sp>
      <p:sp>
        <p:nvSpPr>
          <p:cNvPr id="375" name="Google Shape;375;p14"/>
          <p:cNvSpPr txBox="1"/>
          <p:nvPr/>
        </p:nvSpPr>
        <p:spPr>
          <a:xfrm>
            <a:off x="1051560" y="4343400"/>
            <a:ext cx="4846320" cy="47548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Show the reserve carried forward to the next event.</a:t>
            </a:r>
            <a:endParaRPr b="0" i="0" sz="1200" u="none" cap="none" strike="noStrike">
              <a:solidFill>
                <a:schemeClr val="dk1"/>
              </a:solidFill>
              <a:latin typeface="Arial"/>
              <a:ea typeface="Arial"/>
              <a:cs typeface="Arial"/>
              <a:sym typeface="Arial"/>
            </a:endParaRPr>
          </a:p>
        </p:txBody>
      </p:sp>
      <p:sp>
        <p:nvSpPr>
          <p:cNvPr id="376" name="Google Shape;376;p14"/>
          <p:cNvSpPr txBox="1"/>
          <p:nvPr/>
        </p:nvSpPr>
        <p:spPr>
          <a:xfrm>
            <a:off x="6355080" y="1783080"/>
            <a:ext cx="5196535"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SHOWCASE CHECKLIST</a:t>
            </a:r>
            <a:endParaRPr b="0" i="0" sz="950" u="none" cap="none" strike="noStrike">
              <a:solidFill>
                <a:schemeClr val="dk1"/>
              </a:solidFill>
              <a:latin typeface="Arial"/>
              <a:ea typeface="Arial"/>
              <a:cs typeface="Arial"/>
              <a:sym typeface="Arial"/>
            </a:endParaRPr>
          </a:p>
        </p:txBody>
      </p:sp>
      <p:cxnSp>
        <p:nvCxnSpPr>
          <p:cNvPr id="377" name="Google Shape;377;p14"/>
          <p:cNvCxnSpPr/>
          <p:nvPr/>
        </p:nvCxnSpPr>
        <p:spPr>
          <a:xfrm>
            <a:off x="6355080" y="2103120"/>
            <a:ext cx="5196535" cy="0"/>
          </a:xfrm>
          <a:prstGeom prst="straightConnector1">
            <a:avLst/>
          </a:prstGeom>
          <a:noFill/>
          <a:ln cap="flat" cmpd="sng" w="9525">
            <a:solidFill>
              <a:srgbClr val="5A5A5A"/>
            </a:solidFill>
            <a:prstDash val="solid"/>
            <a:round/>
            <a:headEnd len="sm" w="sm" type="none"/>
            <a:tailEnd len="sm" w="sm" type="none"/>
          </a:ln>
        </p:spPr>
      </p:cxnSp>
      <p:sp>
        <p:nvSpPr>
          <p:cNvPr id="378" name="Google Shape;378;p14"/>
          <p:cNvSpPr/>
          <p:nvPr/>
        </p:nvSpPr>
        <p:spPr>
          <a:xfrm>
            <a:off x="6355080" y="2221992"/>
            <a:ext cx="164592" cy="164592"/>
          </a:xfrm>
          <a:prstGeom prst="rect">
            <a:avLst/>
          </a:prstGeom>
          <a:solidFill>
            <a:srgbClr val="0A0A0A"/>
          </a:solidFill>
          <a:ln cap="flat" cmpd="sng" w="12700">
            <a:solidFill>
              <a:srgbClr val="4F8D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4"/>
          <p:cNvSpPr txBox="1"/>
          <p:nvPr/>
        </p:nvSpPr>
        <p:spPr>
          <a:xfrm>
            <a:off x="6675120" y="2139696"/>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Funding rule published and recorded</a:t>
            </a:r>
            <a:endParaRPr b="0" i="0" sz="1150" u="none" cap="none" strike="noStrike">
              <a:solidFill>
                <a:schemeClr val="dk1"/>
              </a:solidFill>
              <a:latin typeface="Arial"/>
              <a:ea typeface="Arial"/>
              <a:cs typeface="Arial"/>
              <a:sym typeface="Arial"/>
            </a:endParaRPr>
          </a:p>
        </p:txBody>
      </p:sp>
      <p:cxnSp>
        <p:nvCxnSpPr>
          <p:cNvPr id="380" name="Google Shape;380;p14"/>
          <p:cNvCxnSpPr/>
          <p:nvPr/>
        </p:nvCxnSpPr>
        <p:spPr>
          <a:xfrm>
            <a:off x="6355080" y="2532888"/>
            <a:ext cx="5196535" cy="0"/>
          </a:xfrm>
          <a:prstGeom prst="straightConnector1">
            <a:avLst/>
          </a:prstGeom>
          <a:noFill/>
          <a:ln cap="flat" cmpd="sng" w="9525">
            <a:solidFill>
              <a:srgbClr val="262626"/>
            </a:solidFill>
            <a:prstDash val="solid"/>
            <a:round/>
            <a:headEnd len="sm" w="sm" type="none"/>
            <a:tailEnd len="sm" w="sm" type="none"/>
          </a:ln>
        </p:spPr>
      </p:cxnSp>
      <p:sp>
        <p:nvSpPr>
          <p:cNvPr id="381" name="Google Shape;381;p14"/>
          <p:cNvSpPr/>
          <p:nvPr/>
        </p:nvSpPr>
        <p:spPr>
          <a:xfrm>
            <a:off x="6355080" y="2651760"/>
            <a:ext cx="164592" cy="164592"/>
          </a:xfrm>
          <a:prstGeom prst="rect">
            <a:avLst/>
          </a:prstGeom>
          <a:solidFill>
            <a:srgbClr val="0A0A0A"/>
          </a:solidFill>
          <a:ln cap="flat" cmpd="sng" w="12700">
            <a:solidFill>
              <a:srgbClr val="4F8D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4"/>
          <p:cNvSpPr txBox="1"/>
          <p:nvPr/>
        </p:nvSpPr>
        <p:spPr>
          <a:xfrm>
            <a:off x="6675120" y="2569464"/>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Approval before any transfer</a:t>
            </a:r>
            <a:endParaRPr b="0" i="0" sz="1150" u="none" cap="none" strike="noStrike">
              <a:solidFill>
                <a:schemeClr val="dk1"/>
              </a:solidFill>
              <a:latin typeface="Arial"/>
              <a:ea typeface="Arial"/>
              <a:cs typeface="Arial"/>
              <a:sym typeface="Arial"/>
            </a:endParaRPr>
          </a:p>
        </p:txBody>
      </p:sp>
      <p:cxnSp>
        <p:nvCxnSpPr>
          <p:cNvPr id="383" name="Google Shape;383;p14"/>
          <p:cNvCxnSpPr/>
          <p:nvPr/>
        </p:nvCxnSpPr>
        <p:spPr>
          <a:xfrm>
            <a:off x="6355080" y="2962656"/>
            <a:ext cx="5196535" cy="0"/>
          </a:xfrm>
          <a:prstGeom prst="straightConnector1">
            <a:avLst/>
          </a:prstGeom>
          <a:noFill/>
          <a:ln cap="flat" cmpd="sng" w="9525">
            <a:solidFill>
              <a:srgbClr val="262626"/>
            </a:solidFill>
            <a:prstDash val="solid"/>
            <a:round/>
            <a:headEnd len="sm" w="sm" type="none"/>
            <a:tailEnd len="sm" w="sm" type="none"/>
          </a:ln>
        </p:spPr>
      </p:cxnSp>
      <p:sp>
        <p:nvSpPr>
          <p:cNvPr id="384" name="Google Shape;384;p14"/>
          <p:cNvSpPr/>
          <p:nvPr/>
        </p:nvSpPr>
        <p:spPr>
          <a:xfrm>
            <a:off x="6355080" y="3081528"/>
            <a:ext cx="164592" cy="164592"/>
          </a:xfrm>
          <a:prstGeom prst="rect">
            <a:avLst/>
          </a:prstGeom>
          <a:solidFill>
            <a:srgbClr val="0A0A0A"/>
          </a:solidFill>
          <a:ln cap="flat" cmpd="sng" w="12700">
            <a:solidFill>
              <a:srgbClr val="4F8D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4"/>
          <p:cNvSpPr txBox="1"/>
          <p:nvPr/>
        </p:nvSpPr>
        <p:spPr>
          <a:xfrm>
            <a:off x="6675120" y="2999232"/>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Every payout linked to a receipt on the ledger</a:t>
            </a:r>
            <a:endParaRPr b="0" i="0" sz="1150" u="none" cap="none" strike="noStrike">
              <a:solidFill>
                <a:schemeClr val="dk1"/>
              </a:solidFill>
              <a:latin typeface="Arial"/>
              <a:ea typeface="Arial"/>
              <a:cs typeface="Arial"/>
              <a:sym typeface="Arial"/>
            </a:endParaRPr>
          </a:p>
        </p:txBody>
      </p:sp>
      <p:cxnSp>
        <p:nvCxnSpPr>
          <p:cNvPr id="386" name="Google Shape;386;p14"/>
          <p:cNvCxnSpPr/>
          <p:nvPr/>
        </p:nvCxnSpPr>
        <p:spPr>
          <a:xfrm>
            <a:off x="6355080" y="3392424"/>
            <a:ext cx="5196535" cy="0"/>
          </a:xfrm>
          <a:prstGeom prst="straightConnector1">
            <a:avLst/>
          </a:prstGeom>
          <a:noFill/>
          <a:ln cap="flat" cmpd="sng" w="9525">
            <a:solidFill>
              <a:srgbClr val="262626"/>
            </a:solidFill>
            <a:prstDash val="solid"/>
            <a:round/>
            <a:headEnd len="sm" w="sm" type="none"/>
            <a:tailEnd len="sm" w="sm" type="none"/>
          </a:ln>
        </p:spPr>
      </p:cxnSp>
      <p:sp>
        <p:nvSpPr>
          <p:cNvPr id="387" name="Google Shape;387;p14"/>
          <p:cNvSpPr/>
          <p:nvPr/>
        </p:nvSpPr>
        <p:spPr>
          <a:xfrm>
            <a:off x="6355080" y="3511296"/>
            <a:ext cx="164592" cy="164592"/>
          </a:xfrm>
          <a:prstGeom prst="rect">
            <a:avLst/>
          </a:prstGeom>
          <a:solidFill>
            <a:srgbClr val="0A0A0A"/>
          </a:solidFill>
          <a:ln cap="flat" cmpd="sng" w="12700">
            <a:solidFill>
              <a:srgbClr val="4F8D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txBox="1"/>
          <p:nvPr/>
        </p:nvSpPr>
        <p:spPr>
          <a:xfrm>
            <a:off x="6675120" y="3429000"/>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Failed and duplicate requests handled</a:t>
            </a:r>
            <a:endParaRPr b="0" i="0" sz="1150" u="none" cap="none" strike="noStrike">
              <a:solidFill>
                <a:schemeClr val="dk1"/>
              </a:solidFill>
              <a:latin typeface="Arial"/>
              <a:ea typeface="Arial"/>
              <a:cs typeface="Arial"/>
              <a:sym typeface="Arial"/>
            </a:endParaRPr>
          </a:p>
        </p:txBody>
      </p:sp>
      <p:cxnSp>
        <p:nvCxnSpPr>
          <p:cNvPr id="389" name="Google Shape;389;p14"/>
          <p:cNvCxnSpPr/>
          <p:nvPr/>
        </p:nvCxnSpPr>
        <p:spPr>
          <a:xfrm>
            <a:off x="6355080" y="3822192"/>
            <a:ext cx="5196535" cy="0"/>
          </a:xfrm>
          <a:prstGeom prst="straightConnector1">
            <a:avLst/>
          </a:prstGeom>
          <a:noFill/>
          <a:ln cap="flat" cmpd="sng" w="9525">
            <a:solidFill>
              <a:srgbClr val="262626"/>
            </a:solidFill>
            <a:prstDash val="solid"/>
            <a:round/>
            <a:headEnd len="sm" w="sm" type="none"/>
            <a:tailEnd len="sm" w="sm" type="none"/>
          </a:ln>
        </p:spPr>
      </p:cxnSp>
      <p:sp>
        <p:nvSpPr>
          <p:cNvPr id="390" name="Google Shape;390;p14"/>
          <p:cNvSpPr/>
          <p:nvPr/>
        </p:nvSpPr>
        <p:spPr>
          <a:xfrm>
            <a:off x="6355080" y="3941064"/>
            <a:ext cx="164592" cy="164592"/>
          </a:xfrm>
          <a:prstGeom prst="rect">
            <a:avLst/>
          </a:prstGeom>
          <a:solidFill>
            <a:srgbClr val="0A0A0A"/>
          </a:solidFill>
          <a:ln cap="flat" cmpd="sng" w="12700">
            <a:solidFill>
              <a:srgbClr val="4F8D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4"/>
          <p:cNvSpPr txBox="1"/>
          <p:nvPr/>
        </p:nvSpPr>
        <p:spPr>
          <a:xfrm>
            <a:off x="6675120" y="3858768"/>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Carry-forward to the next event traceable</a:t>
            </a:r>
            <a:endParaRPr b="0" i="0" sz="1150" u="none" cap="none" strike="noStrike">
              <a:solidFill>
                <a:schemeClr val="dk1"/>
              </a:solidFill>
              <a:latin typeface="Arial"/>
              <a:ea typeface="Arial"/>
              <a:cs typeface="Arial"/>
              <a:sym typeface="Arial"/>
            </a:endParaRPr>
          </a:p>
        </p:txBody>
      </p:sp>
      <p:sp>
        <p:nvSpPr>
          <p:cNvPr id="392" name="Google Shape;392;p14"/>
          <p:cNvSpPr/>
          <p:nvPr/>
        </p:nvSpPr>
        <p:spPr>
          <a:xfrm>
            <a:off x="640080" y="4937760"/>
            <a:ext cx="10911535" cy="1371600"/>
          </a:xfrm>
          <a:prstGeom prst="rect">
            <a:avLst/>
          </a:prstGeom>
          <a:solidFill>
            <a:srgbClr val="111111"/>
          </a:solidFill>
          <a:ln cap="flat" cmpd="sng" w="9525">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4"/>
          <p:cNvSpPr/>
          <p:nvPr/>
        </p:nvSpPr>
        <p:spPr>
          <a:xfrm>
            <a:off x="640080" y="4937760"/>
            <a:ext cx="10911535" cy="32004"/>
          </a:xfrm>
          <a:prstGeom prst="rect">
            <a:avLst/>
          </a:prstGeom>
          <a:solidFill>
            <a:srgbClr val="F7B8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4"/>
          <p:cNvSpPr txBox="1"/>
          <p:nvPr/>
        </p:nvSpPr>
        <p:spPr>
          <a:xfrm>
            <a:off x="960120" y="5120640"/>
            <a:ext cx="314949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BOUNDARIES</a:t>
            </a:r>
            <a:endParaRPr b="0" i="0" sz="950" u="none" cap="none" strike="noStrike">
              <a:solidFill>
                <a:schemeClr val="dk1"/>
              </a:solidFill>
              <a:latin typeface="Arial"/>
              <a:ea typeface="Arial"/>
              <a:cs typeface="Arial"/>
              <a:sym typeface="Arial"/>
            </a:endParaRPr>
          </a:p>
        </p:txBody>
      </p:sp>
      <p:sp>
        <p:nvSpPr>
          <p:cNvPr id="395" name="Google Shape;395;p14"/>
          <p:cNvSpPr txBox="1"/>
          <p:nvPr/>
        </p:nvSpPr>
        <p:spPr>
          <a:xfrm>
            <a:off x="960120" y="5394960"/>
            <a:ext cx="3149498"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Testnet and simulation only. No live funds, no real wallet keys in your repository or on screen.</a:t>
            </a:r>
            <a:endParaRPr b="0" i="0" sz="1100" u="none" cap="none" strike="noStrike">
              <a:solidFill>
                <a:schemeClr val="dk1"/>
              </a:solidFill>
              <a:latin typeface="Arial"/>
              <a:ea typeface="Arial"/>
              <a:cs typeface="Arial"/>
              <a:sym typeface="Arial"/>
            </a:endParaRPr>
          </a:p>
        </p:txBody>
      </p:sp>
      <p:sp>
        <p:nvSpPr>
          <p:cNvPr id="396" name="Google Shape;396;p14"/>
          <p:cNvSpPr txBox="1"/>
          <p:nvPr/>
        </p:nvSpPr>
        <p:spPr>
          <a:xfrm>
            <a:off x="4521098" y="5120640"/>
            <a:ext cx="314949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HACKMERIDIAN NOTE</a:t>
            </a:r>
            <a:endParaRPr b="0" i="0" sz="950" u="none" cap="none" strike="noStrike">
              <a:solidFill>
                <a:schemeClr val="dk1"/>
              </a:solidFill>
              <a:latin typeface="Arial"/>
              <a:ea typeface="Arial"/>
              <a:cs typeface="Arial"/>
              <a:sym typeface="Arial"/>
            </a:endParaRPr>
          </a:p>
        </p:txBody>
      </p:sp>
      <p:sp>
        <p:nvSpPr>
          <p:cNvPr id="397" name="Google Shape;397;p14"/>
          <p:cNvSpPr txBox="1"/>
          <p:nvPr/>
        </p:nvSpPr>
        <p:spPr>
          <a:xfrm>
            <a:off x="4521098" y="5394960"/>
            <a:ext cx="3149498"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100"/>
              <a:buFont typeface="Arial"/>
              <a:buNone/>
            </a:pPr>
            <a:r>
              <a:rPr b="0" i="0" lang="en-US" sz="1100" u="none" cap="none" strike="noStrike">
                <a:solidFill>
                  <a:srgbClr val="B4B4B4"/>
                </a:solidFill>
                <a:latin typeface="Arial"/>
                <a:ea typeface="Arial"/>
                <a:cs typeface="Arial"/>
                <a:sym typeface="Arial"/>
              </a:rPr>
              <a:t>HackMeridian runs 25–26 October in Lisbon. If you plan a separate entry there, document your architecture, findings and tests now, and record your baseline.</a:t>
            </a:r>
            <a:endParaRPr b="0" i="0" sz="1100" u="none" cap="none" strike="noStrike">
              <a:solidFill>
                <a:schemeClr val="dk1"/>
              </a:solidFill>
              <a:latin typeface="Arial"/>
              <a:ea typeface="Arial"/>
              <a:cs typeface="Arial"/>
              <a:sym typeface="Arial"/>
            </a:endParaRPr>
          </a:p>
        </p:txBody>
      </p:sp>
      <p:sp>
        <p:nvSpPr>
          <p:cNvPr id="398" name="Google Shape;398;p14"/>
          <p:cNvSpPr txBox="1"/>
          <p:nvPr/>
        </p:nvSpPr>
        <p:spPr>
          <a:xfrm>
            <a:off x="8082077" y="5120640"/>
            <a:ext cx="314949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STRETCH IDEAS</a:t>
            </a:r>
            <a:endParaRPr b="0" i="0" sz="950" u="none" cap="none" strike="noStrike">
              <a:solidFill>
                <a:schemeClr val="dk1"/>
              </a:solidFill>
              <a:latin typeface="Arial"/>
              <a:ea typeface="Arial"/>
              <a:cs typeface="Arial"/>
              <a:sym typeface="Arial"/>
            </a:endParaRPr>
          </a:p>
        </p:txBody>
      </p:sp>
      <p:sp>
        <p:nvSpPr>
          <p:cNvPr id="399" name="Google Shape;399;p14"/>
          <p:cNvSpPr txBox="1"/>
          <p:nvPr/>
        </p:nvSpPr>
        <p:spPr>
          <a:xfrm>
            <a:off x="8082077" y="5394960"/>
            <a:ext cx="3149498"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100"/>
              <a:buFont typeface="Arial"/>
              <a:buNone/>
            </a:pPr>
            <a:r>
              <a:rPr b="0" i="0" lang="en-US" sz="1100" u="none" cap="none" strike="noStrike">
                <a:solidFill>
                  <a:srgbClr val="B4B4B4"/>
                </a:solidFill>
                <a:latin typeface="Arial"/>
                <a:ea typeface="Arial"/>
                <a:cs typeface="Arial"/>
                <a:sym typeface="Arial"/>
              </a:rPr>
              <a:t>Payouts to people without a wallet yet; refunds; a public audit view for participants.</a:t>
            </a:r>
            <a:endParaRPr b="0" i="0" sz="1100" u="none" cap="none" strike="noStrike">
              <a:solidFill>
                <a:schemeClr val="dk1"/>
              </a:solidFill>
              <a:latin typeface="Arial"/>
              <a:ea typeface="Arial"/>
              <a:cs typeface="Arial"/>
              <a:sym typeface="Arial"/>
            </a:endParaRPr>
          </a:p>
        </p:txBody>
      </p:sp>
      <p:sp>
        <p:nvSpPr>
          <p:cNvPr id="400" name="Google Shape;400;p14"/>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descr="Network graph background" id="406" name="Google Shape;406;p15"/>
          <p:cNvPicPr preferRelativeResize="0"/>
          <p:nvPr/>
        </p:nvPicPr>
        <p:blipFill rotWithShape="1">
          <a:blip r:embed="rId3">
            <a:alphaModFix amt="45000"/>
          </a:blip>
          <a:srcRect b="0" l="0" r="0" t="0"/>
          <a:stretch/>
        </p:blipFill>
        <p:spPr>
          <a:xfrm>
            <a:off x="0" y="45720"/>
            <a:ext cx="12191695" cy="6812280"/>
          </a:xfrm>
          <a:prstGeom prst="rect">
            <a:avLst/>
          </a:prstGeom>
          <a:noFill/>
          <a:ln>
            <a:noFill/>
          </a:ln>
        </p:spPr>
      </p:pic>
      <p:pic>
        <p:nvPicPr>
          <p:cNvPr descr="Artificial Superintelligence Alliance" id="407" name="Google Shape;407;p15"/>
          <p:cNvPicPr preferRelativeResize="0"/>
          <p:nvPr/>
        </p:nvPicPr>
        <p:blipFill rotWithShape="1">
          <a:blip r:embed="rId4">
            <a:alphaModFix/>
          </a:blip>
          <a:srcRect b="0" l="0" r="0" t="0"/>
          <a:stretch/>
        </p:blipFill>
        <p:spPr>
          <a:xfrm>
            <a:off x="640080" y="274320"/>
            <a:ext cx="1359408" cy="292608"/>
          </a:xfrm>
          <a:prstGeom prst="rect">
            <a:avLst/>
          </a:prstGeom>
          <a:noFill/>
          <a:ln>
            <a:noFill/>
          </a:ln>
        </p:spPr>
      </p:pic>
      <p:sp>
        <p:nvSpPr>
          <p:cNvPr id="408" name="Google Shape;408;p15"/>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03 · BASIX.MARKET</a:t>
            </a:r>
            <a:endParaRPr b="0" i="0" sz="950" u="none" cap="none" strike="noStrike">
              <a:solidFill>
                <a:schemeClr val="dk1"/>
              </a:solidFill>
              <a:latin typeface="Arial"/>
              <a:ea typeface="Arial"/>
              <a:cs typeface="Arial"/>
              <a:sym typeface="Arial"/>
            </a:endParaRPr>
          </a:p>
        </p:txBody>
      </p:sp>
      <p:sp>
        <p:nvSpPr>
          <p:cNvPr id="409" name="Google Shape;409;p15"/>
          <p:cNvSpPr/>
          <p:nvPr/>
        </p:nvSpPr>
        <p:spPr>
          <a:xfrm>
            <a:off x="640080" y="982980"/>
            <a:ext cx="118872" cy="118872"/>
          </a:xfrm>
          <a:prstGeom prst="ellipse">
            <a:avLst/>
          </a:prstGeom>
          <a:solidFill>
            <a:srgbClr val="A56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5"/>
          <p:cNvSpPr txBox="1"/>
          <p:nvPr/>
        </p:nvSpPr>
        <p:spPr>
          <a:xfrm>
            <a:off x="868680" y="91440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ourier New"/>
              <a:buNone/>
            </a:pPr>
            <a:r>
              <a:rPr b="1" i="0" lang="en-US" sz="1000" u="none" cap="none" strike="noStrike">
                <a:solidFill>
                  <a:srgbClr val="FFFFFF"/>
                </a:solidFill>
                <a:latin typeface="Courier New"/>
                <a:ea typeface="Courier New"/>
                <a:cs typeface="Courier New"/>
                <a:sym typeface="Courier New"/>
              </a:rPr>
              <a:t>TRACK 03  ·  BASIX.MARKET</a:t>
            </a:r>
            <a:endParaRPr b="0" i="0" sz="1000" u="none" cap="none" strike="noStrike">
              <a:solidFill>
                <a:schemeClr val="dk1"/>
              </a:solidFill>
              <a:latin typeface="Arial"/>
              <a:ea typeface="Arial"/>
              <a:cs typeface="Arial"/>
              <a:sym typeface="Arial"/>
            </a:endParaRPr>
          </a:p>
        </p:txBody>
      </p:sp>
      <p:pic>
        <p:nvPicPr>
          <p:cNvPr descr="BASIX.MARKET" id="411" name="Google Shape;411;p15">
            <a:hlinkClick r:id="rId5"/>
          </p:cNvPr>
          <p:cNvPicPr preferRelativeResize="0"/>
          <p:nvPr/>
        </p:nvPicPr>
        <p:blipFill rotWithShape="1">
          <a:blip r:embed="rId6">
            <a:alphaModFix/>
          </a:blip>
          <a:srcRect b="0" l="0" r="0" t="0"/>
          <a:stretch/>
        </p:blipFill>
        <p:spPr>
          <a:xfrm>
            <a:off x="9860489" y="950976"/>
            <a:ext cx="1691126" cy="182880"/>
          </a:xfrm>
          <a:prstGeom prst="rect">
            <a:avLst/>
          </a:prstGeom>
          <a:noFill/>
          <a:ln>
            <a:noFill/>
          </a:ln>
        </p:spPr>
      </p:pic>
      <p:sp>
        <p:nvSpPr>
          <p:cNvPr id="412" name="Google Shape;412;p15"/>
          <p:cNvSpPr txBox="1"/>
          <p:nvPr/>
        </p:nvSpPr>
        <p:spPr>
          <a:xfrm>
            <a:off x="640080" y="1280160"/>
            <a:ext cx="10911535" cy="5943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Builder and marketplace workflows</a:t>
            </a:r>
            <a:endParaRPr b="0" i="0" sz="3000" u="none" cap="none" strike="noStrike">
              <a:solidFill>
                <a:schemeClr val="dk1"/>
              </a:solidFill>
              <a:latin typeface="Arial"/>
              <a:ea typeface="Arial"/>
              <a:cs typeface="Arial"/>
              <a:sym typeface="Arial"/>
            </a:endParaRPr>
          </a:p>
        </p:txBody>
      </p:sp>
      <p:sp>
        <p:nvSpPr>
          <p:cNvPr id="413" name="Google Shape;413;p15"/>
          <p:cNvSpPr txBox="1"/>
          <p:nvPr/>
        </p:nvSpPr>
        <p:spPr>
          <a:xfrm>
            <a:off x="640080" y="1920240"/>
            <a:ext cx="9601200"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A56CF0"/>
              </a:buClr>
              <a:buSzPts val="1700"/>
              <a:buFont typeface="Arial"/>
              <a:buNone/>
            </a:pPr>
            <a:r>
              <a:rPr b="0" i="0" lang="en-US" sz="1700" u="none" cap="none" strike="noStrike">
                <a:solidFill>
                  <a:srgbClr val="A56CF0"/>
                </a:solidFill>
                <a:latin typeface="Arial"/>
                <a:ea typeface="Arial"/>
                <a:cs typeface="Arial"/>
                <a:sym typeface="Arial"/>
              </a:rPr>
              <a:t>Build an Omega agent that moves a builder from verified skills to the right project, and explains every recommendation it makes.</a:t>
            </a:r>
            <a:endParaRPr b="0" i="0" sz="1700" u="none" cap="none" strike="noStrike">
              <a:solidFill>
                <a:schemeClr val="dk1"/>
              </a:solidFill>
              <a:latin typeface="Arial"/>
              <a:ea typeface="Arial"/>
              <a:cs typeface="Arial"/>
              <a:sym typeface="Arial"/>
            </a:endParaRPr>
          </a:p>
        </p:txBody>
      </p:sp>
      <p:cxnSp>
        <p:nvCxnSpPr>
          <p:cNvPr id="414" name="Google Shape;414;p15"/>
          <p:cNvCxnSpPr/>
          <p:nvPr/>
        </p:nvCxnSpPr>
        <p:spPr>
          <a:xfrm>
            <a:off x="640080" y="2926080"/>
            <a:ext cx="5181448" cy="0"/>
          </a:xfrm>
          <a:prstGeom prst="straightConnector1">
            <a:avLst/>
          </a:prstGeom>
          <a:noFill/>
          <a:ln cap="flat" cmpd="sng" w="9525">
            <a:solidFill>
              <a:srgbClr val="5A5A5A"/>
            </a:solidFill>
            <a:prstDash val="solid"/>
            <a:round/>
            <a:headEnd len="sm" w="sm" type="none"/>
            <a:tailEnd len="sm" w="sm" type="none"/>
          </a:ln>
        </p:spPr>
      </p:cxnSp>
      <p:sp>
        <p:nvSpPr>
          <p:cNvPr id="415" name="Google Shape;415;p15"/>
          <p:cNvSpPr txBox="1"/>
          <p:nvPr/>
        </p:nvSpPr>
        <p:spPr>
          <a:xfrm>
            <a:off x="640080" y="3063240"/>
            <a:ext cx="518144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WHO YOU ARE BUILDING FOR</a:t>
            </a:r>
            <a:endParaRPr b="0" i="0" sz="950" u="none" cap="none" strike="noStrike">
              <a:solidFill>
                <a:schemeClr val="dk1"/>
              </a:solidFill>
              <a:latin typeface="Arial"/>
              <a:ea typeface="Arial"/>
              <a:cs typeface="Arial"/>
              <a:sym typeface="Arial"/>
            </a:endParaRPr>
          </a:p>
        </p:txBody>
      </p:sp>
      <p:sp>
        <p:nvSpPr>
          <p:cNvPr id="416" name="Google Shape;416;p15"/>
          <p:cNvSpPr txBox="1"/>
          <p:nvPr/>
        </p:nvSpPr>
        <p:spPr>
          <a:xfrm>
            <a:off x="640080" y="3429000"/>
            <a:ext cx="5181448" cy="2651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BASIX.MARKET is a Web3 and AGI incubator and marketplace. Builders learn MeTTa, earn verifiable credentials, ship real software in live cohorts, and own what they build as on-chain IP. It runs on the DICE model: Developers, Investors, Creators and Entrepreneurs co-own the value they create. Entrepreneurs bring ideas; the verified builder pool ships them.</a:t>
            </a:r>
            <a:endParaRPr b="0" i="0" sz="1350" u="none" cap="none" strike="noStrike">
              <a:solidFill>
                <a:schemeClr val="dk1"/>
              </a:solidFill>
              <a:latin typeface="Arial"/>
              <a:ea typeface="Arial"/>
              <a:cs typeface="Arial"/>
              <a:sym typeface="Arial"/>
            </a:endParaRPr>
          </a:p>
        </p:txBody>
      </p:sp>
      <p:cxnSp>
        <p:nvCxnSpPr>
          <p:cNvPr id="417" name="Google Shape;417;p15"/>
          <p:cNvCxnSpPr/>
          <p:nvPr/>
        </p:nvCxnSpPr>
        <p:spPr>
          <a:xfrm>
            <a:off x="6370168" y="2926080"/>
            <a:ext cx="5181448" cy="0"/>
          </a:xfrm>
          <a:prstGeom prst="straightConnector1">
            <a:avLst/>
          </a:prstGeom>
          <a:noFill/>
          <a:ln cap="flat" cmpd="sng" w="9525">
            <a:solidFill>
              <a:srgbClr val="5A5A5A"/>
            </a:solidFill>
            <a:prstDash val="solid"/>
            <a:round/>
            <a:headEnd len="sm" w="sm" type="none"/>
            <a:tailEnd len="sm" w="sm" type="none"/>
          </a:ln>
        </p:spPr>
      </p:cxnSp>
      <p:sp>
        <p:nvSpPr>
          <p:cNvPr id="418" name="Google Shape;418;p15"/>
          <p:cNvSpPr txBox="1"/>
          <p:nvPr/>
        </p:nvSpPr>
        <p:spPr>
          <a:xfrm>
            <a:off x="6370168" y="3063240"/>
            <a:ext cx="518144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THE PROBLEM</a:t>
            </a:r>
            <a:endParaRPr b="0" i="0" sz="950" u="none" cap="none" strike="noStrike">
              <a:solidFill>
                <a:schemeClr val="dk1"/>
              </a:solidFill>
              <a:latin typeface="Arial"/>
              <a:ea typeface="Arial"/>
              <a:cs typeface="Arial"/>
              <a:sym typeface="Arial"/>
            </a:endParaRPr>
          </a:p>
        </p:txBody>
      </p:sp>
      <p:sp>
        <p:nvSpPr>
          <p:cNvPr id="419" name="Google Shape;419;p15"/>
          <p:cNvSpPr txBox="1"/>
          <p:nvPr/>
        </p:nvSpPr>
        <p:spPr>
          <a:xfrm>
            <a:off x="6370168" y="3429000"/>
            <a:ext cx="5181448" cy="2651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350"/>
              <a:buFont typeface="Arial"/>
              <a:buNone/>
            </a:pPr>
            <a:r>
              <a:rPr b="0" i="0" lang="en-US" sz="1350" u="none" cap="none" strike="noStrike">
                <a:solidFill>
                  <a:srgbClr val="FFFFFF"/>
                </a:solidFill>
                <a:latin typeface="Arial"/>
                <a:ea typeface="Arial"/>
                <a:cs typeface="Arial"/>
                <a:sym typeface="Arial"/>
              </a:rPr>
              <a:t>Builders earn badges and finish challenges, then wait. Entrepreneurs post briefs and get the wrong applicants. Nobody can see why a builder was matched to a project, so trust in the match is low on both sides.</a:t>
            </a:r>
            <a:endParaRPr b="0" i="0" sz="1350" u="none" cap="none" strike="noStrike">
              <a:solidFill>
                <a:schemeClr val="dk1"/>
              </a:solidFill>
              <a:latin typeface="Arial"/>
              <a:ea typeface="Arial"/>
              <a:cs typeface="Arial"/>
              <a:sym typeface="Arial"/>
            </a:endParaRPr>
          </a:p>
        </p:txBody>
      </p:sp>
      <p:sp>
        <p:nvSpPr>
          <p:cNvPr id="420" name="Google Shape;420;p15"/>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16"/>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03 · YOUR BUILD</a:t>
            </a:r>
            <a:endParaRPr b="0" i="0" sz="950" u="none" cap="none" strike="noStrike">
              <a:solidFill>
                <a:schemeClr val="dk1"/>
              </a:solidFill>
              <a:latin typeface="Arial"/>
              <a:ea typeface="Arial"/>
              <a:cs typeface="Arial"/>
              <a:sym typeface="Arial"/>
            </a:endParaRPr>
          </a:p>
        </p:txBody>
      </p:sp>
      <p:sp>
        <p:nvSpPr>
          <p:cNvPr id="427" name="Google Shape;427;p16"/>
          <p:cNvSpPr txBox="1"/>
          <p:nvPr/>
        </p:nvSpPr>
        <p:spPr>
          <a:xfrm>
            <a:off x="640080" y="914400"/>
            <a:ext cx="10911535"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Track 03. </a:t>
            </a:r>
            <a:r>
              <a:rPr b="1" i="0" lang="en-US" sz="3200" u="none" cap="none" strike="noStrike">
                <a:solidFill>
                  <a:srgbClr val="F2596B"/>
                </a:solidFill>
                <a:latin typeface="Arial"/>
                <a:ea typeface="Arial"/>
                <a:cs typeface="Arial"/>
                <a:sym typeface="Arial"/>
              </a:rPr>
              <a:t>Y</a:t>
            </a:r>
            <a:r>
              <a:rPr b="1" i="0" lang="en-US" sz="3200" u="none" cap="none" strike="noStrike">
                <a:solidFill>
                  <a:srgbClr val="F48364"/>
                </a:solidFill>
                <a:latin typeface="Arial"/>
                <a:ea typeface="Arial"/>
                <a:cs typeface="Arial"/>
                <a:sym typeface="Arial"/>
              </a:rPr>
              <a:t>o</a:t>
            </a:r>
            <a:r>
              <a:rPr b="1" i="0" lang="en-US" sz="3200" u="none" cap="none" strike="noStrike">
                <a:solidFill>
                  <a:srgbClr val="F6AD5E"/>
                </a:solidFill>
                <a:latin typeface="Arial"/>
                <a:ea typeface="Arial"/>
                <a:cs typeface="Arial"/>
                <a:sym typeface="Arial"/>
              </a:rPr>
              <a:t>u</a:t>
            </a:r>
            <a:r>
              <a:rPr b="1" i="0" lang="en-US" sz="3200" u="none" cap="none" strike="noStrike">
                <a:solidFill>
                  <a:srgbClr val="B9C270"/>
                </a:solidFill>
                <a:latin typeface="Arial"/>
                <a:ea typeface="Arial"/>
                <a:cs typeface="Arial"/>
                <a:sym typeface="Arial"/>
              </a:rPr>
              <a:t>r</a:t>
            </a:r>
            <a:r>
              <a:rPr b="1" i="0" lang="en-US" sz="3200" u="none" cap="none" strike="noStrike">
                <a:solidFill>
                  <a:srgbClr val="FFFFFF"/>
                </a:solidFill>
                <a:latin typeface="Arial"/>
                <a:ea typeface="Arial"/>
                <a:cs typeface="Arial"/>
                <a:sym typeface="Arial"/>
              </a:rPr>
              <a:t> </a:t>
            </a:r>
            <a:r>
              <a:rPr b="1" i="0" lang="en-US" sz="3200" u="none" cap="none" strike="noStrike">
                <a:solidFill>
                  <a:srgbClr val="67CF8B"/>
                </a:solidFill>
                <a:latin typeface="Arial"/>
                <a:ea typeface="Arial"/>
                <a:cs typeface="Arial"/>
                <a:sym typeface="Arial"/>
              </a:rPr>
              <a:t>b</a:t>
            </a:r>
            <a:r>
              <a:rPr b="1" i="0" lang="en-US" sz="3200" u="none" cap="none" strike="noStrike">
                <a:solidFill>
                  <a:srgbClr val="42C5AC"/>
                </a:solidFill>
                <a:latin typeface="Arial"/>
                <a:ea typeface="Arial"/>
                <a:cs typeface="Arial"/>
                <a:sym typeface="Arial"/>
              </a:rPr>
              <a:t>u</a:t>
            </a:r>
            <a:r>
              <a:rPr b="1" i="0" lang="en-US" sz="3200" u="none" cap="none" strike="noStrike">
                <a:solidFill>
                  <a:srgbClr val="49A5D3"/>
                </a:solidFill>
                <a:latin typeface="Arial"/>
                <a:ea typeface="Arial"/>
                <a:cs typeface="Arial"/>
                <a:sym typeface="Arial"/>
              </a:rPr>
              <a:t>i</a:t>
            </a:r>
            <a:r>
              <a:rPr b="1" i="0" lang="en-US" sz="3200" u="none" cap="none" strike="noStrike">
                <a:solidFill>
                  <a:srgbClr val="5989F0"/>
                </a:solidFill>
                <a:latin typeface="Arial"/>
                <a:ea typeface="Arial"/>
                <a:cs typeface="Arial"/>
                <a:sym typeface="Arial"/>
              </a:rPr>
              <a:t>l</a:t>
            </a:r>
            <a:r>
              <a:rPr b="1" i="0" lang="en-US" sz="3200" u="none" cap="none" strike="noStrike">
                <a:solidFill>
                  <a:srgbClr val="7F7BF0"/>
                </a:solidFill>
                <a:latin typeface="Arial"/>
                <a:ea typeface="Arial"/>
                <a:cs typeface="Arial"/>
                <a:sym typeface="Arial"/>
              </a:rPr>
              <a:t>d</a:t>
            </a:r>
            <a:r>
              <a:rPr b="1" i="0" lang="en-US" sz="3200" u="none" cap="none" strike="noStrike">
                <a:solidFill>
                  <a:srgbClr val="A56CF0"/>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pic>
        <p:nvPicPr>
          <p:cNvPr descr="BASIX.MARKET" id="428" name="Google Shape;428;p16">
            <a:hlinkClick r:id="rId3"/>
          </p:cNvPr>
          <p:cNvPicPr preferRelativeResize="0"/>
          <p:nvPr/>
        </p:nvPicPr>
        <p:blipFill rotWithShape="1">
          <a:blip r:embed="rId4">
            <a:alphaModFix/>
          </a:blip>
          <a:srcRect b="0" l="0" r="0" t="0"/>
          <a:stretch/>
        </p:blipFill>
        <p:spPr>
          <a:xfrm>
            <a:off x="10114158" y="1156716"/>
            <a:ext cx="1437457" cy="155448"/>
          </a:xfrm>
          <a:prstGeom prst="rect">
            <a:avLst/>
          </a:prstGeom>
          <a:noFill/>
          <a:ln>
            <a:noFill/>
          </a:ln>
        </p:spPr>
      </p:pic>
      <p:sp>
        <p:nvSpPr>
          <p:cNvPr id="429" name="Google Shape;429;p16"/>
          <p:cNvSpPr txBox="1"/>
          <p:nvPr/>
        </p:nvSpPr>
        <p:spPr>
          <a:xfrm>
            <a:off x="640080" y="1783080"/>
            <a:ext cx="8686800" cy="6858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500"/>
              <a:buFont typeface="Arial"/>
              <a:buNone/>
            </a:pPr>
            <a:r>
              <a:rPr b="0" i="0" lang="en-US" sz="1500" u="none" cap="none" strike="noStrike">
                <a:solidFill>
                  <a:srgbClr val="FFFFFF"/>
                </a:solidFill>
                <a:latin typeface="Arial"/>
                <a:ea typeface="Arial"/>
                <a:cs typeface="Arial"/>
                <a:sym typeface="Arial"/>
              </a:rPr>
              <a:t>Pick one platform workflow and do it well:</a:t>
            </a:r>
            <a:endParaRPr b="0" i="0" sz="1500" u="none" cap="none" strike="noStrike">
              <a:solidFill>
                <a:schemeClr val="dk1"/>
              </a:solidFill>
              <a:latin typeface="Arial"/>
              <a:ea typeface="Arial"/>
              <a:cs typeface="Arial"/>
              <a:sym typeface="Arial"/>
            </a:endParaRPr>
          </a:p>
        </p:txBody>
      </p:sp>
      <p:cxnSp>
        <p:nvCxnSpPr>
          <p:cNvPr id="430" name="Google Shape;430;p16"/>
          <p:cNvCxnSpPr/>
          <p:nvPr/>
        </p:nvCxnSpPr>
        <p:spPr>
          <a:xfrm>
            <a:off x="640080" y="2697480"/>
            <a:ext cx="2487854" cy="0"/>
          </a:xfrm>
          <a:prstGeom prst="straightConnector1">
            <a:avLst/>
          </a:prstGeom>
          <a:noFill/>
          <a:ln cap="flat" cmpd="sng" w="9525">
            <a:solidFill>
              <a:srgbClr val="5A5A5A"/>
            </a:solidFill>
            <a:prstDash val="solid"/>
            <a:round/>
            <a:headEnd len="sm" w="sm" type="none"/>
            <a:tailEnd len="sm" w="sm" type="none"/>
          </a:ln>
        </p:spPr>
      </p:cxnSp>
      <p:sp>
        <p:nvSpPr>
          <p:cNvPr id="431" name="Google Shape;431;p16"/>
          <p:cNvSpPr txBox="1"/>
          <p:nvPr/>
        </p:nvSpPr>
        <p:spPr>
          <a:xfrm>
            <a:off x="640080" y="2834640"/>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A56CF0"/>
              </a:buClr>
              <a:buSzPts val="1800"/>
              <a:buFont typeface="Arial"/>
              <a:buNone/>
            </a:pPr>
            <a:r>
              <a:rPr b="1" i="0" lang="en-US" sz="1800" u="none" cap="none" strike="noStrike">
                <a:solidFill>
                  <a:srgbClr val="A56CF0"/>
                </a:solidFill>
                <a:latin typeface="Arial"/>
                <a:ea typeface="Arial"/>
                <a:cs typeface="Arial"/>
                <a:sym typeface="Arial"/>
              </a:rPr>
              <a:t>01</a:t>
            </a:r>
            <a:endParaRPr b="0" i="0" sz="1800" u="none" cap="none" strike="noStrike">
              <a:solidFill>
                <a:schemeClr val="dk1"/>
              </a:solidFill>
              <a:latin typeface="Arial"/>
              <a:ea typeface="Arial"/>
              <a:cs typeface="Arial"/>
              <a:sym typeface="Arial"/>
            </a:endParaRPr>
          </a:p>
        </p:txBody>
      </p:sp>
      <p:sp>
        <p:nvSpPr>
          <p:cNvPr id="432" name="Google Shape;432;p16"/>
          <p:cNvSpPr txBox="1"/>
          <p:nvPr/>
        </p:nvSpPr>
        <p:spPr>
          <a:xfrm>
            <a:off x="640080" y="3337560"/>
            <a:ext cx="2487854"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Project discovery</a:t>
            </a:r>
            <a:endParaRPr b="0" i="0" sz="1600" u="none" cap="none" strike="noStrike">
              <a:solidFill>
                <a:schemeClr val="dk1"/>
              </a:solidFill>
              <a:latin typeface="Arial"/>
              <a:ea typeface="Arial"/>
              <a:cs typeface="Arial"/>
              <a:sym typeface="Arial"/>
            </a:endParaRPr>
          </a:p>
        </p:txBody>
      </p:sp>
      <p:sp>
        <p:nvSpPr>
          <p:cNvPr id="433" name="Google Shape;433;p16"/>
          <p:cNvSpPr txBox="1"/>
          <p:nvPr/>
        </p:nvSpPr>
        <p:spPr>
          <a:xfrm>
            <a:off x="640080" y="3840480"/>
            <a:ext cx="2487854" cy="16459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00"/>
              <a:buFont typeface="Arial"/>
              <a:buNone/>
            </a:pPr>
            <a:r>
              <a:rPr b="0" i="0" lang="en-US" sz="1300" u="none" cap="none" strike="noStrike">
                <a:solidFill>
                  <a:srgbClr val="B4B4B4"/>
                </a:solidFill>
                <a:latin typeface="Arial"/>
                <a:ea typeface="Arial"/>
                <a:cs typeface="Arial"/>
                <a:sym typeface="Arial"/>
              </a:rPr>
              <a:t>suggest open briefs that fit a builder's credentials and interests</a:t>
            </a:r>
            <a:endParaRPr b="0" i="0" sz="1300" u="none" cap="none" strike="noStrike">
              <a:solidFill>
                <a:schemeClr val="dk1"/>
              </a:solidFill>
              <a:latin typeface="Arial"/>
              <a:ea typeface="Arial"/>
              <a:cs typeface="Arial"/>
              <a:sym typeface="Arial"/>
            </a:endParaRPr>
          </a:p>
        </p:txBody>
      </p:sp>
      <p:cxnSp>
        <p:nvCxnSpPr>
          <p:cNvPr id="434" name="Google Shape;434;p16"/>
          <p:cNvCxnSpPr/>
          <p:nvPr/>
        </p:nvCxnSpPr>
        <p:spPr>
          <a:xfrm>
            <a:off x="3447974" y="2697480"/>
            <a:ext cx="2487854" cy="0"/>
          </a:xfrm>
          <a:prstGeom prst="straightConnector1">
            <a:avLst/>
          </a:prstGeom>
          <a:noFill/>
          <a:ln cap="flat" cmpd="sng" w="9525">
            <a:solidFill>
              <a:srgbClr val="5A5A5A"/>
            </a:solidFill>
            <a:prstDash val="solid"/>
            <a:round/>
            <a:headEnd len="sm" w="sm" type="none"/>
            <a:tailEnd len="sm" w="sm" type="none"/>
          </a:ln>
        </p:spPr>
      </p:cxnSp>
      <p:sp>
        <p:nvSpPr>
          <p:cNvPr id="435" name="Google Shape;435;p16"/>
          <p:cNvSpPr txBox="1"/>
          <p:nvPr/>
        </p:nvSpPr>
        <p:spPr>
          <a:xfrm>
            <a:off x="3447974" y="2834640"/>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A56CF0"/>
              </a:buClr>
              <a:buSzPts val="1800"/>
              <a:buFont typeface="Arial"/>
              <a:buNone/>
            </a:pPr>
            <a:r>
              <a:rPr b="1" i="0" lang="en-US" sz="1800" u="none" cap="none" strike="noStrike">
                <a:solidFill>
                  <a:srgbClr val="A56CF0"/>
                </a:solidFill>
                <a:latin typeface="Arial"/>
                <a:ea typeface="Arial"/>
                <a:cs typeface="Arial"/>
                <a:sym typeface="Arial"/>
              </a:rPr>
              <a:t>02</a:t>
            </a:r>
            <a:endParaRPr b="0" i="0" sz="1800" u="none" cap="none" strike="noStrike">
              <a:solidFill>
                <a:schemeClr val="dk1"/>
              </a:solidFill>
              <a:latin typeface="Arial"/>
              <a:ea typeface="Arial"/>
              <a:cs typeface="Arial"/>
              <a:sym typeface="Arial"/>
            </a:endParaRPr>
          </a:p>
        </p:txBody>
      </p:sp>
      <p:sp>
        <p:nvSpPr>
          <p:cNvPr id="436" name="Google Shape;436;p16"/>
          <p:cNvSpPr txBox="1"/>
          <p:nvPr/>
        </p:nvSpPr>
        <p:spPr>
          <a:xfrm>
            <a:off x="3447974" y="3337560"/>
            <a:ext cx="2487854"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Contributor matching</a:t>
            </a:r>
            <a:endParaRPr b="0" i="0" sz="1600" u="none" cap="none" strike="noStrike">
              <a:solidFill>
                <a:schemeClr val="dk1"/>
              </a:solidFill>
              <a:latin typeface="Arial"/>
              <a:ea typeface="Arial"/>
              <a:cs typeface="Arial"/>
              <a:sym typeface="Arial"/>
            </a:endParaRPr>
          </a:p>
        </p:txBody>
      </p:sp>
      <p:sp>
        <p:nvSpPr>
          <p:cNvPr id="437" name="Google Shape;437;p16"/>
          <p:cNvSpPr txBox="1"/>
          <p:nvPr/>
        </p:nvSpPr>
        <p:spPr>
          <a:xfrm>
            <a:off x="3447974" y="3840480"/>
            <a:ext cx="2487854" cy="16459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00"/>
              <a:buFont typeface="Arial"/>
              <a:buNone/>
            </a:pPr>
            <a:r>
              <a:rPr b="0" i="0" lang="en-US" sz="1300" u="none" cap="none" strike="noStrike">
                <a:solidFill>
                  <a:srgbClr val="B4B4B4"/>
                </a:solidFill>
                <a:latin typeface="Arial"/>
                <a:ea typeface="Arial"/>
                <a:cs typeface="Arial"/>
                <a:sym typeface="Arial"/>
              </a:rPr>
              <a:t>suggest builders for a brief, with reasons</a:t>
            </a:r>
            <a:endParaRPr b="0" i="0" sz="1300" u="none" cap="none" strike="noStrike">
              <a:solidFill>
                <a:schemeClr val="dk1"/>
              </a:solidFill>
              <a:latin typeface="Arial"/>
              <a:ea typeface="Arial"/>
              <a:cs typeface="Arial"/>
              <a:sym typeface="Arial"/>
            </a:endParaRPr>
          </a:p>
        </p:txBody>
      </p:sp>
      <p:cxnSp>
        <p:nvCxnSpPr>
          <p:cNvPr id="438" name="Google Shape;438;p16"/>
          <p:cNvCxnSpPr/>
          <p:nvPr/>
        </p:nvCxnSpPr>
        <p:spPr>
          <a:xfrm>
            <a:off x="6255868" y="2697480"/>
            <a:ext cx="2487854" cy="0"/>
          </a:xfrm>
          <a:prstGeom prst="straightConnector1">
            <a:avLst/>
          </a:prstGeom>
          <a:noFill/>
          <a:ln cap="flat" cmpd="sng" w="9525">
            <a:solidFill>
              <a:srgbClr val="5A5A5A"/>
            </a:solidFill>
            <a:prstDash val="solid"/>
            <a:round/>
            <a:headEnd len="sm" w="sm" type="none"/>
            <a:tailEnd len="sm" w="sm" type="none"/>
          </a:ln>
        </p:spPr>
      </p:cxnSp>
      <p:sp>
        <p:nvSpPr>
          <p:cNvPr id="439" name="Google Shape;439;p16"/>
          <p:cNvSpPr txBox="1"/>
          <p:nvPr/>
        </p:nvSpPr>
        <p:spPr>
          <a:xfrm>
            <a:off x="6255868" y="2834640"/>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A56CF0"/>
              </a:buClr>
              <a:buSzPts val="1800"/>
              <a:buFont typeface="Arial"/>
              <a:buNone/>
            </a:pPr>
            <a:r>
              <a:rPr b="1" i="0" lang="en-US" sz="1800" u="none" cap="none" strike="noStrike">
                <a:solidFill>
                  <a:srgbClr val="A56CF0"/>
                </a:solidFill>
                <a:latin typeface="Arial"/>
                <a:ea typeface="Arial"/>
                <a:cs typeface="Arial"/>
                <a:sym typeface="Arial"/>
              </a:rPr>
              <a:t>03</a:t>
            </a:r>
            <a:endParaRPr b="0" i="0" sz="1800" u="none" cap="none" strike="noStrike">
              <a:solidFill>
                <a:schemeClr val="dk1"/>
              </a:solidFill>
              <a:latin typeface="Arial"/>
              <a:ea typeface="Arial"/>
              <a:cs typeface="Arial"/>
              <a:sym typeface="Arial"/>
            </a:endParaRPr>
          </a:p>
        </p:txBody>
      </p:sp>
      <p:sp>
        <p:nvSpPr>
          <p:cNvPr id="440" name="Google Shape;440;p16"/>
          <p:cNvSpPr txBox="1"/>
          <p:nvPr/>
        </p:nvSpPr>
        <p:spPr>
          <a:xfrm>
            <a:off x="6255868" y="3337560"/>
            <a:ext cx="2487854"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Onboarding</a:t>
            </a:r>
            <a:endParaRPr b="0" i="0" sz="1600" u="none" cap="none" strike="noStrike">
              <a:solidFill>
                <a:schemeClr val="dk1"/>
              </a:solidFill>
              <a:latin typeface="Arial"/>
              <a:ea typeface="Arial"/>
              <a:cs typeface="Arial"/>
              <a:sym typeface="Arial"/>
            </a:endParaRPr>
          </a:p>
        </p:txBody>
      </p:sp>
      <p:sp>
        <p:nvSpPr>
          <p:cNvPr id="441" name="Google Shape;441;p16"/>
          <p:cNvSpPr txBox="1"/>
          <p:nvPr/>
        </p:nvSpPr>
        <p:spPr>
          <a:xfrm>
            <a:off x="6255868" y="3840480"/>
            <a:ext cx="2487854" cy="16459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00"/>
              <a:buFont typeface="Arial"/>
              <a:buNone/>
            </a:pPr>
            <a:r>
              <a:rPr b="0" i="0" lang="en-US" sz="1300" u="none" cap="none" strike="noStrike">
                <a:solidFill>
                  <a:srgbClr val="B4B4B4"/>
                </a:solidFill>
                <a:latin typeface="Arial"/>
                <a:ea typeface="Arial"/>
                <a:cs typeface="Arial"/>
                <a:sym typeface="Arial"/>
              </a:rPr>
              <a:t>guide a new builder to their first suitable project</a:t>
            </a:r>
            <a:endParaRPr b="0" i="0" sz="1300" u="none" cap="none" strike="noStrike">
              <a:solidFill>
                <a:schemeClr val="dk1"/>
              </a:solidFill>
              <a:latin typeface="Arial"/>
              <a:ea typeface="Arial"/>
              <a:cs typeface="Arial"/>
              <a:sym typeface="Arial"/>
            </a:endParaRPr>
          </a:p>
        </p:txBody>
      </p:sp>
      <p:cxnSp>
        <p:nvCxnSpPr>
          <p:cNvPr id="442" name="Google Shape;442;p16"/>
          <p:cNvCxnSpPr/>
          <p:nvPr/>
        </p:nvCxnSpPr>
        <p:spPr>
          <a:xfrm>
            <a:off x="9063761" y="2697480"/>
            <a:ext cx="2487854" cy="0"/>
          </a:xfrm>
          <a:prstGeom prst="straightConnector1">
            <a:avLst/>
          </a:prstGeom>
          <a:noFill/>
          <a:ln cap="flat" cmpd="sng" w="9525">
            <a:solidFill>
              <a:srgbClr val="5A5A5A"/>
            </a:solidFill>
            <a:prstDash val="solid"/>
            <a:round/>
            <a:headEnd len="sm" w="sm" type="none"/>
            <a:tailEnd len="sm" w="sm" type="none"/>
          </a:ln>
        </p:spPr>
      </p:cxnSp>
      <p:sp>
        <p:nvSpPr>
          <p:cNvPr id="443" name="Google Shape;443;p16"/>
          <p:cNvSpPr txBox="1"/>
          <p:nvPr/>
        </p:nvSpPr>
        <p:spPr>
          <a:xfrm>
            <a:off x="9063761" y="2834640"/>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A56CF0"/>
              </a:buClr>
              <a:buSzPts val="1800"/>
              <a:buFont typeface="Arial"/>
              <a:buNone/>
            </a:pPr>
            <a:r>
              <a:rPr b="1" i="0" lang="en-US" sz="1800" u="none" cap="none" strike="noStrike">
                <a:solidFill>
                  <a:srgbClr val="A56CF0"/>
                </a:solidFill>
                <a:latin typeface="Arial"/>
                <a:ea typeface="Arial"/>
                <a:cs typeface="Arial"/>
                <a:sym typeface="Arial"/>
              </a:rPr>
              <a:t>04</a:t>
            </a:r>
            <a:endParaRPr b="0" i="0" sz="1800" u="none" cap="none" strike="noStrike">
              <a:solidFill>
                <a:schemeClr val="dk1"/>
              </a:solidFill>
              <a:latin typeface="Arial"/>
              <a:ea typeface="Arial"/>
              <a:cs typeface="Arial"/>
              <a:sym typeface="Arial"/>
            </a:endParaRPr>
          </a:p>
        </p:txBody>
      </p:sp>
      <p:sp>
        <p:nvSpPr>
          <p:cNvPr id="444" name="Google Shape;444;p16"/>
          <p:cNvSpPr txBox="1"/>
          <p:nvPr/>
        </p:nvSpPr>
        <p:spPr>
          <a:xfrm>
            <a:off x="9063761" y="3337560"/>
            <a:ext cx="2487854"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Submission review</a:t>
            </a:r>
            <a:endParaRPr b="0" i="0" sz="1600" u="none" cap="none" strike="noStrike">
              <a:solidFill>
                <a:schemeClr val="dk1"/>
              </a:solidFill>
              <a:latin typeface="Arial"/>
              <a:ea typeface="Arial"/>
              <a:cs typeface="Arial"/>
              <a:sym typeface="Arial"/>
            </a:endParaRPr>
          </a:p>
        </p:txBody>
      </p:sp>
      <p:sp>
        <p:nvSpPr>
          <p:cNvPr id="445" name="Google Shape;445;p16"/>
          <p:cNvSpPr txBox="1"/>
          <p:nvPr/>
        </p:nvSpPr>
        <p:spPr>
          <a:xfrm>
            <a:off x="9063761" y="3840480"/>
            <a:ext cx="2487854" cy="16459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00"/>
              <a:buFont typeface="Arial"/>
              <a:buNone/>
            </a:pPr>
            <a:r>
              <a:rPr b="0" i="0" lang="en-US" sz="1300" u="none" cap="none" strike="noStrike">
                <a:solidFill>
                  <a:srgbClr val="B4B4B4"/>
                </a:solidFill>
                <a:latin typeface="Arial"/>
                <a:ea typeface="Arial"/>
                <a:cs typeface="Arial"/>
                <a:sym typeface="Arial"/>
              </a:rPr>
              <a:t>check a submission against its brief and flag gaps</a:t>
            </a:r>
            <a:endParaRPr b="0" i="0" sz="1300" u="none" cap="none" strike="noStrike">
              <a:solidFill>
                <a:schemeClr val="dk1"/>
              </a:solidFill>
              <a:latin typeface="Arial"/>
              <a:ea typeface="Arial"/>
              <a:cs typeface="Arial"/>
              <a:sym typeface="Arial"/>
            </a:endParaRPr>
          </a:p>
        </p:txBody>
      </p:sp>
      <p:sp>
        <p:nvSpPr>
          <p:cNvPr id="446" name="Google Shape;446;p16"/>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17"/>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03 · WHAT OMEGA DOES HERE</a:t>
            </a:r>
            <a:endParaRPr b="0" i="0" sz="950" u="none" cap="none" strike="noStrike">
              <a:solidFill>
                <a:schemeClr val="dk1"/>
              </a:solidFill>
              <a:latin typeface="Arial"/>
              <a:ea typeface="Arial"/>
              <a:cs typeface="Arial"/>
              <a:sym typeface="Arial"/>
            </a:endParaRPr>
          </a:p>
        </p:txBody>
      </p:sp>
      <p:sp>
        <p:nvSpPr>
          <p:cNvPr id="453" name="Google Shape;453;p17"/>
          <p:cNvSpPr txBox="1"/>
          <p:nvPr/>
        </p:nvSpPr>
        <p:spPr>
          <a:xfrm>
            <a:off x="640080" y="914400"/>
            <a:ext cx="10911535"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Track 03. </a:t>
            </a:r>
            <a:r>
              <a:rPr b="1" i="0" lang="en-US" sz="3200" u="none" cap="none" strike="noStrike">
                <a:solidFill>
                  <a:srgbClr val="F2596B"/>
                </a:solidFill>
                <a:latin typeface="Arial"/>
                <a:ea typeface="Arial"/>
                <a:cs typeface="Arial"/>
                <a:sym typeface="Arial"/>
              </a:rPr>
              <a:t>W</a:t>
            </a:r>
            <a:r>
              <a:rPr b="1" i="0" lang="en-US" sz="3200" u="none" cap="none" strike="noStrike">
                <a:solidFill>
                  <a:srgbClr val="F36F67"/>
                </a:solidFill>
                <a:latin typeface="Arial"/>
                <a:ea typeface="Arial"/>
                <a:cs typeface="Arial"/>
                <a:sym typeface="Arial"/>
              </a:rPr>
              <a:t>h</a:t>
            </a:r>
            <a:r>
              <a:rPr b="1" i="0" lang="en-US" sz="3200" u="none" cap="none" strike="noStrike">
                <a:solidFill>
                  <a:srgbClr val="F48664"/>
                </a:solidFill>
                <a:latin typeface="Arial"/>
                <a:ea typeface="Arial"/>
                <a:cs typeface="Arial"/>
                <a:sym typeface="Arial"/>
              </a:rPr>
              <a:t>a</a:t>
            </a:r>
            <a:r>
              <a:rPr b="1" i="0" lang="en-US" sz="3200" u="none" cap="none" strike="noStrike">
                <a:solidFill>
                  <a:srgbClr val="F69C60"/>
                </a:solidFill>
                <a:latin typeface="Arial"/>
                <a:ea typeface="Arial"/>
                <a:cs typeface="Arial"/>
                <a:sym typeface="Arial"/>
              </a:rPr>
              <a:t>t</a:t>
            </a:r>
            <a:r>
              <a:rPr b="1" i="0" lang="en-US" sz="3200" u="none" cap="none" strike="noStrike">
                <a:solidFill>
                  <a:srgbClr val="FFFFFF"/>
                </a:solidFill>
                <a:latin typeface="Arial"/>
                <a:ea typeface="Arial"/>
                <a:cs typeface="Arial"/>
                <a:sym typeface="Arial"/>
              </a:rPr>
              <a:t> </a:t>
            </a:r>
            <a:r>
              <a:rPr b="1" i="0" lang="en-US" sz="3200" u="none" cap="none" strike="noStrike">
                <a:solidFill>
                  <a:srgbClr val="F7B25D"/>
                </a:solidFill>
                <a:latin typeface="Arial"/>
                <a:ea typeface="Arial"/>
                <a:cs typeface="Arial"/>
                <a:sym typeface="Arial"/>
              </a:rPr>
              <a:t>O</a:t>
            </a:r>
            <a:r>
              <a:rPr b="1" i="0" lang="en-US" sz="3200" u="none" cap="none" strike="noStrike">
                <a:solidFill>
                  <a:srgbClr val="D6BD67"/>
                </a:solidFill>
                <a:latin typeface="Arial"/>
                <a:ea typeface="Arial"/>
                <a:cs typeface="Arial"/>
                <a:sym typeface="Arial"/>
              </a:rPr>
              <a:t>m</a:t>
            </a:r>
            <a:r>
              <a:rPr b="1" i="0" lang="en-US" sz="3200" u="none" cap="none" strike="noStrike">
                <a:solidFill>
                  <a:srgbClr val="ABC475"/>
                </a:solidFill>
                <a:latin typeface="Arial"/>
                <a:ea typeface="Arial"/>
                <a:cs typeface="Arial"/>
                <a:sym typeface="Arial"/>
              </a:rPr>
              <a:t>e</a:t>
            </a:r>
            <a:r>
              <a:rPr b="1" i="0" lang="en-US" sz="3200" u="none" cap="none" strike="noStrike">
                <a:solidFill>
                  <a:srgbClr val="7FCB83"/>
                </a:solidFill>
                <a:latin typeface="Arial"/>
                <a:ea typeface="Arial"/>
                <a:cs typeface="Arial"/>
                <a:sym typeface="Arial"/>
              </a:rPr>
              <a:t>g</a:t>
            </a:r>
            <a:r>
              <a:rPr b="1" i="0" lang="en-US" sz="3200" u="none" cap="none" strike="noStrike">
                <a:solidFill>
                  <a:srgbClr val="54D291"/>
                </a:solidFill>
                <a:latin typeface="Arial"/>
                <a:ea typeface="Arial"/>
                <a:cs typeface="Arial"/>
                <a:sym typeface="Arial"/>
              </a:rPr>
              <a:t>a</a:t>
            </a:r>
            <a:r>
              <a:rPr b="1" i="0" lang="en-US" sz="3200" u="none" cap="none" strike="noStrike">
                <a:solidFill>
                  <a:srgbClr val="FFFFFF"/>
                </a:solidFill>
                <a:latin typeface="Arial"/>
                <a:ea typeface="Arial"/>
                <a:cs typeface="Arial"/>
                <a:sym typeface="Arial"/>
              </a:rPr>
              <a:t> </a:t>
            </a:r>
            <a:r>
              <a:rPr b="1" i="0" lang="en-US" sz="3200" u="none" cap="none" strike="noStrike">
                <a:solidFill>
                  <a:srgbClr val="40CDA2"/>
                </a:solidFill>
                <a:latin typeface="Arial"/>
                <a:ea typeface="Arial"/>
                <a:cs typeface="Arial"/>
                <a:sym typeface="Arial"/>
              </a:rPr>
              <a:t>d</a:t>
            </a:r>
            <a:r>
              <a:rPr b="1" i="0" lang="en-US" sz="3200" u="none" cap="none" strike="noStrike">
                <a:solidFill>
                  <a:srgbClr val="44BCB7"/>
                </a:solidFill>
                <a:latin typeface="Arial"/>
                <a:ea typeface="Arial"/>
                <a:cs typeface="Arial"/>
                <a:sym typeface="Arial"/>
              </a:rPr>
              <a:t>o</a:t>
            </a:r>
            <a:r>
              <a:rPr b="1" i="0" lang="en-US" sz="3200" u="none" cap="none" strike="noStrike">
                <a:solidFill>
                  <a:srgbClr val="48ABCC"/>
                </a:solidFill>
                <a:latin typeface="Arial"/>
                <a:ea typeface="Arial"/>
                <a:cs typeface="Arial"/>
                <a:sym typeface="Arial"/>
              </a:rPr>
              <a:t>e</a:t>
            </a:r>
            <a:r>
              <a:rPr b="1" i="0" lang="en-US" sz="3200" u="none" cap="none" strike="noStrike">
                <a:solidFill>
                  <a:srgbClr val="4C9AE0"/>
                </a:solidFill>
                <a:latin typeface="Arial"/>
                <a:ea typeface="Arial"/>
                <a:cs typeface="Arial"/>
                <a:sym typeface="Arial"/>
              </a:rPr>
              <a:t>s</a:t>
            </a:r>
            <a:r>
              <a:rPr b="1" i="0" lang="en-US" sz="3200" u="none" cap="none" strike="noStrike">
                <a:solidFill>
                  <a:srgbClr val="FFFFFF"/>
                </a:solidFill>
                <a:latin typeface="Arial"/>
                <a:ea typeface="Arial"/>
                <a:cs typeface="Arial"/>
                <a:sym typeface="Arial"/>
              </a:rPr>
              <a:t> </a:t>
            </a:r>
            <a:r>
              <a:rPr b="1" i="0" lang="en-US" sz="3200" u="none" cap="none" strike="noStrike">
                <a:solidFill>
                  <a:srgbClr val="548BF0"/>
                </a:solidFill>
                <a:latin typeface="Arial"/>
                <a:ea typeface="Arial"/>
                <a:cs typeface="Arial"/>
                <a:sym typeface="Arial"/>
              </a:rPr>
              <a:t>h</a:t>
            </a:r>
            <a:r>
              <a:rPr b="1" i="0" lang="en-US" sz="3200" u="none" cap="none" strike="noStrike">
                <a:solidFill>
                  <a:srgbClr val="6883F0"/>
                </a:solidFill>
                <a:latin typeface="Arial"/>
                <a:ea typeface="Arial"/>
                <a:cs typeface="Arial"/>
                <a:sym typeface="Arial"/>
              </a:rPr>
              <a:t>e</a:t>
            </a:r>
            <a:r>
              <a:rPr b="1" i="0" lang="en-US" sz="3200" u="none" cap="none" strike="noStrike">
                <a:solidFill>
                  <a:srgbClr val="7D7CF0"/>
                </a:solidFill>
                <a:latin typeface="Arial"/>
                <a:ea typeface="Arial"/>
                <a:cs typeface="Arial"/>
                <a:sym typeface="Arial"/>
              </a:rPr>
              <a:t>r</a:t>
            </a:r>
            <a:r>
              <a:rPr b="1" i="0" lang="en-US" sz="3200" u="none" cap="none" strike="noStrike">
                <a:solidFill>
                  <a:srgbClr val="9174F0"/>
                </a:solidFill>
                <a:latin typeface="Arial"/>
                <a:ea typeface="Arial"/>
                <a:cs typeface="Arial"/>
                <a:sym typeface="Arial"/>
              </a:rPr>
              <a:t>e</a:t>
            </a:r>
            <a:r>
              <a:rPr b="1" i="0" lang="en-US" sz="3200" u="none" cap="none" strike="noStrike">
                <a:solidFill>
                  <a:srgbClr val="A56CF0"/>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pic>
        <p:nvPicPr>
          <p:cNvPr descr="BASIX.MARKET" id="454" name="Google Shape;454;p17">
            <a:hlinkClick r:id="rId3"/>
          </p:cNvPr>
          <p:cNvPicPr preferRelativeResize="0"/>
          <p:nvPr/>
        </p:nvPicPr>
        <p:blipFill rotWithShape="1">
          <a:blip r:embed="rId4">
            <a:alphaModFix/>
          </a:blip>
          <a:srcRect b="0" l="0" r="0" t="0"/>
          <a:stretch/>
        </p:blipFill>
        <p:spPr>
          <a:xfrm>
            <a:off x="10114158" y="1156716"/>
            <a:ext cx="1437457" cy="155448"/>
          </a:xfrm>
          <a:prstGeom prst="rect">
            <a:avLst/>
          </a:prstGeom>
          <a:noFill/>
          <a:ln>
            <a:noFill/>
          </a:ln>
        </p:spPr>
      </p:pic>
      <p:cxnSp>
        <p:nvCxnSpPr>
          <p:cNvPr id="455" name="Google Shape;455;p17"/>
          <p:cNvCxnSpPr/>
          <p:nvPr/>
        </p:nvCxnSpPr>
        <p:spPr>
          <a:xfrm>
            <a:off x="640080" y="1783080"/>
            <a:ext cx="3362858" cy="0"/>
          </a:xfrm>
          <a:prstGeom prst="straightConnector1">
            <a:avLst/>
          </a:prstGeom>
          <a:noFill/>
          <a:ln cap="flat" cmpd="sng" w="9525">
            <a:solidFill>
              <a:srgbClr val="5A5A5A"/>
            </a:solidFill>
            <a:prstDash val="solid"/>
            <a:round/>
            <a:headEnd len="sm" w="sm" type="none"/>
            <a:tailEnd len="sm" w="sm" type="none"/>
          </a:ln>
        </p:spPr>
      </p:cxnSp>
      <p:sp>
        <p:nvSpPr>
          <p:cNvPr id="456" name="Google Shape;456;p17"/>
          <p:cNvSpPr txBox="1"/>
          <p:nvPr/>
        </p:nvSpPr>
        <p:spPr>
          <a:xfrm>
            <a:off x="640080" y="1947672"/>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A56CF0"/>
              </a:buClr>
              <a:buSzPts val="1800"/>
              <a:buFont typeface="Arial"/>
              <a:buNone/>
            </a:pPr>
            <a:r>
              <a:rPr b="1" i="0" lang="en-US" sz="1800" u="none" cap="none" strike="noStrike">
                <a:solidFill>
                  <a:srgbClr val="A56CF0"/>
                </a:solidFill>
                <a:latin typeface="Arial"/>
                <a:ea typeface="Arial"/>
                <a:cs typeface="Arial"/>
                <a:sym typeface="Arial"/>
              </a:rPr>
              <a:t>01</a:t>
            </a:r>
            <a:endParaRPr b="0" i="0" sz="1800" u="none" cap="none" strike="noStrike">
              <a:solidFill>
                <a:schemeClr val="dk1"/>
              </a:solidFill>
              <a:latin typeface="Arial"/>
              <a:ea typeface="Arial"/>
              <a:cs typeface="Arial"/>
              <a:sym typeface="Arial"/>
            </a:endParaRPr>
          </a:p>
        </p:txBody>
      </p:sp>
      <p:sp>
        <p:nvSpPr>
          <p:cNvPr id="457" name="Google Shape;457;p17"/>
          <p:cNvSpPr txBox="1"/>
          <p:nvPr/>
        </p:nvSpPr>
        <p:spPr>
          <a:xfrm>
            <a:off x="640080" y="2468880"/>
            <a:ext cx="3362858"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Role</a:t>
            </a:r>
            <a:endParaRPr b="0" i="0" sz="1800" u="none" cap="none" strike="noStrike">
              <a:solidFill>
                <a:schemeClr val="dk1"/>
              </a:solidFill>
              <a:latin typeface="Arial"/>
              <a:ea typeface="Arial"/>
              <a:cs typeface="Arial"/>
              <a:sym typeface="Arial"/>
            </a:endParaRPr>
          </a:p>
        </p:txBody>
      </p:sp>
      <p:sp>
        <p:nvSpPr>
          <p:cNvPr id="458" name="Google Shape;458;p17"/>
          <p:cNvSpPr txBox="1"/>
          <p:nvPr/>
        </p:nvSpPr>
        <p:spPr>
          <a:xfrm>
            <a:off x="640080" y="2971800"/>
            <a:ext cx="3362858"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Matchmaker or reviewer that recommends and explains</a:t>
            </a:r>
            <a:endParaRPr b="0" i="0" sz="1350" u="none" cap="none" strike="noStrike">
              <a:solidFill>
                <a:schemeClr val="dk1"/>
              </a:solidFill>
              <a:latin typeface="Arial"/>
              <a:ea typeface="Arial"/>
              <a:cs typeface="Arial"/>
              <a:sym typeface="Arial"/>
            </a:endParaRPr>
          </a:p>
        </p:txBody>
      </p:sp>
      <p:cxnSp>
        <p:nvCxnSpPr>
          <p:cNvPr id="459" name="Google Shape;459;p17"/>
          <p:cNvCxnSpPr/>
          <p:nvPr/>
        </p:nvCxnSpPr>
        <p:spPr>
          <a:xfrm>
            <a:off x="4414418" y="1783080"/>
            <a:ext cx="3362858" cy="0"/>
          </a:xfrm>
          <a:prstGeom prst="straightConnector1">
            <a:avLst/>
          </a:prstGeom>
          <a:noFill/>
          <a:ln cap="flat" cmpd="sng" w="9525">
            <a:solidFill>
              <a:srgbClr val="5A5A5A"/>
            </a:solidFill>
            <a:prstDash val="solid"/>
            <a:round/>
            <a:headEnd len="sm" w="sm" type="none"/>
            <a:tailEnd len="sm" w="sm" type="none"/>
          </a:ln>
        </p:spPr>
      </p:cxnSp>
      <p:sp>
        <p:nvSpPr>
          <p:cNvPr id="460" name="Google Shape;460;p17"/>
          <p:cNvSpPr txBox="1"/>
          <p:nvPr/>
        </p:nvSpPr>
        <p:spPr>
          <a:xfrm>
            <a:off x="4414418" y="1947672"/>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A56CF0"/>
              </a:buClr>
              <a:buSzPts val="1800"/>
              <a:buFont typeface="Arial"/>
              <a:buNone/>
            </a:pPr>
            <a:r>
              <a:rPr b="1" i="0" lang="en-US" sz="1800" u="none" cap="none" strike="noStrike">
                <a:solidFill>
                  <a:srgbClr val="A56CF0"/>
                </a:solidFill>
                <a:latin typeface="Arial"/>
                <a:ea typeface="Arial"/>
                <a:cs typeface="Arial"/>
                <a:sym typeface="Arial"/>
              </a:rPr>
              <a:t>02</a:t>
            </a:r>
            <a:endParaRPr b="0" i="0" sz="1800" u="none" cap="none" strike="noStrike">
              <a:solidFill>
                <a:schemeClr val="dk1"/>
              </a:solidFill>
              <a:latin typeface="Arial"/>
              <a:ea typeface="Arial"/>
              <a:cs typeface="Arial"/>
              <a:sym typeface="Arial"/>
            </a:endParaRPr>
          </a:p>
        </p:txBody>
      </p:sp>
      <p:sp>
        <p:nvSpPr>
          <p:cNvPr id="461" name="Google Shape;461;p17"/>
          <p:cNvSpPr txBox="1"/>
          <p:nvPr/>
        </p:nvSpPr>
        <p:spPr>
          <a:xfrm>
            <a:off x="4414418" y="2468880"/>
            <a:ext cx="3362858"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Memory and reasoning</a:t>
            </a:r>
            <a:endParaRPr b="0" i="0" sz="1800" u="none" cap="none" strike="noStrike">
              <a:solidFill>
                <a:schemeClr val="dk1"/>
              </a:solidFill>
              <a:latin typeface="Arial"/>
              <a:ea typeface="Arial"/>
              <a:cs typeface="Arial"/>
              <a:sym typeface="Arial"/>
            </a:endParaRPr>
          </a:p>
        </p:txBody>
      </p:sp>
      <p:sp>
        <p:nvSpPr>
          <p:cNvPr id="462" name="Google Shape;462;p17"/>
          <p:cNvSpPr txBox="1"/>
          <p:nvPr/>
        </p:nvSpPr>
        <p:spPr>
          <a:xfrm>
            <a:off x="4414418" y="2971800"/>
            <a:ext cx="3362858"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Remembers profiles, briefs and past decisions; uses MeTTa rules to score fit and explain each match</a:t>
            </a:r>
            <a:endParaRPr b="0" i="0" sz="1350" u="none" cap="none" strike="noStrike">
              <a:solidFill>
                <a:schemeClr val="dk1"/>
              </a:solidFill>
              <a:latin typeface="Arial"/>
              <a:ea typeface="Arial"/>
              <a:cs typeface="Arial"/>
              <a:sym typeface="Arial"/>
            </a:endParaRPr>
          </a:p>
        </p:txBody>
      </p:sp>
      <p:cxnSp>
        <p:nvCxnSpPr>
          <p:cNvPr id="463" name="Google Shape;463;p17"/>
          <p:cNvCxnSpPr/>
          <p:nvPr/>
        </p:nvCxnSpPr>
        <p:spPr>
          <a:xfrm>
            <a:off x="8188757" y="1783080"/>
            <a:ext cx="3362858" cy="0"/>
          </a:xfrm>
          <a:prstGeom prst="straightConnector1">
            <a:avLst/>
          </a:prstGeom>
          <a:noFill/>
          <a:ln cap="flat" cmpd="sng" w="9525">
            <a:solidFill>
              <a:srgbClr val="5A5A5A"/>
            </a:solidFill>
            <a:prstDash val="solid"/>
            <a:round/>
            <a:headEnd len="sm" w="sm" type="none"/>
            <a:tailEnd len="sm" w="sm" type="none"/>
          </a:ln>
        </p:spPr>
      </p:cxnSp>
      <p:sp>
        <p:nvSpPr>
          <p:cNvPr id="464" name="Google Shape;464;p17"/>
          <p:cNvSpPr txBox="1"/>
          <p:nvPr/>
        </p:nvSpPr>
        <p:spPr>
          <a:xfrm>
            <a:off x="8188757" y="1947672"/>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A56CF0"/>
              </a:buClr>
              <a:buSzPts val="1800"/>
              <a:buFont typeface="Arial"/>
              <a:buNone/>
            </a:pPr>
            <a:r>
              <a:rPr b="1" i="0" lang="en-US" sz="1800" u="none" cap="none" strike="noStrike">
                <a:solidFill>
                  <a:srgbClr val="A56CF0"/>
                </a:solidFill>
                <a:latin typeface="Arial"/>
                <a:ea typeface="Arial"/>
                <a:cs typeface="Arial"/>
                <a:sym typeface="Arial"/>
              </a:rPr>
              <a:t>03</a:t>
            </a:r>
            <a:endParaRPr b="0" i="0" sz="1800" u="none" cap="none" strike="noStrike">
              <a:solidFill>
                <a:schemeClr val="dk1"/>
              </a:solidFill>
              <a:latin typeface="Arial"/>
              <a:ea typeface="Arial"/>
              <a:cs typeface="Arial"/>
              <a:sym typeface="Arial"/>
            </a:endParaRPr>
          </a:p>
        </p:txBody>
      </p:sp>
      <p:sp>
        <p:nvSpPr>
          <p:cNvPr id="465" name="Google Shape;465;p17"/>
          <p:cNvSpPr txBox="1"/>
          <p:nvPr/>
        </p:nvSpPr>
        <p:spPr>
          <a:xfrm>
            <a:off x="8188757" y="2468880"/>
            <a:ext cx="3362858"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Tools</a:t>
            </a:r>
            <a:endParaRPr b="0" i="0" sz="1800" u="none" cap="none" strike="noStrike">
              <a:solidFill>
                <a:schemeClr val="dk1"/>
              </a:solidFill>
              <a:latin typeface="Arial"/>
              <a:ea typeface="Arial"/>
              <a:cs typeface="Arial"/>
              <a:sym typeface="Arial"/>
            </a:endParaRPr>
          </a:p>
        </p:txBody>
      </p:sp>
      <p:sp>
        <p:nvSpPr>
          <p:cNvPr id="466" name="Google Shape;466;p17"/>
          <p:cNvSpPr txBox="1"/>
          <p:nvPr/>
        </p:nvSpPr>
        <p:spPr>
          <a:xfrm>
            <a:off x="8188757" y="2971800"/>
            <a:ext cx="3362858"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Sample builder profiles, sample project briefs, any BASIX access you are authorised to use</a:t>
            </a:r>
            <a:endParaRPr b="0" i="0" sz="1350" u="none" cap="none" strike="noStrike">
              <a:solidFill>
                <a:schemeClr val="dk1"/>
              </a:solidFill>
              <a:latin typeface="Arial"/>
              <a:ea typeface="Arial"/>
              <a:cs typeface="Arial"/>
              <a:sym typeface="Arial"/>
            </a:endParaRPr>
          </a:p>
        </p:txBody>
      </p:sp>
      <p:sp>
        <p:nvSpPr>
          <p:cNvPr id="467" name="Google Shape;467;p17"/>
          <p:cNvSpPr/>
          <p:nvPr/>
        </p:nvSpPr>
        <p:spPr>
          <a:xfrm>
            <a:off x="640080" y="4572000"/>
            <a:ext cx="10911535" cy="1600200"/>
          </a:xfrm>
          <a:prstGeom prst="rect">
            <a:avLst/>
          </a:prstGeom>
          <a:solidFill>
            <a:srgbClr val="111111"/>
          </a:solidFill>
          <a:ln cap="flat" cmpd="sng" w="9525">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7"/>
          <p:cNvSpPr/>
          <p:nvPr/>
        </p:nvSpPr>
        <p:spPr>
          <a:xfrm>
            <a:off x="640080" y="4572000"/>
            <a:ext cx="10911535" cy="32004"/>
          </a:xfrm>
          <a:prstGeom prst="rect">
            <a:avLst/>
          </a:prstGeom>
          <a:solidFill>
            <a:srgbClr val="F7B8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7"/>
          <p:cNvSpPr txBox="1"/>
          <p:nvPr/>
        </p:nvSpPr>
        <p:spPr>
          <a:xfrm>
            <a:off x="1005840" y="4800600"/>
            <a:ext cx="54864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BAR TO BEAT</a:t>
            </a:r>
            <a:endParaRPr b="0" i="0" sz="950" u="none" cap="none" strike="noStrike">
              <a:solidFill>
                <a:schemeClr val="dk1"/>
              </a:solidFill>
              <a:latin typeface="Arial"/>
              <a:ea typeface="Arial"/>
              <a:cs typeface="Arial"/>
              <a:sym typeface="Arial"/>
            </a:endParaRPr>
          </a:p>
        </p:txBody>
      </p:sp>
      <p:sp>
        <p:nvSpPr>
          <p:cNvPr id="470" name="Google Shape;470;p17"/>
          <p:cNvSpPr txBox="1"/>
          <p:nvPr/>
        </p:nvSpPr>
        <p:spPr>
          <a:xfrm>
            <a:off x="1005840" y="5074920"/>
            <a:ext cx="10180015" cy="9601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350"/>
              <a:buFont typeface="Arial"/>
              <a:buNone/>
            </a:pPr>
            <a:r>
              <a:rPr b="0" i="0" lang="en-US" sz="1350" u="none" cap="none" strike="noStrike">
                <a:solidFill>
                  <a:srgbClr val="FFFFFF"/>
                </a:solidFill>
                <a:latin typeface="Arial"/>
                <a:ea typeface="Arial"/>
                <a:cs typeface="Arial"/>
                <a:sym typeface="Arial"/>
              </a:rPr>
              <a:t>Venture Route, a previous BASIX winner, used MeTTa rules to route a founder's brief to verified builders and show its working.</a:t>
            </a:r>
            <a:endParaRPr b="0" i="0" sz="1350" u="none" cap="none" strike="noStrike">
              <a:solidFill>
                <a:schemeClr val="dk1"/>
              </a:solidFill>
              <a:latin typeface="Arial"/>
              <a:ea typeface="Arial"/>
              <a:cs typeface="Arial"/>
              <a:sym typeface="Arial"/>
            </a:endParaRPr>
          </a:p>
        </p:txBody>
      </p:sp>
      <p:sp>
        <p:nvSpPr>
          <p:cNvPr id="471" name="Google Shape;471;p17"/>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18"/>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03 · DEMO AND CHECKLIST</a:t>
            </a:r>
            <a:endParaRPr b="0" i="0" sz="950" u="none" cap="none" strike="noStrike">
              <a:solidFill>
                <a:schemeClr val="dk1"/>
              </a:solidFill>
              <a:latin typeface="Arial"/>
              <a:ea typeface="Arial"/>
              <a:cs typeface="Arial"/>
              <a:sym typeface="Arial"/>
            </a:endParaRPr>
          </a:p>
        </p:txBody>
      </p:sp>
      <p:sp>
        <p:nvSpPr>
          <p:cNvPr id="478" name="Google Shape;478;p18"/>
          <p:cNvSpPr txBox="1"/>
          <p:nvPr/>
        </p:nvSpPr>
        <p:spPr>
          <a:xfrm>
            <a:off x="640080" y="914400"/>
            <a:ext cx="10911535"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Track 03. </a:t>
            </a:r>
            <a:r>
              <a:rPr b="1" i="0" lang="en-US" sz="3200" u="none" cap="none" strike="noStrike">
                <a:solidFill>
                  <a:srgbClr val="F2596B"/>
                </a:solidFill>
                <a:latin typeface="Arial"/>
                <a:ea typeface="Arial"/>
                <a:cs typeface="Arial"/>
                <a:sym typeface="Arial"/>
              </a:rPr>
              <a:t>S</a:t>
            </a:r>
            <a:r>
              <a:rPr b="1" i="0" lang="en-US" sz="3200" u="none" cap="none" strike="noStrike">
                <a:solidFill>
                  <a:srgbClr val="F36C68"/>
                </a:solidFill>
                <a:latin typeface="Arial"/>
                <a:ea typeface="Arial"/>
                <a:cs typeface="Arial"/>
                <a:sym typeface="Arial"/>
              </a:rPr>
              <a:t>h</a:t>
            </a:r>
            <a:r>
              <a:rPr b="1" i="0" lang="en-US" sz="3200" u="none" cap="none" strike="noStrike">
                <a:solidFill>
                  <a:srgbClr val="F47F65"/>
                </a:solidFill>
                <a:latin typeface="Arial"/>
                <a:ea typeface="Arial"/>
                <a:cs typeface="Arial"/>
                <a:sym typeface="Arial"/>
              </a:rPr>
              <a:t>o</a:t>
            </a:r>
            <a:r>
              <a:rPr b="1" i="0" lang="en-US" sz="3200" u="none" cap="none" strike="noStrike">
                <a:solidFill>
                  <a:srgbClr val="F59262"/>
                </a:solidFill>
                <a:latin typeface="Arial"/>
                <a:ea typeface="Arial"/>
                <a:cs typeface="Arial"/>
                <a:sym typeface="Arial"/>
              </a:rPr>
              <a:t>w</a:t>
            </a:r>
            <a:r>
              <a:rPr b="1" i="0" lang="en-US" sz="3200" u="none" cap="none" strike="noStrike">
                <a:solidFill>
                  <a:srgbClr val="FFFFFF"/>
                </a:solidFill>
                <a:latin typeface="Arial"/>
                <a:ea typeface="Arial"/>
                <a:cs typeface="Arial"/>
                <a:sym typeface="Arial"/>
              </a:rPr>
              <a:t> </a:t>
            </a:r>
            <a:r>
              <a:rPr b="1" i="0" lang="en-US" sz="3200" u="none" cap="none" strike="noStrike">
                <a:solidFill>
                  <a:srgbClr val="F6A55F"/>
                </a:solidFill>
                <a:latin typeface="Arial"/>
                <a:ea typeface="Arial"/>
                <a:cs typeface="Arial"/>
                <a:sym typeface="Arial"/>
              </a:rPr>
              <a:t>i</a:t>
            </a:r>
            <a:r>
              <a:rPr b="1" i="0" lang="en-US" sz="3200" u="none" cap="none" strike="noStrike">
                <a:solidFill>
                  <a:srgbClr val="F7B85C"/>
                </a:solidFill>
                <a:latin typeface="Arial"/>
                <a:ea typeface="Arial"/>
                <a:cs typeface="Arial"/>
                <a:sym typeface="Arial"/>
              </a:rPr>
              <a:t>t</a:t>
            </a:r>
            <a:r>
              <a:rPr b="1" i="0" lang="en-US" sz="3200" u="none" cap="none" strike="noStrike">
                <a:solidFill>
                  <a:srgbClr val="FFFFFF"/>
                </a:solidFill>
                <a:latin typeface="Arial"/>
                <a:ea typeface="Arial"/>
                <a:cs typeface="Arial"/>
                <a:sym typeface="Arial"/>
              </a:rPr>
              <a:t> </a:t>
            </a:r>
            <a:r>
              <a:rPr b="1" i="0" lang="en-US" sz="3200" u="none" cap="none" strike="noStrike">
                <a:solidFill>
                  <a:srgbClr val="D2BE68"/>
                </a:solidFill>
                <a:latin typeface="Arial"/>
                <a:ea typeface="Arial"/>
                <a:cs typeface="Arial"/>
                <a:sym typeface="Arial"/>
              </a:rPr>
              <a:t>i</a:t>
            </a:r>
            <a:r>
              <a:rPr b="1" i="0" lang="en-US" sz="3200" u="none" cap="none" strike="noStrike">
                <a:solidFill>
                  <a:srgbClr val="ADC474"/>
                </a:solidFill>
                <a:latin typeface="Arial"/>
                <a:ea typeface="Arial"/>
                <a:cs typeface="Arial"/>
                <a:sym typeface="Arial"/>
              </a:rPr>
              <a:t>n</a:t>
            </a:r>
            <a:r>
              <a:rPr b="1" i="0" lang="en-US" sz="3200" u="none" cap="none" strike="noStrike">
                <a:solidFill>
                  <a:srgbClr val="FFFFFF"/>
                </a:solidFill>
                <a:latin typeface="Arial"/>
                <a:ea typeface="Arial"/>
                <a:cs typeface="Arial"/>
                <a:sym typeface="Arial"/>
              </a:rPr>
              <a:t> </a:t>
            </a:r>
            <a:r>
              <a:rPr b="1" i="0" lang="en-US" sz="3200" u="none" cap="none" strike="noStrike">
                <a:solidFill>
                  <a:srgbClr val="88C980"/>
                </a:solidFill>
                <a:latin typeface="Arial"/>
                <a:ea typeface="Arial"/>
                <a:cs typeface="Arial"/>
                <a:sym typeface="Arial"/>
              </a:rPr>
              <a:t>t</a:t>
            </a:r>
            <a:r>
              <a:rPr b="1" i="0" lang="en-US" sz="3200" u="none" cap="none" strike="noStrike">
                <a:solidFill>
                  <a:srgbClr val="63CF8C"/>
                </a:solidFill>
                <a:latin typeface="Arial"/>
                <a:ea typeface="Arial"/>
                <a:cs typeface="Arial"/>
                <a:sym typeface="Arial"/>
              </a:rPr>
              <a:t>h</a:t>
            </a:r>
            <a:r>
              <a:rPr b="1" i="0" lang="en-US" sz="3200" u="none" cap="none" strike="noStrike">
                <a:solidFill>
                  <a:srgbClr val="3ED598"/>
                </a:solidFill>
                <a:latin typeface="Arial"/>
                <a:ea typeface="Arial"/>
                <a:cs typeface="Arial"/>
                <a:sym typeface="Arial"/>
              </a:rPr>
              <a:t>r</a:t>
            </a:r>
            <a:r>
              <a:rPr b="1" i="0" lang="en-US" sz="3200" u="none" cap="none" strike="noStrike">
                <a:solidFill>
                  <a:srgbClr val="41C7AA"/>
                </a:solidFill>
                <a:latin typeface="Arial"/>
                <a:ea typeface="Arial"/>
                <a:cs typeface="Arial"/>
                <a:sym typeface="Arial"/>
              </a:rPr>
              <a:t>e</a:t>
            </a:r>
            <a:r>
              <a:rPr b="1" i="0" lang="en-US" sz="3200" u="none" cap="none" strike="noStrike">
                <a:solidFill>
                  <a:srgbClr val="45B8BB"/>
                </a:solidFill>
                <a:latin typeface="Arial"/>
                <a:ea typeface="Arial"/>
                <a:cs typeface="Arial"/>
                <a:sym typeface="Arial"/>
              </a:rPr>
              <a:t>e</a:t>
            </a:r>
            <a:r>
              <a:rPr b="1" i="0" lang="en-US" sz="3200" u="none" cap="none" strike="noStrike">
                <a:solidFill>
                  <a:srgbClr val="FFFFFF"/>
                </a:solidFill>
                <a:latin typeface="Arial"/>
                <a:ea typeface="Arial"/>
                <a:cs typeface="Arial"/>
                <a:sym typeface="Arial"/>
              </a:rPr>
              <a:t> </a:t>
            </a:r>
            <a:r>
              <a:rPr b="1" i="0" lang="en-US" sz="3200" u="none" cap="none" strike="noStrike">
                <a:solidFill>
                  <a:srgbClr val="48AACD"/>
                </a:solidFill>
                <a:latin typeface="Arial"/>
                <a:ea typeface="Arial"/>
                <a:cs typeface="Arial"/>
                <a:sym typeface="Arial"/>
              </a:rPr>
              <a:t>m</a:t>
            </a:r>
            <a:r>
              <a:rPr b="1" i="0" lang="en-US" sz="3200" u="none" cap="none" strike="noStrike">
                <a:solidFill>
                  <a:srgbClr val="4C9BDE"/>
                </a:solidFill>
                <a:latin typeface="Arial"/>
                <a:ea typeface="Arial"/>
                <a:cs typeface="Arial"/>
                <a:sym typeface="Arial"/>
              </a:rPr>
              <a:t>i</a:t>
            </a:r>
            <a:r>
              <a:rPr b="1" i="0" lang="en-US" sz="3200" u="none" cap="none" strike="noStrike">
                <a:solidFill>
                  <a:srgbClr val="4F8DF0"/>
                </a:solidFill>
                <a:latin typeface="Arial"/>
                <a:ea typeface="Arial"/>
                <a:cs typeface="Arial"/>
                <a:sym typeface="Arial"/>
              </a:rPr>
              <a:t>n</a:t>
            </a:r>
            <a:r>
              <a:rPr b="1" i="0" lang="en-US" sz="3200" u="none" cap="none" strike="noStrike">
                <a:solidFill>
                  <a:srgbClr val="6086F0"/>
                </a:solidFill>
                <a:latin typeface="Arial"/>
                <a:ea typeface="Arial"/>
                <a:cs typeface="Arial"/>
                <a:sym typeface="Arial"/>
              </a:rPr>
              <a:t>u</a:t>
            </a:r>
            <a:r>
              <a:rPr b="1" i="0" lang="en-US" sz="3200" u="none" cap="none" strike="noStrike">
                <a:solidFill>
                  <a:srgbClr val="7180F0"/>
                </a:solidFill>
                <a:latin typeface="Arial"/>
                <a:ea typeface="Arial"/>
                <a:cs typeface="Arial"/>
                <a:sym typeface="Arial"/>
              </a:rPr>
              <a:t>t</a:t>
            </a:r>
            <a:r>
              <a:rPr b="1" i="0" lang="en-US" sz="3200" u="none" cap="none" strike="noStrike">
                <a:solidFill>
                  <a:srgbClr val="8379F0"/>
                </a:solidFill>
                <a:latin typeface="Arial"/>
                <a:ea typeface="Arial"/>
                <a:cs typeface="Arial"/>
                <a:sym typeface="Arial"/>
              </a:rPr>
              <a:t>e</a:t>
            </a:r>
            <a:r>
              <a:rPr b="1" i="0" lang="en-US" sz="3200" u="none" cap="none" strike="noStrike">
                <a:solidFill>
                  <a:srgbClr val="9473F0"/>
                </a:solidFill>
                <a:latin typeface="Arial"/>
                <a:ea typeface="Arial"/>
                <a:cs typeface="Arial"/>
                <a:sym typeface="Arial"/>
              </a:rPr>
              <a:t>s</a:t>
            </a:r>
            <a:r>
              <a:rPr b="1" i="0" lang="en-US" sz="3200" u="none" cap="none" strike="noStrike">
                <a:solidFill>
                  <a:srgbClr val="A56CF0"/>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pic>
        <p:nvPicPr>
          <p:cNvPr descr="BASIX.MARKET" id="479" name="Google Shape;479;p18">
            <a:hlinkClick r:id="rId3"/>
          </p:cNvPr>
          <p:cNvPicPr preferRelativeResize="0"/>
          <p:nvPr/>
        </p:nvPicPr>
        <p:blipFill rotWithShape="1">
          <a:blip r:embed="rId4">
            <a:alphaModFix/>
          </a:blip>
          <a:srcRect b="0" l="0" r="0" t="0"/>
          <a:stretch/>
        </p:blipFill>
        <p:spPr>
          <a:xfrm>
            <a:off x="10114158" y="1156716"/>
            <a:ext cx="1437457" cy="155448"/>
          </a:xfrm>
          <a:prstGeom prst="rect">
            <a:avLst/>
          </a:prstGeom>
          <a:noFill/>
          <a:ln>
            <a:noFill/>
          </a:ln>
        </p:spPr>
      </p:pic>
      <p:sp>
        <p:nvSpPr>
          <p:cNvPr id="480" name="Google Shape;480;p18"/>
          <p:cNvSpPr txBox="1"/>
          <p:nvPr/>
        </p:nvSpPr>
        <p:spPr>
          <a:xfrm>
            <a:off x="640080" y="1783080"/>
            <a:ext cx="52578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DEMO SCRIPT (3 MINUTES)</a:t>
            </a:r>
            <a:endParaRPr b="0" i="0" sz="950" u="none" cap="none" strike="noStrike">
              <a:solidFill>
                <a:schemeClr val="dk1"/>
              </a:solidFill>
              <a:latin typeface="Arial"/>
              <a:ea typeface="Arial"/>
              <a:cs typeface="Arial"/>
              <a:sym typeface="Arial"/>
            </a:endParaRPr>
          </a:p>
        </p:txBody>
      </p:sp>
      <p:cxnSp>
        <p:nvCxnSpPr>
          <p:cNvPr id="481" name="Google Shape;481;p18"/>
          <p:cNvCxnSpPr/>
          <p:nvPr/>
        </p:nvCxnSpPr>
        <p:spPr>
          <a:xfrm>
            <a:off x="640080" y="2103120"/>
            <a:ext cx="5257800" cy="0"/>
          </a:xfrm>
          <a:prstGeom prst="straightConnector1">
            <a:avLst/>
          </a:prstGeom>
          <a:noFill/>
          <a:ln cap="flat" cmpd="sng" w="9525">
            <a:solidFill>
              <a:srgbClr val="5A5A5A"/>
            </a:solidFill>
            <a:prstDash val="solid"/>
            <a:round/>
            <a:headEnd len="sm" w="sm" type="none"/>
            <a:tailEnd len="sm" w="sm" type="none"/>
          </a:ln>
        </p:spPr>
      </p:cxnSp>
      <p:sp>
        <p:nvSpPr>
          <p:cNvPr id="482" name="Google Shape;482;p18"/>
          <p:cNvSpPr txBox="1"/>
          <p:nvPr/>
        </p:nvSpPr>
        <p:spPr>
          <a:xfrm>
            <a:off x="640080" y="2157984"/>
            <a:ext cx="36576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A56CF0"/>
              </a:buClr>
              <a:buSzPts val="1500"/>
              <a:buFont typeface="Arial"/>
              <a:buNone/>
            </a:pPr>
            <a:r>
              <a:rPr b="1" i="0" lang="en-US" sz="1500" u="none" cap="none" strike="noStrike">
                <a:solidFill>
                  <a:srgbClr val="A56CF0"/>
                </a:solidFill>
                <a:latin typeface="Arial"/>
                <a:ea typeface="Arial"/>
                <a:cs typeface="Arial"/>
                <a:sym typeface="Arial"/>
              </a:rPr>
              <a:t>1</a:t>
            </a:r>
            <a:endParaRPr b="0" i="0" sz="1500" u="none" cap="none" strike="noStrike">
              <a:solidFill>
                <a:schemeClr val="dk1"/>
              </a:solidFill>
              <a:latin typeface="Arial"/>
              <a:ea typeface="Arial"/>
              <a:cs typeface="Arial"/>
              <a:sym typeface="Arial"/>
            </a:endParaRPr>
          </a:p>
        </p:txBody>
      </p:sp>
      <p:sp>
        <p:nvSpPr>
          <p:cNvPr id="483" name="Google Shape;483;p18"/>
          <p:cNvSpPr txBox="1"/>
          <p:nvPr/>
        </p:nvSpPr>
        <p:spPr>
          <a:xfrm>
            <a:off x="1051560" y="2148840"/>
            <a:ext cx="4846320" cy="56692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Load a builder profile with credentials and interests.</a:t>
            </a:r>
            <a:endParaRPr b="0" i="0" sz="1200" u="none" cap="none" strike="noStrike">
              <a:solidFill>
                <a:schemeClr val="dk1"/>
              </a:solidFill>
              <a:latin typeface="Arial"/>
              <a:ea typeface="Arial"/>
              <a:cs typeface="Arial"/>
              <a:sym typeface="Arial"/>
            </a:endParaRPr>
          </a:p>
        </p:txBody>
      </p:sp>
      <p:cxnSp>
        <p:nvCxnSpPr>
          <p:cNvPr id="484" name="Google Shape;484;p18"/>
          <p:cNvCxnSpPr/>
          <p:nvPr/>
        </p:nvCxnSpPr>
        <p:spPr>
          <a:xfrm>
            <a:off x="640080" y="2743200"/>
            <a:ext cx="5257800" cy="0"/>
          </a:xfrm>
          <a:prstGeom prst="straightConnector1">
            <a:avLst/>
          </a:prstGeom>
          <a:noFill/>
          <a:ln cap="flat" cmpd="sng" w="9525">
            <a:solidFill>
              <a:srgbClr val="262626"/>
            </a:solidFill>
            <a:prstDash val="solid"/>
            <a:round/>
            <a:headEnd len="sm" w="sm" type="none"/>
            <a:tailEnd len="sm" w="sm" type="none"/>
          </a:ln>
        </p:spPr>
      </p:cxnSp>
      <p:sp>
        <p:nvSpPr>
          <p:cNvPr id="485" name="Google Shape;485;p18"/>
          <p:cNvSpPr txBox="1"/>
          <p:nvPr/>
        </p:nvSpPr>
        <p:spPr>
          <a:xfrm>
            <a:off x="640080" y="2798064"/>
            <a:ext cx="36576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A56CF0"/>
              </a:buClr>
              <a:buSzPts val="1500"/>
              <a:buFont typeface="Arial"/>
              <a:buNone/>
            </a:pPr>
            <a:r>
              <a:rPr b="1" i="0" lang="en-US" sz="1500" u="none" cap="none" strike="noStrike">
                <a:solidFill>
                  <a:srgbClr val="A56CF0"/>
                </a:solidFill>
                <a:latin typeface="Arial"/>
                <a:ea typeface="Arial"/>
                <a:cs typeface="Arial"/>
                <a:sym typeface="Arial"/>
              </a:rPr>
              <a:t>2</a:t>
            </a:r>
            <a:endParaRPr b="0" i="0" sz="1500" u="none" cap="none" strike="noStrike">
              <a:solidFill>
                <a:schemeClr val="dk1"/>
              </a:solidFill>
              <a:latin typeface="Arial"/>
              <a:ea typeface="Arial"/>
              <a:cs typeface="Arial"/>
              <a:sym typeface="Arial"/>
            </a:endParaRPr>
          </a:p>
        </p:txBody>
      </p:sp>
      <p:sp>
        <p:nvSpPr>
          <p:cNvPr id="486" name="Google Shape;486;p18"/>
          <p:cNvSpPr txBox="1"/>
          <p:nvPr/>
        </p:nvSpPr>
        <p:spPr>
          <a:xfrm>
            <a:off x="1051560" y="2788920"/>
            <a:ext cx="4846320" cy="56692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The agent recommends a project and shows the evidence behind it.</a:t>
            </a:r>
            <a:endParaRPr b="0" i="0" sz="1200" u="none" cap="none" strike="noStrike">
              <a:solidFill>
                <a:schemeClr val="dk1"/>
              </a:solidFill>
              <a:latin typeface="Arial"/>
              <a:ea typeface="Arial"/>
              <a:cs typeface="Arial"/>
              <a:sym typeface="Arial"/>
            </a:endParaRPr>
          </a:p>
        </p:txBody>
      </p:sp>
      <p:cxnSp>
        <p:nvCxnSpPr>
          <p:cNvPr id="487" name="Google Shape;487;p18"/>
          <p:cNvCxnSpPr/>
          <p:nvPr/>
        </p:nvCxnSpPr>
        <p:spPr>
          <a:xfrm>
            <a:off x="640080" y="3383280"/>
            <a:ext cx="5257800" cy="0"/>
          </a:xfrm>
          <a:prstGeom prst="straightConnector1">
            <a:avLst/>
          </a:prstGeom>
          <a:noFill/>
          <a:ln cap="flat" cmpd="sng" w="9525">
            <a:solidFill>
              <a:srgbClr val="262626"/>
            </a:solidFill>
            <a:prstDash val="solid"/>
            <a:round/>
            <a:headEnd len="sm" w="sm" type="none"/>
            <a:tailEnd len="sm" w="sm" type="none"/>
          </a:ln>
        </p:spPr>
      </p:cxnSp>
      <p:sp>
        <p:nvSpPr>
          <p:cNvPr id="488" name="Google Shape;488;p18"/>
          <p:cNvSpPr txBox="1"/>
          <p:nvPr/>
        </p:nvSpPr>
        <p:spPr>
          <a:xfrm>
            <a:off x="640080" y="3438144"/>
            <a:ext cx="36576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A56CF0"/>
              </a:buClr>
              <a:buSzPts val="1500"/>
              <a:buFont typeface="Arial"/>
              <a:buNone/>
            </a:pPr>
            <a:r>
              <a:rPr b="1" i="0" lang="en-US" sz="1500" u="none" cap="none" strike="noStrike">
                <a:solidFill>
                  <a:srgbClr val="A56CF0"/>
                </a:solidFill>
                <a:latin typeface="Arial"/>
                <a:ea typeface="Arial"/>
                <a:cs typeface="Arial"/>
                <a:sym typeface="Arial"/>
              </a:rPr>
              <a:t>3</a:t>
            </a:r>
            <a:endParaRPr b="0" i="0" sz="1500" u="none" cap="none" strike="noStrike">
              <a:solidFill>
                <a:schemeClr val="dk1"/>
              </a:solidFill>
              <a:latin typeface="Arial"/>
              <a:ea typeface="Arial"/>
              <a:cs typeface="Arial"/>
              <a:sym typeface="Arial"/>
            </a:endParaRPr>
          </a:p>
        </p:txBody>
      </p:sp>
      <p:sp>
        <p:nvSpPr>
          <p:cNvPr id="489" name="Google Shape;489;p18"/>
          <p:cNvSpPr txBox="1"/>
          <p:nvPr/>
        </p:nvSpPr>
        <p:spPr>
          <a:xfrm>
            <a:off x="1051560" y="3429000"/>
            <a:ext cx="4846320" cy="56692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Load an incomplete profile. Show the agent ask for what is missing instead of guessing.</a:t>
            </a:r>
            <a:endParaRPr b="0" i="0" sz="1200" u="none" cap="none" strike="noStrike">
              <a:solidFill>
                <a:schemeClr val="dk1"/>
              </a:solidFill>
              <a:latin typeface="Arial"/>
              <a:ea typeface="Arial"/>
              <a:cs typeface="Arial"/>
              <a:sym typeface="Arial"/>
            </a:endParaRPr>
          </a:p>
        </p:txBody>
      </p:sp>
      <p:cxnSp>
        <p:nvCxnSpPr>
          <p:cNvPr id="490" name="Google Shape;490;p18"/>
          <p:cNvCxnSpPr/>
          <p:nvPr/>
        </p:nvCxnSpPr>
        <p:spPr>
          <a:xfrm>
            <a:off x="640080" y="4023360"/>
            <a:ext cx="5257800" cy="0"/>
          </a:xfrm>
          <a:prstGeom prst="straightConnector1">
            <a:avLst/>
          </a:prstGeom>
          <a:noFill/>
          <a:ln cap="flat" cmpd="sng" w="9525">
            <a:solidFill>
              <a:srgbClr val="262626"/>
            </a:solidFill>
            <a:prstDash val="solid"/>
            <a:round/>
            <a:headEnd len="sm" w="sm" type="none"/>
            <a:tailEnd len="sm" w="sm" type="none"/>
          </a:ln>
        </p:spPr>
      </p:cxnSp>
      <p:sp>
        <p:nvSpPr>
          <p:cNvPr id="491" name="Google Shape;491;p18"/>
          <p:cNvSpPr txBox="1"/>
          <p:nvPr/>
        </p:nvSpPr>
        <p:spPr>
          <a:xfrm>
            <a:off x="640080" y="4078224"/>
            <a:ext cx="36576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A56CF0"/>
              </a:buClr>
              <a:buSzPts val="1500"/>
              <a:buFont typeface="Arial"/>
              <a:buNone/>
            </a:pPr>
            <a:r>
              <a:rPr b="1" i="0" lang="en-US" sz="1500" u="none" cap="none" strike="noStrike">
                <a:solidFill>
                  <a:srgbClr val="A56CF0"/>
                </a:solidFill>
                <a:latin typeface="Arial"/>
                <a:ea typeface="Arial"/>
                <a:cs typeface="Arial"/>
                <a:sym typeface="Arial"/>
              </a:rPr>
              <a:t>4</a:t>
            </a:r>
            <a:endParaRPr b="0" i="0" sz="1500" u="none" cap="none" strike="noStrike">
              <a:solidFill>
                <a:schemeClr val="dk1"/>
              </a:solidFill>
              <a:latin typeface="Arial"/>
              <a:ea typeface="Arial"/>
              <a:cs typeface="Arial"/>
              <a:sym typeface="Arial"/>
            </a:endParaRPr>
          </a:p>
        </p:txBody>
      </p:sp>
      <p:sp>
        <p:nvSpPr>
          <p:cNvPr id="492" name="Google Shape;492;p18"/>
          <p:cNvSpPr txBox="1"/>
          <p:nvPr/>
        </p:nvSpPr>
        <p:spPr>
          <a:xfrm>
            <a:off x="1051560" y="4069080"/>
            <a:ext cx="4846320" cy="56692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Load an unsuitable profile. Show the agent decline to match and say why.</a:t>
            </a:r>
            <a:endParaRPr b="0" i="0" sz="1200" u="none" cap="none" strike="noStrike">
              <a:solidFill>
                <a:schemeClr val="dk1"/>
              </a:solidFill>
              <a:latin typeface="Arial"/>
              <a:ea typeface="Arial"/>
              <a:cs typeface="Arial"/>
              <a:sym typeface="Arial"/>
            </a:endParaRPr>
          </a:p>
        </p:txBody>
      </p:sp>
      <p:sp>
        <p:nvSpPr>
          <p:cNvPr id="493" name="Google Shape;493;p18"/>
          <p:cNvSpPr txBox="1"/>
          <p:nvPr/>
        </p:nvSpPr>
        <p:spPr>
          <a:xfrm>
            <a:off x="6355080" y="1783080"/>
            <a:ext cx="5196535"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SHOWCASE CHECKLIST</a:t>
            </a:r>
            <a:endParaRPr b="0" i="0" sz="950" u="none" cap="none" strike="noStrike">
              <a:solidFill>
                <a:schemeClr val="dk1"/>
              </a:solidFill>
              <a:latin typeface="Arial"/>
              <a:ea typeface="Arial"/>
              <a:cs typeface="Arial"/>
              <a:sym typeface="Arial"/>
            </a:endParaRPr>
          </a:p>
        </p:txBody>
      </p:sp>
      <p:cxnSp>
        <p:nvCxnSpPr>
          <p:cNvPr id="494" name="Google Shape;494;p18"/>
          <p:cNvCxnSpPr/>
          <p:nvPr/>
        </p:nvCxnSpPr>
        <p:spPr>
          <a:xfrm>
            <a:off x="6355080" y="2103120"/>
            <a:ext cx="5196535" cy="0"/>
          </a:xfrm>
          <a:prstGeom prst="straightConnector1">
            <a:avLst/>
          </a:prstGeom>
          <a:noFill/>
          <a:ln cap="flat" cmpd="sng" w="9525">
            <a:solidFill>
              <a:srgbClr val="5A5A5A"/>
            </a:solidFill>
            <a:prstDash val="solid"/>
            <a:round/>
            <a:headEnd len="sm" w="sm" type="none"/>
            <a:tailEnd len="sm" w="sm" type="none"/>
          </a:ln>
        </p:spPr>
      </p:cxnSp>
      <p:sp>
        <p:nvSpPr>
          <p:cNvPr id="495" name="Google Shape;495;p18"/>
          <p:cNvSpPr/>
          <p:nvPr/>
        </p:nvSpPr>
        <p:spPr>
          <a:xfrm>
            <a:off x="6355080" y="2221992"/>
            <a:ext cx="164592" cy="164592"/>
          </a:xfrm>
          <a:prstGeom prst="rect">
            <a:avLst/>
          </a:prstGeom>
          <a:solidFill>
            <a:srgbClr val="0A0A0A"/>
          </a:solidFill>
          <a:ln cap="flat" cmpd="sng" w="12700">
            <a:solidFill>
              <a:srgbClr val="A56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8"/>
          <p:cNvSpPr txBox="1"/>
          <p:nvPr/>
        </p:nvSpPr>
        <p:spPr>
          <a:xfrm>
            <a:off x="6675120" y="2139696"/>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One workflow, clearly named</a:t>
            </a:r>
            <a:endParaRPr b="0" i="0" sz="1150" u="none" cap="none" strike="noStrike">
              <a:solidFill>
                <a:schemeClr val="dk1"/>
              </a:solidFill>
              <a:latin typeface="Arial"/>
              <a:ea typeface="Arial"/>
              <a:cs typeface="Arial"/>
              <a:sym typeface="Arial"/>
            </a:endParaRPr>
          </a:p>
        </p:txBody>
      </p:sp>
      <p:cxnSp>
        <p:nvCxnSpPr>
          <p:cNvPr id="497" name="Google Shape;497;p18"/>
          <p:cNvCxnSpPr/>
          <p:nvPr/>
        </p:nvCxnSpPr>
        <p:spPr>
          <a:xfrm>
            <a:off x="6355080" y="2532888"/>
            <a:ext cx="5196535" cy="0"/>
          </a:xfrm>
          <a:prstGeom prst="straightConnector1">
            <a:avLst/>
          </a:prstGeom>
          <a:noFill/>
          <a:ln cap="flat" cmpd="sng" w="9525">
            <a:solidFill>
              <a:srgbClr val="262626"/>
            </a:solidFill>
            <a:prstDash val="solid"/>
            <a:round/>
            <a:headEnd len="sm" w="sm" type="none"/>
            <a:tailEnd len="sm" w="sm" type="none"/>
          </a:ln>
        </p:spPr>
      </p:cxnSp>
      <p:sp>
        <p:nvSpPr>
          <p:cNvPr id="498" name="Google Shape;498;p18"/>
          <p:cNvSpPr/>
          <p:nvPr/>
        </p:nvSpPr>
        <p:spPr>
          <a:xfrm>
            <a:off x="6355080" y="2651760"/>
            <a:ext cx="164592" cy="164592"/>
          </a:xfrm>
          <a:prstGeom prst="rect">
            <a:avLst/>
          </a:prstGeom>
          <a:solidFill>
            <a:srgbClr val="0A0A0A"/>
          </a:solidFill>
          <a:ln cap="flat" cmpd="sng" w="12700">
            <a:solidFill>
              <a:srgbClr val="A56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8"/>
          <p:cNvSpPr txBox="1"/>
          <p:nvPr/>
        </p:nvSpPr>
        <p:spPr>
          <a:xfrm>
            <a:off x="6675120" y="2569464"/>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Every recommendation shows its evidence</a:t>
            </a:r>
            <a:endParaRPr b="0" i="0" sz="1150" u="none" cap="none" strike="noStrike">
              <a:solidFill>
                <a:schemeClr val="dk1"/>
              </a:solidFill>
              <a:latin typeface="Arial"/>
              <a:ea typeface="Arial"/>
              <a:cs typeface="Arial"/>
              <a:sym typeface="Arial"/>
            </a:endParaRPr>
          </a:p>
        </p:txBody>
      </p:sp>
      <p:cxnSp>
        <p:nvCxnSpPr>
          <p:cNvPr id="500" name="Google Shape;500;p18"/>
          <p:cNvCxnSpPr/>
          <p:nvPr/>
        </p:nvCxnSpPr>
        <p:spPr>
          <a:xfrm>
            <a:off x="6355080" y="2962656"/>
            <a:ext cx="5196535" cy="0"/>
          </a:xfrm>
          <a:prstGeom prst="straightConnector1">
            <a:avLst/>
          </a:prstGeom>
          <a:noFill/>
          <a:ln cap="flat" cmpd="sng" w="9525">
            <a:solidFill>
              <a:srgbClr val="262626"/>
            </a:solidFill>
            <a:prstDash val="solid"/>
            <a:round/>
            <a:headEnd len="sm" w="sm" type="none"/>
            <a:tailEnd len="sm" w="sm" type="none"/>
          </a:ln>
        </p:spPr>
      </p:cxnSp>
      <p:sp>
        <p:nvSpPr>
          <p:cNvPr id="501" name="Google Shape;501;p18"/>
          <p:cNvSpPr/>
          <p:nvPr/>
        </p:nvSpPr>
        <p:spPr>
          <a:xfrm>
            <a:off x="6355080" y="3081528"/>
            <a:ext cx="164592" cy="164592"/>
          </a:xfrm>
          <a:prstGeom prst="rect">
            <a:avLst/>
          </a:prstGeom>
          <a:solidFill>
            <a:srgbClr val="0A0A0A"/>
          </a:solidFill>
          <a:ln cap="flat" cmpd="sng" w="12700">
            <a:solidFill>
              <a:srgbClr val="A56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8"/>
          <p:cNvSpPr txBox="1"/>
          <p:nvPr/>
        </p:nvSpPr>
        <p:spPr>
          <a:xfrm>
            <a:off x="6675120" y="2999232"/>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Incomplete profile handled</a:t>
            </a:r>
            <a:endParaRPr b="0" i="0" sz="1150" u="none" cap="none" strike="noStrike">
              <a:solidFill>
                <a:schemeClr val="dk1"/>
              </a:solidFill>
              <a:latin typeface="Arial"/>
              <a:ea typeface="Arial"/>
              <a:cs typeface="Arial"/>
              <a:sym typeface="Arial"/>
            </a:endParaRPr>
          </a:p>
        </p:txBody>
      </p:sp>
      <p:cxnSp>
        <p:nvCxnSpPr>
          <p:cNvPr id="503" name="Google Shape;503;p18"/>
          <p:cNvCxnSpPr/>
          <p:nvPr/>
        </p:nvCxnSpPr>
        <p:spPr>
          <a:xfrm>
            <a:off x="6355080" y="3392424"/>
            <a:ext cx="5196535" cy="0"/>
          </a:xfrm>
          <a:prstGeom prst="straightConnector1">
            <a:avLst/>
          </a:prstGeom>
          <a:noFill/>
          <a:ln cap="flat" cmpd="sng" w="9525">
            <a:solidFill>
              <a:srgbClr val="262626"/>
            </a:solidFill>
            <a:prstDash val="solid"/>
            <a:round/>
            <a:headEnd len="sm" w="sm" type="none"/>
            <a:tailEnd len="sm" w="sm" type="none"/>
          </a:ln>
        </p:spPr>
      </p:cxnSp>
      <p:sp>
        <p:nvSpPr>
          <p:cNvPr id="504" name="Google Shape;504;p18"/>
          <p:cNvSpPr/>
          <p:nvPr/>
        </p:nvSpPr>
        <p:spPr>
          <a:xfrm>
            <a:off x="6355080" y="3511296"/>
            <a:ext cx="164592" cy="164592"/>
          </a:xfrm>
          <a:prstGeom prst="rect">
            <a:avLst/>
          </a:prstGeom>
          <a:solidFill>
            <a:srgbClr val="0A0A0A"/>
          </a:solidFill>
          <a:ln cap="flat" cmpd="sng" w="12700">
            <a:solidFill>
              <a:srgbClr val="A56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8"/>
          <p:cNvSpPr txBox="1"/>
          <p:nvPr/>
        </p:nvSpPr>
        <p:spPr>
          <a:xfrm>
            <a:off x="6675120" y="3429000"/>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Unsuitable profile handled</a:t>
            </a:r>
            <a:endParaRPr b="0" i="0" sz="1150" u="none" cap="none" strike="noStrike">
              <a:solidFill>
                <a:schemeClr val="dk1"/>
              </a:solidFill>
              <a:latin typeface="Arial"/>
              <a:ea typeface="Arial"/>
              <a:cs typeface="Arial"/>
              <a:sym typeface="Arial"/>
            </a:endParaRPr>
          </a:p>
        </p:txBody>
      </p:sp>
      <p:cxnSp>
        <p:nvCxnSpPr>
          <p:cNvPr id="506" name="Google Shape;506;p18"/>
          <p:cNvCxnSpPr/>
          <p:nvPr/>
        </p:nvCxnSpPr>
        <p:spPr>
          <a:xfrm>
            <a:off x="6355080" y="3822192"/>
            <a:ext cx="5196535" cy="0"/>
          </a:xfrm>
          <a:prstGeom prst="straightConnector1">
            <a:avLst/>
          </a:prstGeom>
          <a:noFill/>
          <a:ln cap="flat" cmpd="sng" w="9525">
            <a:solidFill>
              <a:srgbClr val="262626"/>
            </a:solidFill>
            <a:prstDash val="solid"/>
            <a:round/>
            <a:headEnd len="sm" w="sm" type="none"/>
            <a:tailEnd len="sm" w="sm" type="none"/>
          </a:ln>
        </p:spPr>
      </p:cxnSp>
      <p:sp>
        <p:nvSpPr>
          <p:cNvPr id="507" name="Google Shape;507;p18"/>
          <p:cNvSpPr/>
          <p:nvPr/>
        </p:nvSpPr>
        <p:spPr>
          <a:xfrm>
            <a:off x="6355080" y="3941064"/>
            <a:ext cx="164592" cy="164592"/>
          </a:xfrm>
          <a:prstGeom prst="rect">
            <a:avLst/>
          </a:prstGeom>
          <a:solidFill>
            <a:srgbClr val="0A0A0A"/>
          </a:solidFill>
          <a:ln cap="flat" cmpd="sng" w="12700">
            <a:solidFill>
              <a:srgbClr val="A56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8"/>
          <p:cNvSpPr txBox="1"/>
          <p:nvPr/>
        </p:nvSpPr>
        <p:spPr>
          <a:xfrm>
            <a:off x="6675120" y="3858768"/>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Mocked services and the integration boundary described</a:t>
            </a:r>
            <a:endParaRPr b="0" i="0" sz="1150" u="none" cap="none" strike="noStrike">
              <a:solidFill>
                <a:schemeClr val="dk1"/>
              </a:solidFill>
              <a:latin typeface="Arial"/>
              <a:ea typeface="Arial"/>
              <a:cs typeface="Arial"/>
              <a:sym typeface="Arial"/>
            </a:endParaRPr>
          </a:p>
        </p:txBody>
      </p:sp>
      <p:sp>
        <p:nvSpPr>
          <p:cNvPr id="509" name="Google Shape;509;p18"/>
          <p:cNvSpPr/>
          <p:nvPr/>
        </p:nvSpPr>
        <p:spPr>
          <a:xfrm>
            <a:off x="640080" y="4983480"/>
            <a:ext cx="10911535" cy="1234440"/>
          </a:xfrm>
          <a:prstGeom prst="rect">
            <a:avLst/>
          </a:prstGeom>
          <a:solidFill>
            <a:srgbClr val="111111"/>
          </a:solidFill>
          <a:ln cap="flat" cmpd="sng" w="9525">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8"/>
          <p:cNvSpPr/>
          <p:nvPr/>
        </p:nvSpPr>
        <p:spPr>
          <a:xfrm>
            <a:off x="640080" y="4983480"/>
            <a:ext cx="10911535" cy="32004"/>
          </a:xfrm>
          <a:prstGeom prst="rect">
            <a:avLst/>
          </a:prstGeom>
          <a:solidFill>
            <a:srgbClr val="F7B8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8"/>
          <p:cNvSpPr txBox="1"/>
          <p:nvPr/>
        </p:nvSpPr>
        <p:spPr>
          <a:xfrm>
            <a:off x="960120" y="5166360"/>
            <a:ext cx="490712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BOUNDARIES</a:t>
            </a:r>
            <a:endParaRPr b="0" i="0" sz="950" u="none" cap="none" strike="noStrike">
              <a:solidFill>
                <a:schemeClr val="dk1"/>
              </a:solidFill>
              <a:latin typeface="Arial"/>
              <a:ea typeface="Arial"/>
              <a:cs typeface="Arial"/>
              <a:sym typeface="Arial"/>
            </a:endParaRPr>
          </a:p>
        </p:txBody>
      </p:sp>
      <p:sp>
        <p:nvSpPr>
          <p:cNvPr id="512" name="Google Shape;512;p18"/>
          <p:cNvSpPr txBox="1"/>
          <p:nvPr/>
        </p:nvSpPr>
        <p:spPr>
          <a:xfrm>
            <a:off x="960120" y="5440680"/>
            <a:ext cx="4907128"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Use sample profiles and briefs, or access you are explicitly authorised to use. No real user data. Name any mocked BASIX services in your README.</a:t>
            </a:r>
            <a:endParaRPr b="0" i="0" sz="1200" u="none" cap="none" strike="noStrike">
              <a:solidFill>
                <a:schemeClr val="dk1"/>
              </a:solidFill>
              <a:latin typeface="Arial"/>
              <a:ea typeface="Arial"/>
              <a:cs typeface="Arial"/>
              <a:sym typeface="Arial"/>
            </a:endParaRPr>
          </a:p>
        </p:txBody>
      </p:sp>
      <p:sp>
        <p:nvSpPr>
          <p:cNvPr id="513" name="Google Shape;513;p18"/>
          <p:cNvSpPr txBox="1"/>
          <p:nvPr/>
        </p:nvSpPr>
        <p:spPr>
          <a:xfrm>
            <a:off x="6324448" y="5166360"/>
            <a:ext cx="490712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STRETCH IDEAS</a:t>
            </a:r>
            <a:endParaRPr b="0" i="0" sz="950" u="none" cap="none" strike="noStrike">
              <a:solidFill>
                <a:schemeClr val="dk1"/>
              </a:solidFill>
              <a:latin typeface="Arial"/>
              <a:ea typeface="Arial"/>
              <a:cs typeface="Arial"/>
              <a:sym typeface="Arial"/>
            </a:endParaRPr>
          </a:p>
        </p:txBody>
      </p:sp>
      <p:sp>
        <p:nvSpPr>
          <p:cNvPr id="514" name="Google Shape;514;p18"/>
          <p:cNvSpPr txBox="1"/>
          <p:nvPr/>
        </p:nvSpPr>
        <p:spPr>
          <a:xfrm>
            <a:off x="6324448" y="5440680"/>
            <a:ext cx="4907128"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200"/>
              <a:buFont typeface="Arial"/>
              <a:buNone/>
            </a:pPr>
            <a:r>
              <a:rPr b="0" i="0" lang="en-US" sz="1200" u="none" cap="none" strike="noStrike">
                <a:solidFill>
                  <a:srgbClr val="B4B4B4"/>
                </a:solidFill>
                <a:latin typeface="Arial"/>
                <a:ea typeface="Arial"/>
                <a:cs typeface="Arial"/>
                <a:sym typeface="Arial"/>
              </a:rPr>
              <a:t>A match score reviewers can audit; credential checks against Open Badges; a brief writer for entrepreneurs.</a:t>
            </a:r>
            <a:endParaRPr b="0" i="0" sz="1200" u="none" cap="none" strike="noStrike">
              <a:solidFill>
                <a:schemeClr val="dk1"/>
              </a:solidFill>
              <a:latin typeface="Arial"/>
              <a:ea typeface="Arial"/>
              <a:cs typeface="Arial"/>
              <a:sym typeface="Arial"/>
            </a:endParaRPr>
          </a:p>
        </p:txBody>
      </p:sp>
      <p:sp>
        <p:nvSpPr>
          <p:cNvPr id="515" name="Google Shape;515;p18"/>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pic>
        <p:nvPicPr>
          <p:cNvPr descr="Network graph background" id="521" name="Google Shape;521;p19"/>
          <p:cNvPicPr preferRelativeResize="0"/>
          <p:nvPr/>
        </p:nvPicPr>
        <p:blipFill rotWithShape="1">
          <a:blip r:embed="rId3">
            <a:alphaModFix amt="45000"/>
          </a:blip>
          <a:srcRect b="0" l="0" r="0" t="0"/>
          <a:stretch/>
        </p:blipFill>
        <p:spPr>
          <a:xfrm>
            <a:off x="0" y="45720"/>
            <a:ext cx="12191695" cy="6812280"/>
          </a:xfrm>
          <a:prstGeom prst="rect">
            <a:avLst/>
          </a:prstGeom>
          <a:noFill/>
          <a:ln>
            <a:noFill/>
          </a:ln>
        </p:spPr>
      </p:pic>
      <p:pic>
        <p:nvPicPr>
          <p:cNvPr descr="Artificial Superintelligence Alliance" id="522" name="Google Shape;522;p19"/>
          <p:cNvPicPr preferRelativeResize="0"/>
          <p:nvPr/>
        </p:nvPicPr>
        <p:blipFill rotWithShape="1">
          <a:blip r:embed="rId4">
            <a:alphaModFix/>
          </a:blip>
          <a:srcRect b="0" l="0" r="0" t="0"/>
          <a:stretch/>
        </p:blipFill>
        <p:spPr>
          <a:xfrm>
            <a:off x="640080" y="274320"/>
            <a:ext cx="1359408" cy="292608"/>
          </a:xfrm>
          <a:prstGeom prst="rect">
            <a:avLst/>
          </a:prstGeom>
          <a:noFill/>
          <a:ln>
            <a:noFill/>
          </a:ln>
        </p:spPr>
      </p:pic>
      <p:sp>
        <p:nvSpPr>
          <p:cNvPr id="523" name="Google Shape;523;p19"/>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04 · WORLD TENNIS</a:t>
            </a:r>
            <a:endParaRPr b="0" i="0" sz="950" u="none" cap="none" strike="noStrike">
              <a:solidFill>
                <a:schemeClr val="dk1"/>
              </a:solidFill>
              <a:latin typeface="Arial"/>
              <a:ea typeface="Arial"/>
              <a:cs typeface="Arial"/>
              <a:sym typeface="Arial"/>
            </a:endParaRPr>
          </a:p>
        </p:txBody>
      </p:sp>
      <p:sp>
        <p:nvSpPr>
          <p:cNvPr id="524" name="Google Shape;524;p19"/>
          <p:cNvSpPr/>
          <p:nvPr/>
        </p:nvSpPr>
        <p:spPr>
          <a:xfrm>
            <a:off x="640080" y="982980"/>
            <a:ext cx="118872" cy="118872"/>
          </a:xfrm>
          <a:prstGeom prst="ellipse">
            <a:avLst/>
          </a:prstGeom>
          <a:solidFill>
            <a:srgbClr val="F7B8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9"/>
          <p:cNvSpPr txBox="1"/>
          <p:nvPr/>
        </p:nvSpPr>
        <p:spPr>
          <a:xfrm>
            <a:off x="868680" y="91440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ourier New"/>
              <a:buNone/>
            </a:pPr>
            <a:r>
              <a:rPr b="1" i="0" lang="en-US" sz="1000" u="none" cap="none" strike="noStrike">
                <a:solidFill>
                  <a:srgbClr val="FFFFFF"/>
                </a:solidFill>
                <a:latin typeface="Courier New"/>
                <a:ea typeface="Courier New"/>
                <a:cs typeface="Courier New"/>
                <a:sym typeface="Courier New"/>
              </a:rPr>
              <a:t>TRACK 04  ·  WORLD TENNIS</a:t>
            </a:r>
            <a:endParaRPr b="0" i="0" sz="1000" u="none" cap="none" strike="noStrike">
              <a:solidFill>
                <a:schemeClr val="dk1"/>
              </a:solidFill>
              <a:latin typeface="Arial"/>
              <a:ea typeface="Arial"/>
              <a:cs typeface="Arial"/>
              <a:sym typeface="Arial"/>
            </a:endParaRPr>
          </a:p>
        </p:txBody>
      </p:sp>
      <p:pic>
        <p:nvPicPr>
          <p:cNvPr descr="World Tennis" id="526" name="Google Shape;526;p19">
            <a:hlinkClick r:id="rId5"/>
          </p:cNvPr>
          <p:cNvPicPr preferRelativeResize="0"/>
          <p:nvPr/>
        </p:nvPicPr>
        <p:blipFill rotWithShape="1">
          <a:blip r:embed="rId6">
            <a:alphaModFix/>
          </a:blip>
          <a:srcRect b="0" l="0" r="0" t="0"/>
          <a:stretch/>
        </p:blipFill>
        <p:spPr>
          <a:xfrm>
            <a:off x="9674140" y="905256"/>
            <a:ext cx="1877475" cy="274320"/>
          </a:xfrm>
          <a:prstGeom prst="rect">
            <a:avLst/>
          </a:prstGeom>
          <a:noFill/>
          <a:ln>
            <a:noFill/>
          </a:ln>
        </p:spPr>
      </p:pic>
      <p:sp>
        <p:nvSpPr>
          <p:cNvPr id="527" name="Google Shape;527;p19"/>
          <p:cNvSpPr txBox="1"/>
          <p:nvPr/>
        </p:nvSpPr>
        <p:spPr>
          <a:xfrm>
            <a:off x="640080" y="1280160"/>
            <a:ext cx="10911535" cy="5943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Player and club coordination</a:t>
            </a:r>
            <a:endParaRPr b="0" i="0" sz="3000" u="none" cap="none" strike="noStrike">
              <a:solidFill>
                <a:schemeClr val="dk1"/>
              </a:solidFill>
              <a:latin typeface="Arial"/>
              <a:ea typeface="Arial"/>
              <a:cs typeface="Arial"/>
              <a:sym typeface="Arial"/>
            </a:endParaRPr>
          </a:p>
        </p:txBody>
      </p:sp>
      <p:sp>
        <p:nvSpPr>
          <p:cNvPr id="528" name="Google Shape;528;p19"/>
          <p:cNvSpPr txBox="1"/>
          <p:nvPr/>
        </p:nvSpPr>
        <p:spPr>
          <a:xfrm>
            <a:off x="640080" y="1920240"/>
            <a:ext cx="9601200"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7B85C"/>
              </a:buClr>
              <a:buSzPts val="1700"/>
              <a:buFont typeface="Arial"/>
              <a:buNone/>
            </a:pPr>
            <a:r>
              <a:rPr b="0" i="0" lang="en-US" sz="1700" u="none" cap="none" strike="noStrike">
                <a:solidFill>
                  <a:srgbClr val="F7B85C"/>
                </a:solidFill>
                <a:latin typeface="Arial"/>
                <a:ea typeface="Arial"/>
                <a:cs typeface="Arial"/>
                <a:sym typeface="Arial"/>
              </a:rPr>
              <a:t>Build an Omega assistant that finds a player the right opponent, court and time, resolves the clash, and asks before it books.</a:t>
            </a:r>
            <a:endParaRPr b="0" i="0" sz="1700" u="none" cap="none" strike="noStrike">
              <a:solidFill>
                <a:schemeClr val="dk1"/>
              </a:solidFill>
              <a:latin typeface="Arial"/>
              <a:ea typeface="Arial"/>
              <a:cs typeface="Arial"/>
              <a:sym typeface="Arial"/>
            </a:endParaRPr>
          </a:p>
        </p:txBody>
      </p:sp>
      <p:cxnSp>
        <p:nvCxnSpPr>
          <p:cNvPr id="529" name="Google Shape;529;p19"/>
          <p:cNvCxnSpPr/>
          <p:nvPr/>
        </p:nvCxnSpPr>
        <p:spPr>
          <a:xfrm>
            <a:off x="640080" y="2926080"/>
            <a:ext cx="5181448" cy="0"/>
          </a:xfrm>
          <a:prstGeom prst="straightConnector1">
            <a:avLst/>
          </a:prstGeom>
          <a:noFill/>
          <a:ln cap="flat" cmpd="sng" w="9525">
            <a:solidFill>
              <a:srgbClr val="5A5A5A"/>
            </a:solidFill>
            <a:prstDash val="solid"/>
            <a:round/>
            <a:headEnd len="sm" w="sm" type="none"/>
            <a:tailEnd len="sm" w="sm" type="none"/>
          </a:ln>
        </p:spPr>
      </p:cxnSp>
      <p:sp>
        <p:nvSpPr>
          <p:cNvPr id="530" name="Google Shape;530;p19"/>
          <p:cNvSpPr txBox="1"/>
          <p:nvPr/>
        </p:nvSpPr>
        <p:spPr>
          <a:xfrm>
            <a:off x="640080" y="3063240"/>
            <a:ext cx="518144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WHO YOU ARE BUILDING FOR</a:t>
            </a:r>
            <a:endParaRPr b="0" i="0" sz="950" u="none" cap="none" strike="noStrike">
              <a:solidFill>
                <a:schemeClr val="dk1"/>
              </a:solidFill>
              <a:latin typeface="Arial"/>
              <a:ea typeface="Arial"/>
              <a:cs typeface="Arial"/>
              <a:sym typeface="Arial"/>
            </a:endParaRPr>
          </a:p>
        </p:txBody>
      </p:sp>
      <p:sp>
        <p:nvSpPr>
          <p:cNvPr id="531" name="Google Shape;531;p19"/>
          <p:cNvSpPr txBox="1"/>
          <p:nvPr/>
        </p:nvSpPr>
        <p:spPr>
          <a:xfrm>
            <a:off x="640080" y="3429000"/>
            <a:ext cx="5181448" cy="2651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WorldTennis.app is a verified tennis platform. ID-verified players, coaches, courts and referees are matched by skill level, availability and location. Players find opponents and doubles partners, book courts and track results in one app instead of ten. The idea behind it: your tennis, your data.</a:t>
            </a:r>
            <a:endParaRPr b="0" i="0" sz="1350" u="none" cap="none" strike="noStrike">
              <a:solidFill>
                <a:schemeClr val="dk1"/>
              </a:solidFill>
              <a:latin typeface="Arial"/>
              <a:ea typeface="Arial"/>
              <a:cs typeface="Arial"/>
              <a:sym typeface="Arial"/>
            </a:endParaRPr>
          </a:p>
        </p:txBody>
      </p:sp>
      <p:cxnSp>
        <p:nvCxnSpPr>
          <p:cNvPr id="532" name="Google Shape;532;p19"/>
          <p:cNvCxnSpPr/>
          <p:nvPr/>
        </p:nvCxnSpPr>
        <p:spPr>
          <a:xfrm>
            <a:off x="6370168" y="2926080"/>
            <a:ext cx="5181448" cy="0"/>
          </a:xfrm>
          <a:prstGeom prst="straightConnector1">
            <a:avLst/>
          </a:prstGeom>
          <a:noFill/>
          <a:ln cap="flat" cmpd="sng" w="9525">
            <a:solidFill>
              <a:srgbClr val="5A5A5A"/>
            </a:solidFill>
            <a:prstDash val="solid"/>
            <a:round/>
            <a:headEnd len="sm" w="sm" type="none"/>
            <a:tailEnd len="sm" w="sm" type="none"/>
          </a:ln>
        </p:spPr>
      </p:cxnSp>
      <p:sp>
        <p:nvSpPr>
          <p:cNvPr id="533" name="Google Shape;533;p19"/>
          <p:cNvSpPr txBox="1"/>
          <p:nvPr/>
        </p:nvSpPr>
        <p:spPr>
          <a:xfrm>
            <a:off x="6370168" y="3063240"/>
            <a:ext cx="518144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THE PROBLEM</a:t>
            </a:r>
            <a:endParaRPr b="0" i="0" sz="950" u="none" cap="none" strike="noStrike">
              <a:solidFill>
                <a:schemeClr val="dk1"/>
              </a:solidFill>
              <a:latin typeface="Arial"/>
              <a:ea typeface="Arial"/>
              <a:cs typeface="Arial"/>
              <a:sym typeface="Arial"/>
            </a:endParaRPr>
          </a:p>
        </p:txBody>
      </p:sp>
      <p:sp>
        <p:nvSpPr>
          <p:cNvPr id="534" name="Google Shape;534;p19"/>
          <p:cNvSpPr txBox="1"/>
          <p:nvPr/>
        </p:nvSpPr>
        <p:spPr>
          <a:xfrm>
            <a:off x="6370168" y="3429000"/>
            <a:ext cx="5181448" cy="2651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350"/>
              <a:buFont typeface="Arial"/>
              <a:buNone/>
            </a:pPr>
            <a:r>
              <a:rPr b="0" i="0" lang="en-US" sz="1350" u="none" cap="none" strike="noStrike">
                <a:solidFill>
                  <a:srgbClr val="FFFFFF"/>
                </a:solidFill>
                <a:latin typeface="Arial"/>
                <a:ea typeface="Arial"/>
                <a:cs typeface="Arial"/>
                <a:sym typeface="Arial"/>
              </a:rPr>
              <a:t>Today a match takes a dozen messages across group chats, a separate booking app, and guesswork about whether the other player is at your level. Players coming from different countries use different rating systems. Courts sit empty in hours nobody can see.</a:t>
            </a:r>
            <a:endParaRPr b="0" i="0" sz="1350" u="none" cap="none" strike="noStrike">
              <a:solidFill>
                <a:schemeClr val="dk1"/>
              </a:solidFill>
              <a:latin typeface="Arial"/>
              <a:ea typeface="Arial"/>
              <a:cs typeface="Arial"/>
              <a:sym typeface="Arial"/>
            </a:endParaRPr>
          </a:p>
        </p:txBody>
      </p:sp>
      <p:sp>
        <p:nvSpPr>
          <p:cNvPr id="535" name="Google Shape;535;p19"/>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20"/>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04 · YOUR BUILD</a:t>
            </a:r>
            <a:endParaRPr b="0" i="0" sz="950" u="none" cap="none" strike="noStrike">
              <a:solidFill>
                <a:schemeClr val="dk1"/>
              </a:solidFill>
              <a:latin typeface="Arial"/>
              <a:ea typeface="Arial"/>
              <a:cs typeface="Arial"/>
              <a:sym typeface="Arial"/>
            </a:endParaRPr>
          </a:p>
        </p:txBody>
      </p:sp>
      <p:sp>
        <p:nvSpPr>
          <p:cNvPr id="542" name="Google Shape;542;p20"/>
          <p:cNvSpPr txBox="1"/>
          <p:nvPr/>
        </p:nvSpPr>
        <p:spPr>
          <a:xfrm>
            <a:off x="640080" y="914400"/>
            <a:ext cx="10911535"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Track 04. </a:t>
            </a:r>
            <a:r>
              <a:rPr b="1" i="0" lang="en-US" sz="3200" u="none" cap="none" strike="noStrike">
                <a:solidFill>
                  <a:srgbClr val="F2596B"/>
                </a:solidFill>
                <a:latin typeface="Arial"/>
                <a:ea typeface="Arial"/>
                <a:cs typeface="Arial"/>
                <a:sym typeface="Arial"/>
              </a:rPr>
              <a:t>Y</a:t>
            </a:r>
            <a:r>
              <a:rPr b="1" i="0" lang="en-US" sz="3200" u="none" cap="none" strike="noStrike">
                <a:solidFill>
                  <a:srgbClr val="F48364"/>
                </a:solidFill>
                <a:latin typeface="Arial"/>
                <a:ea typeface="Arial"/>
                <a:cs typeface="Arial"/>
                <a:sym typeface="Arial"/>
              </a:rPr>
              <a:t>o</a:t>
            </a:r>
            <a:r>
              <a:rPr b="1" i="0" lang="en-US" sz="3200" u="none" cap="none" strike="noStrike">
                <a:solidFill>
                  <a:srgbClr val="F6AD5E"/>
                </a:solidFill>
                <a:latin typeface="Arial"/>
                <a:ea typeface="Arial"/>
                <a:cs typeface="Arial"/>
                <a:sym typeface="Arial"/>
              </a:rPr>
              <a:t>u</a:t>
            </a:r>
            <a:r>
              <a:rPr b="1" i="0" lang="en-US" sz="3200" u="none" cap="none" strike="noStrike">
                <a:solidFill>
                  <a:srgbClr val="B9C270"/>
                </a:solidFill>
                <a:latin typeface="Arial"/>
                <a:ea typeface="Arial"/>
                <a:cs typeface="Arial"/>
                <a:sym typeface="Arial"/>
              </a:rPr>
              <a:t>r</a:t>
            </a:r>
            <a:r>
              <a:rPr b="1" i="0" lang="en-US" sz="3200" u="none" cap="none" strike="noStrike">
                <a:solidFill>
                  <a:srgbClr val="FFFFFF"/>
                </a:solidFill>
                <a:latin typeface="Arial"/>
                <a:ea typeface="Arial"/>
                <a:cs typeface="Arial"/>
                <a:sym typeface="Arial"/>
              </a:rPr>
              <a:t> </a:t>
            </a:r>
            <a:r>
              <a:rPr b="1" i="0" lang="en-US" sz="3200" u="none" cap="none" strike="noStrike">
                <a:solidFill>
                  <a:srgbClr val="67CF8B"/>
                </a:solidFill>
                <a:latin typeface="Arial"/>
                <a:ea typeface="Arial"/>
                <a:cs typeface="Arial"/>
                <a:sym typeface="Arial"/>
              </a:rPr>
              <a:t>b</a:t>
            </a:r>
            <a:r>
              <a:rPr b="1" i="0" lang="en-US" sz="3200" u="none" cap="none" strike="noStrike">
                <a:solidFill>
                  <a:srgbClr val="42C5AC"/>
                </a:solidFill>
                <a:latin typeface="Arial"/>
                <a:ea typeface="Arial"/>
                <a:cs typeface="Arial"/>
                <a:sym typeface="Arial"/>
              </a:rPr>
              <a:t>u</a:t>
            </a:r>
            <a:r>
              <a:rPr b="1" i="0" lang="en-US" sz="3200" u="none" cap="none" strike="noStrike">
                <a:solidFill>
                  <a:srgbClr val="49A5D3"/>
                </a:solidFill>
                <a:latin typeface="Arial"/>
                <a:ea typeface="Arial"/>
                <a:cs typeface="Arial"/>
                <a:sym typeface="Arial"/>
              </a:rPr>
              <a:t>i</a:t>
            </a:r>
            <a:r>
              <a:rPr b="1" i="0" lang="en-US" sz="3200" u="none" cap="none" strike="noStrike">
                <a:solidFill>
                  <a:srgbClr val="5989F0"/>
                </a:solidFill>
                <a:latin typeface="Arial"/>
                <a:ea typeface="Arial"/>
                <a:cs typeface="Arial"/>
                <a:sym typeface="Arial"/>
              </a:rPr>
              <a:t>l</a:t>
            </a:r>
            <a:r>
              <a:rPr b="1" i="0" lang="en-US" sz="3200" u="none" cap="none" strike="noStrike">
                <a:solidFill>
                  <a:srgbClr val="7F7BF0"/>
                </a:solidFill>
                <a:latin typeface="Arial"/>
                <a:ea typeface="Arial"/>
                <a:cs typeface="Arial"/>
                <a:sym typeface="Arial"/>
              </a:rPr>
              <a:t>d</a:t>
            </a:r>
            <a:r>
              <a:rPr b="1" i="0" lang="en-US" sz="3200" u="none" cap="none" strike="noStrike">
                <a:solidFill>
                  <a:srgbClr val="A56CF0"/>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pic>
        <p:nvPicPr>
          <p:cNvPr descr="World Tennis" id="543" name="Google Shape;543;p20">
            <a:hlinkClick r:id="rId3"/>
          </p:cNvPr>
          <p:cNvPicPr preferRelativeResize="0"/>
          <p:nvPr/>
        </p:nvPicPr>
        <p:blipFill rotWithShape="1">
          <a:blip r:embed="rId4">
            <a:alphaModFix/>
          </a:blip>
          <a:srcRect b="0" l="0" r="0" t="0"/>
          <a:stretch/>
        </p:blipFill>
        <p:spPr>
          <a:xfrm>
            <a:off x="9955761" y="1117854"/>
            <a:ext cx="1595854" cy="233172"/>
          </a:xfrm>
          <a:prstGeom prst="rect">
            <a:avLst/>
          </a:prstGeom>
          <a:noFill/>
          <a:ln>
            <a:noFill/>
          </a:ln>
        </p:spPr>
      </p:pic>
      <p:sp>
        <p:nvSpPr>
          <p:cNvPr id="544" name="Google Shape;544;p20"/>
          <p:cNvSpPr txBox="1"/>
          <p:nvPr/>
        </p:nvSpPr>
        <p:spPr>
          <a:xfrm>
            <a:off x="640080" y="1783080"/>
            <a:ext cx="8686800" cy="6858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500"/>
              <a:buFont typeface="Arial"/>
              <a:buNone/>
            </a:pPr>
            <a:r>
              <a:rPr b="0" i="0" lang="en-US" sz="1500" u="none" cap="none" strike="noStrike">
                <a:solidFill>
                  <a:srgbClr val="FFFFFF"/>
                </a:solidFill>
                <a:latin typeface="Arial"/>
                <a:ea typeface="Arial"/>
                <a:cs typeface="Arial"/>
                <a:sym typeface="Arial"/>
              </a:rPr>
              <a:t>An Omega assistant for one focused workflow. The suggested one: match available players to a suitable court and time.</a:t>
            </a:r>
            <a:endParaRPr b="0" i="0" sz="1500" u="none" cap="none" strike="noStrike">
              <a:solidFill>
                <a:schemeClr val="dk1"/>
              </a:solidFill>
              <a:latin typeface="Arial"/>
              <a:ea typeface="Arial"/>
              <a:cs typeface="Arial"/>
              <a:sym typeface="Arial"/>
            </a:endParaRPr>
          </a:p>
        </p:txBody>
      </p:sp>
      <p:cxnSp>
        <p:nvCxnSpPr>
          <p:cNvPr id="545" name="Google Shape;545;p20"/>
          <p:cNvCxnSpPr/>
          <p:nvPr/>
        </p:nvCxnSpPr>
        <p:spPr>
          <a:xfrm>
            <a:off x="640080" y="2697480"/>
            <a:ext cx="1926275" cy="0"/>
          </a:xfrm>
          <a:prstGeom prst="straightConnector1">
            <a:avLst/>
          </a:prstGeom>
          <a:noFill/>
          <a:ln cap="flat" cmpd="sng" w="9525">
            <a:solidFill>
              <a:srgbClr val="5A5A5A"/>
            </a:solidFill>
            <a:prstDash val="solid"/>
            <a:round/>
            <a:headEnd len="sm" w="sm" type="none"/>
            <a:tailEnd len="sm" w="sm" type="none"/>
          </a:ln>
        </p:spPr>
      </p:cxnSp>
      <p:sp>
        <p:nvSpPr>
          <p:cNvPr id="546" name="Google Shape;546;p20"/>
          <p:cNvSpPr txBox="1"/>
          <p:nvPr/>
        </p:nvSpPr>
        <p:spPr>
          <a:xfrm>
            <a:off x="640080" y="2834640"/>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7B85C"/>
              </a:buClr>
              <a:buSzPts val="1800"/>
              <a:buFont typeface="Arial"/>
              <a:buNone/>
            </a:pPr>
            <a:r>
              <a:rPr b="1" i="0" lang="en-US" sz="1800" u="none" cap="none" strike="noStrike">
                <a:solidFill>
                  <a:srgbClr val="F7B85C"/>
                </a:solidFill>
                <a:latin typeface="Arial"/>
                <a:ea typeface="Arial"/>
                <a:cs typeface="Arial"/>
                <a:sym typeface="Arial"/>
              </a:rPr>
              <a:t>01</a:t>
            </a:r>
            <a:endParaRPr b="0" i="0" sz="1800" u="none" cap="none" strike="noStrike">
              <a:solidFill>
                <a:schemeClr val="dk1"/>
              </a:solidFill>
              <a:latin typeface="Arial"/>
              <a:ea typeface="Arial"/>
              <a:cs typeface="Arial"/>
              <a:sym typeface="Arial"/>
            </a:endParaRPr>
          </a:p>
        </p:txBody>
      </p:sp>
      <p:sp>
        <p:nvSpPr>
          <p:cNvPr id="547" name="Google Shape;547;p20"/>
          <p:cNvSpPr txBox="1"/>
          <p:nvPr/>
        </p:nvSpPr>
        <p:spPr>
          <a:xfrm>
            <a:off x="640080" y="3383280"/>
            <a:ext cx="1926275" cy="16459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reads player profiles: level, availability, location, preferences</a:t>
            </a:r>
            <a:endParaRPr b="0" i="0" sz="1300" u="none" cap="none" strike="noStrike">
              <a:solidFill>
                <a:schemeClr val="dk1"/>
              </a:solidFill>
              <a:latin typeface="Arial"/>
              <a:ea typeface="Arial"/>
              <a:cs typeface="Arial"/>
              <a:sym typeface="Arial"/>
            </a:endParaRPr>
          </a:p>
        </p:txBody>
      </p:sp>
      <p:cxnSp>
        <p:nvCxnSpPr>
          <p:cNvPr id="548" name="Google Shape;548;p20"/>
          <p:cNvCxnSpPr/>
          <p:nvPr/>
        </p:nvCxnSpPr>
        <p:spPr>
          <a:xfrm>
            <a:off x="2886395" y="2697480"/>
            <a:ext cx="1926275" cy="0"/>
          </a:xfrm>
          <a:prstGeom prst="straightConnector1">
            <a:avLst/>
          </a:prstGeom>
          <a:noFill/>
          <a:ln cap="flat" cmpd="sng" w="9525">
            <a:solidFill>
              <a:srgbClr val="5A5A5A"/>
            </a:solidFill>
            <a:prstDash val="solid"/>
            <a:round/>
            <a:headEnd len="sm" w="sm" type="none"/>
            <a:tailEnd len="sm" w="sm" type="none"/>
          </a:ln>
        </p:spPr>
      </p:cxnSp>
      <p:sp>
        <p:nvSpPr>
          <p:cNvPr id="549" name="Google Shape;549;p20"/>
          <p:cNvSpPr txBox="1"/>
          <p:nvPr/>
        </p:nvSpPr>
        <p:spPr>
          <a:xfrm>
            <a:off x="2886395" y="2834640"/>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7B85C"/>
              </a:buClr>
              <a:buSzPts val="1800"/>
              <a:buFont typeface="Arial"/>
              <a:buNone/>
            </a:pPr>
            <a:r>
              <a:rPr b="1" i="0" lang="en-US" sz="1800" u="none" cap="none" strike="noStrike">
                <a:solidFill>
                  <a:srgbClr val="F7B85C"/>
                </a:solidFill>
                <a:latin typeface="Arial"/>
                <a:ea typeface="Arial"/>
                <a:cs typeface="Arial"/>
                <a:sym typeface="Arial"/>
              </a:rPr>
              <a:t>02</a:t>
            </a:r>
            <a:endParaRPr b="0" i="0" sz="1800" u="none" cap="none" strike="noStrike">
              <a:solidFill>
                <a:schemeClr val="dk1"/>
              </a:solidFill>
              <a:latin typeface="Arial"/>
              <a:ea typeface="Arial"/>
              <a:cs typeface="Arial"/>
              <a:sym typeface="Arial"/>
            </a:endParaRPr>
          </a:p>
        </p:txBody>
      </p:sp>
      <p:sp>
        <p:nvSpPr>
          <p:cNvPr id="550" name="Google Shape;550;p20"/>
          <p:cNvSpPr txBox="1"/>
          <p:nvPr/>
        </p:nvSpPr>
        <p:spPr>
          <a:xfrm>
            <a:off x="2886395" y="3383280"/>
            <a:ext cx="1926275" cy="16459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reads court availability</a:t>
            </a:r>
            <a:endParaRPr b="0" i="0" sz="1300" u="none" cap="none" strike="noStrike">
              <a:solidFill>
                <a:schemeClr val="dk1"/>
              </a:solidFill>
              <a:latin typeface="Arial"/>
              <a:ea typeface="Arial"/>
              <a:cs typeface="Arial"/>
              <a:sym typeface="Arial"/>
            </a:endParaRPr>
          </a:p>
        </p:txBody>
      </p:sp>
      <p:cxnSp>
        <p:nvCxnSpPr>
          <p:cNvPr id="551" name="Google Shape;551;p20"/>
          <p:cNvCxnSpPr/>
          <p:nvPr/>
        </p:nvCxnSpPr>
        <p:spPr>
          <a:xfrm>
            <a:off x="5132710" y="2697480"/>
            <a:ext cx="1926275" cy="0"/>
          </a:xfrm>
          <a:prstGeom prst="straightConnector1">
            <a:avLst/>
          </a:prstGeom>
          <a:noFill/>
          <a:ln cap="flat" cmpd="sng" w="9525">
            <a:solidFill>
              <a:srgbClr val="5A5A5A"/>
            </a:solidFill>
            <a:prstDash val="solid"/>
            <a:round/>
            <a:headEnd len="sm" w="sm" type="none"/>
            <a:tailEnd len="sm" w="sm" type="none"/>
          </a:ln>
        </p:spPr>
      </p:cxnSp>
      <p:sp>
        <p:nvSpPr>
          <p:cNvPr id="552" name="Google Shape;552;p20"/>
          <p:cNvSpPr txBox="1"/>
          <p:nvPr/>
        </p:nvSpPr>
        <p:spPr>
          <a:xfrm>
            <a:off x="5132710" y="2834640"/>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7B85C"/>
              </a:buClr>
              <a:buSzPts val="1800"/>
              <a:buFont typeface="Arial"/>
              <a:buNone/>
            </a:pPr>
            <a:r>
              <a:rPr b="1" i="0" lang="en-US" sz="1800" u="none" cap="none" strike="noStrike">
                <a:solidFill>
                  <a:srgbClr val="F7B85C"/>
                </a:solidFill>
                <a:latin typeface="Arial"/>
                <a:ea typeface="Arial"/>
                <a:cs typeface="Arial"/>
                <a:sym typeface="Arial"/>
              </a:rPr>
              <a:t>03</a:t>
            </a:r>
            <a:endParaRPr b="0" i="0" sz="1800" u="none" cap="none" strike="noStrike">
              <a:solidFill>
                <a:schemeClr val="dk1"/>
              </a:solidFill>
              <a:latin typeface="Arial"/>
              <a:ea typeface="Arial"/>
              <a:cs typeface="Arial"/>
              <a:sym typeface="Arial"/>
            </a:endParaRPr>
          </a:p>
        </p:txBody>
      </p:sp>
      <p:sp>
        <p:nvSpPr>
          <p:cNvPr id="553" name="Google Shape;553;p20"/>
          <p:cNvSpPr txBox="1"/>
          <p:nvPr/>
        </p:nvSpPr>
        <p:spPr>
          <a:xfrm>
            <a:off x="5132710" y="3383280"/>
            <a:ext cx="1926275" cy="16459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proposes a match with its reasons</a:t>
            </a:r>
            <a:endParaRPr b="0" i="0" sz="1300" u="none" cap="none" strike="noStrike">
              <a:solidFill>
                <a:schemeClr val="dk1"/>
              </a:solidFill>
              <a:latin typeface="Arial"/>
              <a:ea typeface="Arial"/>
              <a:cs typeface="Arial"/>
              <a:sym typeface="Arial"/>
            </a:endParaRPr>
          </a:p>
        </p:txBody>
      </p:sp>
      <p:cxnSp>
        <p:nvCxnSpPr>
          <p:cNvPr id="554" name="Google Shape;554;p20"/>
          <p:cNvCxnSpPr/>
          <p:nvPr/>
        </p:nvCxnSpPr>
        <p:spPr>
          <a:xfrm>
            <a:off x="7379025" y="2697480"/>
            <a:ext cx="1926275" cy="0"/>
          </a:xfrm>
          <a:prstGeom prst="straightConnector1">
            <a:avLst/>
          </a:prstGeom>
          <a:noFill/>
          <a:ln cap="flat" cmpd="sng" w="9525">
            <a:solidFill>
              <a:srgbClr val="5A5A5A"/>
            </a:solidFill>
            <a:prstDash val="solid"/>
            <a:round/>
            <a:headEnd len="sm" w="sm" type="none"/>
            <a:tailEnd len="sm" w="sm" type="none"/>
          </a:ln>
        </p:spPr>
      </p:cxnSp>
      <p:sp>
        <p:nvSpPr>
          <p:cNvPr id="555" name="Google Shape;555;p20"/>
          <p:cNvSpPr txBox="1"/>
          <p:nvPr/>
        </p:nvSpPr>
        <p:spPr>
          <a:xfrm>
            <a:off x="7379025" y="2834640"/>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7B85C"/>
              </a:buClr>
              <a:buSzPts val="1800"/>
              <a:buFont typeface="Arial"/>
              <a:buNone/>
            </a:pPr>
            <a:r>
              <a:rPr b="1" i="0" lang="en-US" sz="1800" u="none" cap="none" strike="noStrike">
                <a:solidFill>
                  <a:srgbClr val="F7B85C"/>
                </a:solidFill>
                <a:latin typeface="Arial"/>
                <a:ea typeface="Arial"/>
                <a:cs typeface="Arial"/>
                <a:sym typeface="Arial"/>
              </a:rPr>
              <a:t>04</a:t>
            </a:r>
            <a:endParaRPr b="0" i="0" sz="1800" u="none" cap="none" strike="noStrike">
              <a:solidFill>
                <a:schemeClr val="dk1"/>
              </a:solidFill>
              <a:latin typeface="Arial"/>
              <a:ea typeface="Arial"/>
              <a:cs typeface="Arial"/>
              <a:sym typeface="Arial"/>
            </a:endParaRPr>
          </a:p>
        </p:txBody>
      </p:sp>
      <p:sp>
        <p:nvSpPr>
          <p:cNvPr id="556" name="Google Shape;556;p20"/>
          <p:cNvSpPr txBox="1"/>
          <p:nvPr/>
        </p:nvSpPr>
        <p:spPr>
          <a:xfrm>
            <a:off x="7379025" y="3383280"/>
            <a:ext cx="1926275" cy="16459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resolves a scheduling conflict</a:t>
            </a:r>
            <a:endParaRPr b="0" i="0" sz="1300" u="none" cap="none" strike="noStrike">
              <a:solidFill>
                <a:schemeClr val="dk1"/>
              </a:solidFill>
              <a:latin typeface="Arial"/>
              <a:ea typeface="Arial"/>
              <a:cs typeface="Arial"/>
              <a:sym typeface="Arial"/>
            </a:endParaRPr>
          </a:p>
        </p:txBody>
      </p:sp>
      <p:cxnSp>
        <p:nvCxnSpPr>
          <p:cNvPr id="557" name="Google Shape;557;p20"/>
          <p:cNvCxnSpPr/>
          <p:nvPr/>
        </p:nvCxnSpPr>
        <p:spPr>
          <a:xfrm>
            <a:off x="9625340" y="2697480"/>
            <a:ext cx="1926275" cy="0"/>
          </a:xfrm>
          <a:prstGeom prst="straightConnector1">
            <a:avLst/>
          </a:prstGeom>
          <a:noFill/>
          <a:ln cap="flat" cmpd="sng" w="9525">
            <a:solidFill>
              <a:srgbClr val="5A5A5A"/>
            </a:solidFill>
            <a:prstDash val="solid"/>
            <a:round/>
            <a:headEnd len="sm" w="sm" type="none"/>
            <a:tailEnd len="sm" w="sm" type="none"/>
          </a:ln>
        </p:spPr>
      </p:cxnSp>
      <p:sp>
        <p:nvSpPr>
          <p:cNvPr id="558" name="Google Shape;558;p20"/>
          <p:cNvSpPr txBox="1"/>
          <p:nvPr/>
        </p:nvSpPr>
        <p:spPr>
          <a:xfrm>
            <a:off x="9625340" y="2834640"/>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7B85C"/>
              </a:buClr>
              <a:buSzPts val="1800"/>
              <a:buFont typeface="Arial"/>
              <a:buNone/>
            </a:pPr>
            <a:r>
              <a:rPr b="1" i="0" lang="en-US" sz="1800" u="none" cap="none" strike="noStrike">
                <a:solidFill>
                  <a:srgbClr val="F7B85C"/>
                </a:solidFill>
                <a:latin typeface="Arial"/>
                <a:ea typeface="Arial"/>
                <a:cs typeface="Arial"/>
                <a:sym typeface="Arial"/>
              </a:rPr>
              <a:t>05</a:t>
            </a:r>
            <a:endParaRPr b="0" i="0" sz="1800" u="none" cap="none" strike="noStrike">
              <a:solidFill>
                <a:schemeClr val="dk1"/>
              </a:solidFill>
              <a:latin typeface="Arial"/>
              <a:ea typeface="Arial"/>
              <a:cs typeface="Arial"/>
              <a:sym typeface="Arial"/>
            </a:endParaRPr>
          </a:p>
        </p:txBody>
      </p:sp>
      <p:sp>
        <p:nvSpPr>
          <p:cNvPr id="559" name="Google Shape;559;p20"/>
          <p:cNvSpPr txBox="1"/>
          <p:nvPr/>
        </p:nvSpPr>
        <p:spPr>
          <a:xfrm>
            <a:off x="9625340" y="3383280"/>
            <a:ext cx="1926275" cy="16459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asks both players to confirm before a simulated booking</a:t>
            </a:r>
            <a:endParaRPr b="0" i="0" sz="1300" u="none" cap="none" strike="noStrike">
              <a:solidFill>
                <a:schemeClr val="dk1"/>
              </a:solidFill>
              <a:latin typeface="Arial"/>
              <a:ea typeface="Arial"/>
              <a:cs typeface="Arial"/>
              <a:sym typeface="Arial"/>
            </a:endParaRPr>
          </a:p>
        </p:txBody>
      </p:sp>
      <p:sp>
        <p:nvSpPr>
          <p:cNvPr id="560" name="Google Shape;560;p20"/>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21"/>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04 · WHAT OMEGA DOES HERE</a:t>
            </a:r>
            <a:endParaRPr b="0" i="0" sz="950" u="none" cap="none" strike="noStrike">
              <a:solidFill>
                <a:schemeClr val="dk1"/>
              </a:solidFill>
              <a:latin typeface="Arial"/>
              <a:ea typeface="Arial"/>
              <a:cs typeface="Arial"/>
              <a:sym typeface="Arial"/>
            </a:endParaRPr>
          </a:p>
        </p:txBody>
      </p:sp>
      <p:sp>
        <p:nvSpPr>
          <p:cNvPr id="567" name="Google Shape;567;p21"/>
          <p:cNvSpPr txBox="1"/>
          <p:nvPr/>
        </p:nvSpPr>
        <p:spPr>
          <a:xfrm>
            <a:off x="640080" y="914400"/>
            <a:ext cx="10911535"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Track 04. </a:t>
            </a:r>
            <a:r>
              <a:rPr b="1" i="0" lang="en-US" sz="3200" u="none" cap="none" strike="noStrike">
                <a:solidFill>
                  <a:srgbClr val="F2596B"/>
                </a:solidFill>
                <a:latin typeface="Arial"/>
                <a:ea typeface="Arial"/>
                <a:cs typeface="Arial"/>
                <a:sym typeface="Arial"/>
              </a:rPr>
              <a:t>W</a:t>
            </a:r>
            <a:r>
              <a:rPr b="1" i="0" lang="en-US" sz="3200" u="none" cap="none" strike="noStrike">
                <a:solidFill>
                  <a:srgbClr val="F36F67"/>
                </a:solidFill>
                <a:latin typeface="Arial"/>
                <a:ea typeface="Arial"/>
                <a:cs typeface="Arial"/>
                <a:sym typeface="Arial"/>
              </a:rPr>
              <a:t>h</a:t>
            </a:r>
            <a:r>
              <a:rPr b="1" i="0" lang="en-US" sz="3200" u="none" cap="none" strike="noStrike">
                <a:solidFill>
                  <a:srgbClr val="F48664"/>
                </a:solidFill>
                <a:latin typeface="Arial"/>
                <a:ea typeface="Arial"/>
                <a:cs typeface="Arial"/>
                <a:sym typeface="Arial"/>
              </a:rPr>
              <a:t>a</a:t>
            </a:r>
            <a:r>
              <a:rPr b="1" i="0" lang="en-US" sz="3200" u="none" cap="none" strike="noStrike">
                <a:solidFill>
                  <a:srgbClr val="F69C60"/>
                </a:solidFill>
                <a:latin typeface="Arial"/>
                <a:ea typeface="Arial"/>
                <a:cs typeface="Arial"/>
                <a:sym typeface="Arial"/>
              </a:rPr>
              <a:t>t</a:t>
            </a:r>
            <a:r>
              <a:rPr b="1" i="0" lang="en-US" sz="3200" u="none" cap="none" strike="noStrike">
                <a:solidFill>
                  <a:srgbClr val="FFFFFF"/>
                </a:solidFill>
                <a:latin typeface="Arial"/>
                <a:ea typeface="Arial"/>
                <a:cs typeface="Arial"/>
                <a:sym typeface="Arial"/>
              </a:rPr>
              <a:t> </a:t>
            </a:r>
            <a:r>
              <a:rPr b="1" i="0" lang="en-US" sz="3200" u="none" cap="none" strike="noStrike">
                <a:solidFill>
                  <a:srgbClr val="F7B25D"/>
                </a:solidFill>
                <a:latin typeface="Arial"/>
                <a:ea typeface="Arial"/>
                <a:cs typeface="Arial"/>
                <a:sym typeface="Arial"/>
              </a:rPr>
              <a:t>O</a:t>
            </a:r>
            <a:r>
              <a:rPr b="1" i="0" lang="en-US" sz="3200" u="none" cap="none" strike="noStrike">
                <a:solidFill>
                  <a:srgbClr val="D6BD67"/>
                </a:solidFill>
                <a:latin typeface="Arial"/>
                <a:ea typeface="Arial"/>
                <a:cs typeface="Arial"/>
                <a:sym typeface="Arial"/>
              </a:rPr>
              <a:t>m</a:t>
            </a:r>
            <a:r>
              <a:rPr b="1" i="0" lang="en-US" sz="3200" u="none" cap="none" strike="noStrike">
                <a:solidFill>
                  <a:srgbClr val="ABC475"/>
                </a:solidFill>
                <a:latin typeface="Arial"/>
                <a:ea typeface="Arial"/>
                <a:cs typeface="Arial"/>
                <a:sym typeface="Arial"/>
              </a:rPr>
              <a:t>e</a:t>
            </a:r>
            <a:r>
              <a:rPr b="1" i="0" lang="en-US" sz="3200" u="none" cap="none" strike="noStrike">
                <a:solidFill>
                  <a:srgbClr val="7FCB83"/>
                </a:solidFill>
                <a:latin typeface="Arial"/>
                <a:ea typeface="Arial"/>
                <a:cs typeface="Arial"/>
                <a:sym typeface="Arial"/>
              </a:rPr>
              <a:t>g</a:t>
            </a:r>
            <a:r>
              <a:rPr b="1" i="0" lang="en-US" sz="3200" u="none" cap="none" strike="noStrike">
                <a:solidFill>
                  <a:srgbClr val="54D291"/>
                </a:solidFill>
                <a:latin typeface="Arial"/>
                <a:ea typeface="Arial"/>
                <a:cs typeface="Arial"/>
                <a:sym typeface="Arial"/>
              </a:rPr>
              <a:t>a</a:t>
            </a:r>
            <a:r>
              <a:rPr b="1" i="0" lang="en-US" sz="3200" u="none" cap="none" strike="noStrike">
                <a:solidFill>
                  <a:srgbClr val="FFFFFF"/>
                </a:solidFill>
                <a:latin typeface="Arial"/>
                <a:ea typeface="Arial"/>
                <a:cs typeface="Arial"/>
                <a:sym typeface="Arial"/>
              </a:rPr>
              <a:t> </a:t>
            </a:r>
            <a:r>
              <a:rPr b="1" i="0" lang="en-US" sz="3200" u="none" cap="none" strike="noStrike">
                <a:solidFill>
                  <a:srgbClr val="40CDA2"/>
                </a:solidFill>
                <a:latin typeface="Arial"/>
                <a:ea typeface="Arial"/>
                <a:cs typeface="Arial"/>
                <a:sym typeface="Arial"/>
              </a:rPr>
              <a:t>d</a:t>
            </a:r>
            <a:r>
              <a:rPr b="1" i="0" lang="en-US" sz="3200" u="none" cap="none" strike="noStrike">
                <a:solidFill>
                  <a:srgbClr val="44BCB7"/>
                </a:solidFill>
                <a:latin typeface="Arial"/>
                <a:ea typeface="Arial"/>
                <a:cs typeface="Arial"/>
                <a:sym typeface="Arial"/>
              </a:rPr>
              <a:t>o</a:t>
            </a:r>
            <a:r>
              <a:rPr b="1" i="0" lang="en-US" sz="3200" u="none" cap="none" strike="noStrike">
                <a:solidFill>
                  <a:srgbClr val="48ABCC"/>
                </a:solidFill>
                <a:latin typeface="Arial"/>
                <a:ea typeface="Arial"/>
                <a:cs typeface="Arial"/>
                <a:sym typeface="Arial"/>
              </a:rPr>
              <a:t>e</a:t>
            </a:r>
            <a:r>
              <a:rPr b="1" i="0" lang="en-US" sz="3200" u="none" cap="none" strike="noStrike">
                <a:solidFill>
                  <a:srgbClr val="4C9AE0"/>
                </a:solidFill>
                <a:latin typeface="Arial"/>
                <a:ea typeface="Arial"/>
                <a:cs typeface="Arial"/>
                <a:sym typeface="Arial"/>
              </a:rPr>
              <a:t>s</a:t>
            </a:r>
            <a:r>
              <a:rPr b="1" i="0" lang="en-US" sz="3200" u="none" cap="none" strike="noStrike">
                <a:solidFill>
                  <a:srgbClr val="FFFFFF"/>
                </a:solidFill>
                <a:latin typeface="Arial"/>
                <a:ea typeface="Arial"/>
                <a:cs typeface="Arial"/>
                <a:sym typeface="Arial"/>
              </a:rPr>
              <a:t> </a:t>
            </a:r>
            <a:r>
              <a:rPr b="1" i="0" lang="en-US" sz="3200" u="none" cap="none" strike="noStrike">
                <a:solidFill>
                  <a:srgbClr val="548BF0"/>
                </a:solidFill>
                <a:latin typeface="Arial"/>
                <a:ea typeface="Arial"/>
                <a:cs typeface="Arial"/>
                <a:sym typeface="Arial"/>
              </a:rPr>
              <a:t>h</a:t>
            </a:r>
            <a:r>
              <a:rPr b="1" i="0" lang="en-US" sz="3200" u="none" cap="none" strike="noStrike">
                <a:solidFill>
                  <a:srgbClr val="6883F0"/>
                </a:solidFill>
                <a:latin typeface="Arial"/>
                <a:ea typeface="Arial"/>
                <a:cs typeface="Arial"/>
                <a:sym typeface="Arial"/>
              </a:rPr>
              <a:t>e</a:t>
            </a:r>
            <a:r>
              <a:rPr b="1" i="0" lang="en-US" sz="3200" u="none" cap="none" strike="noStrike">
                <a:solidFill>
                  <a:srgbClr val="7D7CF0"/>
                </a:solidFill>
                <a:latin typeface="Arial"/>
                <a:ea typeface="Arial"/>
                <a:cs typeface="Arial"/>
                <a:sym typeface="Arial"/>
              </a:rPr>
              <a:t>r</a:t>
            </a:r>
            <a:r>
              <a:rPr b="1" i="0" lang="en-US" sz="3200" u="none" cap="none" strike="noStrike">
                <a:solidFill>
                  <a:srgbClr val="9174F0"/>
                </a:solidFill>
                <a:latin typeface="Arial"/>
                <a:ea typeface="Arial"/>
                <a:cs typeface="Arial"/>
                <a:sym typeface="Arial"/>
              </a:rPr>
              <a:t>e</a:t>
            </a:r>
            <a:r>
              <a:rPr b="1" i="0" lang="en-US" sz="3200" u="none" cap="none" strike="noStrike">
                <a:solidFill>
                  <a:srgbClr val="A56CF0"/>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pic>
        <p:nvPicPr>
          <p:cNvPr descr="World Tennis" id="568" name="Google Shape;568;p21">
            <a:hlinkClick r:id="rId3"/>
          </p:cNvPr>
          <p:cNvPicPr preferRelativeResize="0"/>
          <p:nvPr/>
        </p:nvPicPr>
        <p:blipFill rotWithShape="1">
          <a:blip r:embed="rId4">
            <a:alphaModFix/>
          </a:blip>
          <a:srcRect b="0" l="0" r="0" t="0"/>
          <a:stretch/>
        </p:blipFill>
        <p:spPr>
          <a:xfrm>
            <a:off x="9955761" y="1117854"/>
            <a:ext cx="1595854" cy="233172"/>
          </a:xfrm>
          <a:prstGeom prst="rect">
            <a:avLst/>
          </a:prstGeom>
          <a:noFill/>
          <a:ln>
            <a:noFill/>
          </a:ln>
        </p:spPr>
      </p:pic>
      <p:cxnSp>
        <p:nvCxnSpPr>
          <p:cNvPr id="569" name="Google Shape;569;p21"/>
          <p:cNvCxnSpPr/>
          <p:nvPr/>
        </p:nvCxnSpPr>
        <p:spPr>
          <a:xfrm>
            <a:off x="640080" y="1783080"/>
            <a:ext cx="3362858" cy="0"/>
          </a:xfrm>
          <a:prstGeom prst="straightConnector1">
            <a:avLst/>
          </a:prstGeom>
          <a:noFill/>
          <a:ln cap="flat" cmpd="sng" w="9525">
            <a:solidFill>
              <a:srgbClr val="5A5A5A"/>
            </a:solidFill>
            <a:prstDash val="solid"/>
            <a:round/>
            <a:headEnd len="sm" w="sm" type="none"/>
            <a:tailEnd len="sm" w="sm" type="none"/>
          </a:ln>
        </p:spPr>
      </p:cxnSp>
      <p:sp>
        <p:nvSpPr>
          <p:cNvPr id="570" name="Google Shape;570;p21"/>
          <p:cNvSpPr txBox="1"/>
          <p:nvPr/>
        </p:nvSpPr>
        <p:spPr>
          <a:xfrm>
            <a:off x="640080" y="1947672"/>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7B85C"/>
              </a:buClr>
              <a:buSzPts val="1800"/>
              <a:buFont typeface="Arial"/>
              <a:buNone/>
            </a:pPr>
            <a:r>
              <a:rPr b="1" i="0" lang="en-US" sz="1800" u="none" cap="none" strike="noStrike">
                <a:solidFill>
                  <a:srgbClr val="F7B85C"/>
                </a:solidFill>
                <a:latin typeface="Arial"/>
                <a:ea typeface="Arial"/>
                <a:cs typeface="Arial"/>
                <a:sym typeface="Arial"/>
              </a:rPr>
              <a:t>01</a:t>
            </a:r>
            <a:endParaRPr b="0" i="0" sz="1800" u="none" cap="none" strike="noStrike">
              <a:solidFill>
                <a:schemeClr val="dk1"/>
              </a:solidFill>
              <a:latin typeface="Arial"/>
              <a:ea typeface="Arial"/>
              <a:cs typeface="Arial"/>
              <a:sym typeface="Arial"/>
            </a:endParaRPr>
          </a:p>
        </p:txBody>
      </p:sp>
      <p:sp>
        <p:nvSpPr>
          <p:cNvPr id="571" name="Google Shape;571;p21"/>
          <p:cNvSpPr txBox="1"/>
          <p:nvPr/>
        </p:nvSpPr>
        <p:spPr>
          <a:xfrm>
            <a:off x="640080" y="2468880"/>
            <a:ext cx="3362858"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Role</a:t>
            </a:r>
            <a:endParaRPr b="0" i="0" sz="1800" u="none" cap="none" strike="noStrike">
              <a:solidFill>
                <a:schemeClr val="dk1"/>
              </a:solidFill>
              <a:latin typeface="Arial"/>
              <a:ea typeface="Arial"/>
              <a:cs typeface="Arial"/>
              <a:sym typeface="Arial"/>
            </a:endParaRPr>
          </a:p>
        </p:txBody>
      </p:sp>
      <p:sp>
        <p:nvSpPr>
          <p:cNvPr id="572" name="Google Shape;572;p21"/>
          <p:cNvSpPr txBox="1"/>
          <p:nvPr/>
        </p:nvSpPr>
        <p:spPr>
          <a:xfrm>
            <a:off x="640080" y="2971800"/>
            <a:ext cx="3362858"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Match coordinator that proposes, negotiates a clash, and confirms</a:t>
            </a:r>
            <a:endParaRPr b="0" i="0" sz="1350" u="none" cap="none" strike="noStrike">
              <a:solidFill>
                <a:schemeClr val="dk1"/>
              </a:solidFill>
              <a:latin typeface="Arial"/>
              <a:ea typeface="Arial"/>
              <a:cs typeface="Arial"/>
              <a:sym typeface="Arial"/>
            </a:endParaRPr>
          </a:p>
        </p:txBody>
      </p:sp>
      <p:cxnSp>
        <p:nvCxnSpPr>
          <p:cNvPr id="573" name="Google Shape;573;p21"/>
          <p:cNvCxnSpPr/>
          <p:nvPr/>
        </p:nvCxnSpPr>
        <p:spPr>
          <a:xfrm>
            <a:off x="4414418" y="1783080"/>
            <a:ext cx="3362858" cy="0"/>
          </a:xfrm>
          <a:prstGeom prst="straightConnector1">
            <a:avLst/>
          </a:prstGeom>
          <a:noFill/>
          <a:ln cap="flat" cmpd="sng" w="9525">
            <a:solidFill>
              <a:srgbClr val="5A5A5A"/>
            </a:solidFill>
            <a:prstDash val="solid"/>
            <a:round/>
            <a:headEnd len="sm" w="sm" type="none"/>
            <a:tailEnd len="sm" w="sm" type="none"/>
          </a:ln>
        </p:spPr>
      </p:cxnSp>
      <p:sp>
        <p:nvSpPr>
          <p:cNvPr id="574" name="Google Shape;574;p21"/>
          <p:cNvSpPr txBox="1"/>
          <p:nvPr/>
        </p:nvSpPr>
        <p:spPr>
          <a:xfrm>
            <a:off x="4414418" y="1947672"/>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7B85C"/>
              </a:buClr>
              <a:buSzPts val="1800"/>
              <a:buFont typeface="Arial"/>
              <a:buNone/>
            </a:pPr>
            <a:r>
              <a:rPr b="1" i="0" lang="en-US" sz="1800" u="none" cap="none" strike="noStrike">
                <a:solidFill>
                  <a:srgbClr val="F7B85C"/>
                </a:solidFill>
                <a:latin typeface="Arial"/>
                <a:ea typeface="Arial"/>
                <a:cs typeface="Arial"/>
                <a:sym typeface="Arial"/>
              </a:rPr>
              <a:t>02</a:t>
            </a:r>
            <a:endParaRPr b="0" i="0" sz="1800" u="none" cap="none" strike="noStrike">
              <a:solidFill>
                <a:schemeClr val="dk1"/>
              </a:solidFill>
              <a:latin typeface="Arial"/>
              <a:ea typeface="Arial"/>
              <a:cs typeface="Arial"/>
              <a:sym typeface="Arial"/>
            </a:endParaRPr>
          </a:p>
        </p:txBody>
      </p:sp>
      <p:sp>
        <p:nvSpPr>
          <p:cNvPr id="575" name="Google Shape;575;p21"/>
          <p:cNvSpPr txBox="1"/>
          <p:nvPr/>
        </p:nvSpPr>
        <p:spPr>
          <a:xfrm>
            <a:off x="4414418" y="2468880"/>
            <a:ext cx="3362858"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Memory and reasoning</a:t>
            </a:r>
            <a:endParaRPr b="0" i="0" sz="1800" u="none" cap="none" strike="noStrike">
              <a:solidFill>
                <a:schemeClr val="dk1"/>
              </a:solidFill>
              <a:latin typeface="Arial"/>
              <a:ea typeface="Arial"/>
              <a:cs typeface="Arial"/>
              <a:sym typeface="Arial"/>
            </a:endParaRPr>
          </a:p>
        </p:txBody>
      </p:sp>
      <p:sp>
        <p:nvSpPr>
          <p:cNvPr id="576" name="Google Shape;576;p21"/>
          <p:cNvSpPr txBox="1"/>
          <p:nvPr/>
        </p:nvSpPr>
        <p:spPr>
          <a:xfrm>
            <a:off x="4414418" y="2971800"/>
            <a:ext cx="3362858"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Remembers player preferences and past matches; uses MeTTa rules for level fit, travel distance and availability overlap</a:t>
            </a:r>
            <a:endParaRPr b="0" i="0" sz="1350" u="none" cap="none" strike="noStrike">
              <a:solidFill>
                <a:schemeClr val="dk1"/>
              </a:solidFill>
              <a:latin typeface="Arial"/>
              <a:ea typeface="Arial"/>
              <a:cs typeface="Arial"/>
              <a:sym typeface="Arial"/>
            </a:endParaRPr>
          </a:p>
        </p:txBody>
      </p:sp>
      <p:cxnSp>
        <p:nvCxnSpPr>
          <p:cNvPr id="577" name="Google Shape;577;p21"/>
          <p:cNvCxnSpPr/>
          <p:nvPr/>
        </p:nvCxnSpPr>
        <p:spPr>
          <a:xfrm>
            <a:off x="8188757" y="1783080"/>
            <a:ext cx="3362858" cy="0"/>
          </a:xfrm>
          <a:prstGeom prst="straightConnector1">
            <a:avLst/>
          </a:prstGeom>
          <a:noFill/>
          <a:ln cap="flat" cmpd="sng" w="9525">
            <a:solidFill>
              <a:srgbClr val="5A5A5A"/>
            </a:solidFill>
            <a:prstDash val="solid"/>
            <a:round/>
            <a:headEnd len="sm" w="sm" type="none"/>
            <a:tailEnd len="sm" w="sm" type="none"/>
          </a:ln>
        </p:spPr>
      </p:cxnSp>
      <p:sp>
        <p:nvSpPr>
          <p:cNvPr id="578" name="Google Shape;578;p21"/>
          <p:cNvSpPr txBox="1"/>
          <p:nvPr/>
        </p:nvSpPr>
        <p:spPr>
          <a:xfrm>
            <a:off x="8188757" y="1947672"/>
            <a:ext cx="548640"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7B85C"/>
              </a:buClr>
              <a:buSzPts val="1800"/>
              <a:buFont typeface="Arial"/>
              <a:buNone/>
            </a:pPr>
            <a:r>
              <a:rPr b="1" i="0" lang="en-US" sz="1800" u="none" cap="none" strike="noStrike">
                <a:solidFill>
                  <a:srgbClr val="F7B85C"/>
                </a:solidFill>
                <a:latin typeface="Arial"/>
                <a:ea typeface="Arial"/>
                <a:cs typeface="Arial"/>
                <a:sym typeface="Arial"/>
              </a:rPr>
              <a:t>03</a:t>
            </a:r>
            <a:endParaRPr b="0" i="0" sz="1800" u="none" cap="none" strike="noStrike">
              <a:solidFill>
                <a:schemeClr val="dk1"/>
              </a:solidFill>
              <a:latin typeface="Arial"/>
              <a:ea typeface="Arial"/>
              <a:cs typeface="Arial"/>
              <a:sym typeface="Arial"/>
            </a:endParaRPr>
          </a:p>
        </p:txBody>
      </p:sp>
      <p:sp>
        <p:nvSpPr>
          <p:cNvPr id="579" name="Google Shape;579;p21"/>
          <p:cNvSpPr txBox="1"/>
          <p:nvPr/>
        </p:nvSpPr>
        <p:spPr>
          <a:xfrm>
            <a:off x="8188757" y="2468880"/>
            <a:ext cx="3362858" cy="4114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Tools</a:t>
            </a:r>
            <a:endParaRPr b="0" i="0" sz="1800" u="none" cap="none" strike="noStrike">
              <a:solidFill>
                <a:schemeClr val="dk1"/>
              </a:solidFill>
              <a:latin typeface="Arial"/>
              <a:ea typeface="Arial"/>
              <a:cs typeface="Arial"/>
              <a:sym typeface="Arial"/>
            </a:endParaRPr>
          </a:p>
        </p:txBody>
      </p:sp>
      <p:sp>
        <p:nvSpPr>
          <p:cNvPr id="580" name="Google Shape;580;p21"/>
          <p:cNvSpPr txBox="1"/>
          <p:nvPr/>
        </p:nvSpPr>
        <p:spPr>
          <a:xfrm>
            <a:off x="8188757" y="2971800"/>
            <a:ext cx="3362858"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350"/>
              <a:buFont typeface="Arial"/>
              <a:buNone/>
            </a:pPr>
            <a:r>
              <a:rPr b="0" i="0" lang="en-US" sz="1350" u="none" cap="none" strike="noStrike">
                <a:solidFill>
                  <a:srgbClr val="B4B4B4"/>
                </a:solidFill>
                <a:latin typeface="Arial"/>
                <a:ea typeface="Arial"/>
                <a:cs typeface="Arial"/>
                <a:sym typeface="Arial"/>
              </a:rPr>
              <a:t>Sample player profiles, sample court availability, a simulated booking step</a:t>
            </a:r>
            <a:endParaRPr b="0" i="0" sz="1350" u="none" cap="none" strike="noStrike">
              <a:solidFill>
                <a:schemeClr val="dk1"/>
              </a:solidFill>
              <a:latin typeface="Arial"/>
              <a:ea typeface="Arial"/>
              <a:cs typeface="Arial"/>
              <a:sym typeface="Arial"/>
            </a:endParaRPr>
          </a:p>
        </p:txBody>
      </p:sp>
      <p:sp>
        <p:nvSpPr>
          <p:cNvPr id="581" name="Google Shape;581;p21"/>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22"/>
          <p:cNvSpPr txBox="1"/>
          <p:nvPr/>
        </p:nvSpPr>
        <p:spPr>
          <a:xfrm>
            <a:off x="5943600" y="329184"/>
            <a:ext cx="5608015"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TRACK 04 · DEMO AND CHECKLIST</a:t>
            </a:r>
            <a:endParaRPr b="0" i="0" sz="950" u="none" cap="none" strike="noStrike">
              <a:solidFill>
                <a:schemeClr val="dk1"/>
              </a:solidFill>
              <a:latin typeface="Arial"/>
              <a:ea typeface="Arial"/>
              <a:cs typeface="Arial"/>
              <a:sym typeface="Arial"/>
            </a:endParaRPr>
          </a:p>
        </p:txBody>
      </p:sp>
      <p:sp>
        <p:nvSpPr>
          <p:cNvPr id="588" name="Google Shape;588;p22"/>
          <p:cNvSpPr txBox="1"/>
          <p:nvPr/>
        </p:nvSpPr>
        <p:spPr>
          <a:xfrm>
            <a:off x="640080" y="914400"/>
            <a:ext cx="10911535"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Track 04. </a:t>
            </a:r>
            <a:r>
              <a:rPr b="1" i="0" lang="en-US" sz="3200" u="none" cap="none" strike="noStrike">
                <a:solidFill>
                  <a:srgbClr val="F2596B"/>
                </a:solidFill>
                <a:latin typeface="Arial"/>
                <a:ea typeface="Arial"/>
                <a:cs typeface="Arial"/>
                <a:sym typeface="Arial"/>
              </a:rPr>
              <a:t>S</a:t>
            </a:r>
            <a:r>
              <a:rPr b="1" i="0" lang="en-US" sz="3200" u="none" cap="none" strike="noStrike">
                <a:solidFill>
                  <a:srgbClr val="F36C68"/>
                </a:solidFill>
                <a:latin typeface="Arial"/>
                <a:ea typeface="Arial"/>
                <a:cs typeface="Arial"/>
                <a:sym typeface="Arial"/>
              </a:rPr>
              <a:t>h</a:t>
            </a:r>
            <a:r>
              <a:rPr b="1" i="0" lang="en-US" sz="3200" u="none" cap="none" strike="noStrike">
                <a:solidFill>
                  <a:srgbClr val="F47F65"/>
                </a:solidFill>
                <a:latin typeface="Arial"/>
                <a:ea typeface="Arial"/>
                <a:cs typeface="Arial"/>
                <a:sym typeface="Arial"/>
              </a:rPr>
              <a:t>o</a:t>
            </a:r>
            <a:r>
              <a:rPr b="1" i="0" lang="en-US" sz="3200" u="none" cap="none" strike="noStrike">
                <a:solidFill>
                  <a:srgbClr val="F59262"/>
                </a:solidFill>
                <a:latin typeface="Arial"/>
                <a:ea typeface="Arial"/>
                <a:cs typeface="Arial"/>
                <a:sym typeface="Arial"/>
              </a:rPr>
              <a:t>w</a:t>
            </a:r>
            <a:r>
              <a:rPr b="1" i="0" lang="en-US" sz="3200" u="none" cap="none" strike="noStrike">
                <a:solidFill>
                  <a:srgbClr val="FFFFFF"/>
                </a:solidFill>
                <a:latin typeface="Arial"/>
                <a:ea typeface="Arial"/>
                <a:cs typeface="Arial"/>
                <a:sym typeface="Arial"/>
              </a:rPr>
              <a:t> </a:t>
            </a:r>
            <a:r>
              <a:rPr b="1" i="0" lang="en-US" sz="3200" u="none" cap="none" strike="noStrike">
                <a:solidFill>
                  <a:srgbClr val="F6A55F"/>
                </a:solidFill>
                <a:latin typeface="Arial"/>
                <a:ea typeface="Arial"/>
                <a:cs typeface="Arial"/>
                <a:sym typeface="Arial"/>
              </a:rPr>
              <a:t>i</a:t>
            </a:r>
            <a:r>
              <a:rPr b="1" i="0" lang="en-US" sz="3200" u="none" cap="none" strike="noStrike">
                <a:solidFill>
                  <a:srgbClr val="F7B85C"/>
                </a:solidFill>
                <a:latin typeface="Arial"/>
                <a:ea typeface="Arial"/>
                <a:cs typeface="Arial"/>
                <a:sym typeface="Arial"/>
              </a:rPr>
              <a:t>t</a:t>
            </a:r>
            <a:r>
              <a:rPr b="1" i="0" lang="en-US" sz="3200" u="none" cap="none" strike="noStrike">
                <a:solidFill>
                  <a:srgbClr val="FFFFFF"/>
                </a:solidFill>
                <a:latin typeface="Arial"/>
                <a:ea typeface="Arial"/>
                <a:cs typeface="Arial"/>
                <a:sym typeface="Arial"/>
              </a:rPr>
              <a:t> </a:t>
            </a:r>
            <a:r>
              <a:rPr b="1" i="0" lang="en-US" sz="3200" u="none" cap="none" strike="noStrike">
                <a:solidFill>
                  <a:srgbClr val="D2BE68"/>
                </a:solidFill>
                <a:latin typeface="Arial"/>
                <a:ea typeface="Arial"/>
                <a:cs typeface="Arial"/>
                <a:sym typeface="Arial"/>
              </a:rPr>
              <a:t>i</a:t>
            </a:r>
            <a:r>
              <a:rPr b="1" i="0" lang="en-US" sz="3200" u="none" cap="none" strike="noStrike">
                <a:solidFill>
                  <a:srgbClr val="ADC474"/>
                </a:solidFill>
                <a:latin typeface="Arial"/>
                <a:ea typeface="Arial"/>
                <a:cs typeface="Arial"/>
                <a:sym typeface="Arial"/>
              </a:rPr>
              <a:t>n</a:t>
            </a:r>
            <a:r>
              <a:rPr b="1" i="0" lang="en-US" sz="3200" u="none" cap="none" strike="noStrike">
                <a:solidFill>
                  <a:srgbClr val="FFFFFF"/>
                </a:solidFill>
                <a:latin typeface="Arial"/>
                <a:ea typeface="Arial"/>
                <a:cs typeface="Arial"/>
                <a:sym typeface="Arial"/>
              </a:rPr>
              <a:t> </a:t>
            </a:r>
            <a:r>
              <a:rPr b="1" i="0" lang="en-US" sz="3200" u="none" cap="none" strike="noStrike">
                <a:solidFill>
                  <a:srgbClr val="88C980"/>
                </a:solidFill>
                <a:latin typeface="Arial"/>
                <a:ea typeface="Arial"/>
                <a:cs typeface="Arial"/>
                <a:sym typeface="Arial"/>
              </a:rPr>
              <a:t>t</a:t>
            </a:r>
            <a:r>
              <a:rPr b="1" i="0" lang="en-US" sz="3200" u="none" cap="none" strike="noStrike">
                <a:solidFill>
                  <a:srgbClr val="63CF8C"/>
                </a:solidFill>
                <a:latin typeface="Arial"/>
                <a:ea typeface="Arial"/>
                <a:cs typeface="Arial"/>
                <a:sym typeface="Arial"/>
              </a:rPr>
              <a:t>h</a:t>
            </a:r>
            <a:r>
              <a:rPr b="1" i="0" lang="en-US" sz="3200" u="none" cap="none" strike="noStrike">
                <a:solidFill>
                  <a:srgbClr val="3ED598"/>
                </a:solidFill>
                <a:latin typeface="Arial"/>
                <a:ea typeface="Arial"/>
                <a:cs typeface="Arial"/>
                <a:sym typeface="Arial"/>
              </a:rPr>
              <a:t>r</a:t>
            </a:r>
            <a:r>
              <a:rPr b="1" i="0" lang="en-US" sz="3200" u="none" cap="none" strike="noStrike">
                <a:solidFill>
                  <a:srgbClr val="41C7AA"/>
                </a:solidFill>
                <a:latin typeface="Arial"/>
                <a:ea typeface="Arial"/>
                <a:cs typeface="Arial"/>
                <a:sym typeface="Arial"/>
              </a:rPr>
              <a:t>e</a:t>
            </a:r>
            <a:r>
              <a:rPr b="1" i="0" lang="en-US" sz="3200" u="none" cap="none" strike="noStrike">
                <a:solidFill>
                  <a:srgbClr val="45B8BB"/>
                </a:solidFill>
                <a:latin typeface="Arial"/>
                <a:ea typeface="Arial"/>
                <a:cs typeface="Arial"/>
                <a:sym typeface="Arial"/>
              </a:rPr>
              <a:t>e</a:t>
            </a:r>
            <a:r>
              <a:rPr b="1" i="0" lang="en-US" sz="3200" u="none" cap="none" strike="noStrike">
                <a:solidFill>
                  <a:srgbClr val="FFFFFF"/>
                </a:solidFill>
                <a:latin typeface="Arial"/>
                <a:ea typeface="Arial"/>
                <a:cs typeface="Arial"/>
                <a:sym typeface="Arial"/>
              </a:rPr>
              <a:t> </a:t>
            </a:r>
            <a:r>
              <a:rPr b="1" i="0" lang="en-US" sz="3200" u="none" cap="none" strike="noStrike">
                <a:solidFill>
                  <a:srgbClr val="48AACD"/>
                </a:solidFill>
                <a:latin typeface="Arial"/>
                <a:ea typeface="Arial"/>
                <a:cs typeface="Arial"/>
                <a:sym typeface="Arial"/>
              </a:rPr>
              <a:t>m</a:t>
            </a:r>
            <a:r>
              <a:rPr b="1" i="0" lang="en-US" sz="3200" u="none" cap="none" strike="noStrike">
                <a:solidFill>
                  <a:srgbClr val="4C9BDE"/>
                </a:solidFill>
                <a:latin typeface="Arial"/>
                <a:ea typeface="Arial"/>
                <a:cs typeface="Arial"/>
                <a:sym typeface="Arial"/>
              </a:rPr>
              <a:t>i</a:t>
            </a:r>
            <a:r>
              <a:rPr b="1" i="0" lang="en-US" sz="3200" u="none" cap="none" strike="noStrike">
                <a:solidFill>
                  <a:srgbClr val="4F8DF0"/>
                </a:solidFill>
                <a:latin typeface="Arial"/>
                <a:ea typeface="Arial"/>
                <a:cs typeface="Arial"/>
                <a:sym typeface="Arial"/>
              </a:rPr>
              <a:t>n</a:t>
            </a:r>
            <a:r>
              <a:rPr b="1" i="0" lang="en-US" sz="3200" u="none" cap="none" strike="noStrike">
                <a:solidFill>
                  <a:srgbClr val="6086F0"/>
                </a:solidFill>
                <a:latin typeface="Arial"/>
                <a:ea typeface="Arial"/>
                <a:cs typeface="Arial"/>
                <a:sym typeface="Arial"/>
              </a:rPr>
              <a:t>u</a:t>
            </a:r>
            <a:r>
              <a:rPr b="1" i="0" lang="en-US" sz="3200" u="none" cap="none" strike="noStrike">
                <a:solidFill>
                  <a:srgbClr val="7180F0"/>
                </a:solidFill>
                <a:latin typeface="Arial"/>
                <a:ea typeface="Arial"/>
                <a:cs typeface="Arial"/>
                <a:sym typeface="Arial"/>
              </a:rPr>
              <a:t>t</a:t>
            </a:r>
            <a:r>
              <a:rPr b="1" i="0" lang="en-US" sz="3200" u="none" cap="none" strike="noStrike">
                <a:solidFill>
                  <a:srgbClr val="8379F0"/>
                </a:solidFill>
                <a:latin typeface="Arial"/>
                <a:ea typeface="Arial"/>
                <a:cs typeface="Arial"/>
                <a:sym typeface="Arial"/>
              </a:rPr>
              <a:t>e</a:t>
            </a:r>
            <a:r>
              <a:rPr b="1" i="0" lang="en-US" sz="3200" u="none" cap="none" strike="noStrike">
                <a:solidFill>
                  <a:srgbClr val="9473F0"/>
                </a:solidFill>
                <a:latin typeface="Arial"/>
                <a:ea typeface="Arial"/>
                <a:cs typeface="Arial"/>
                <a:sym typeface="Arial"/>
              </a:rPr>
              <a:t>s</a:t>
            </a:r>
            <a:r>
              <a:rPr b="1" i="0" lang="en-US" sz="3200" u="none" cap="none" strike="noStrike">
                <a:solidFill>
                  <a:srgbClr val="A56CF0"/>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pic>
        <p:nvPicPr>
          <p:cNvPr descr="World Tennis" id="589" name="Google Shape;589;p22">
            <a:hlinkClick r:id="rId3"/>
          </p:cNvPr>
          <p:cNvPicPr preferRelativeResize="0"/>
          <p:nvPr/>
        </p:nvPicPr>
        <p:blipFill rotWithShape="1">
          <a:blip r:embed="rId4">
            <a:alphaModFix/>
          </a:blip>
          <a:srcRect b="0" l="0" r="0" t="0"/>
          <a:stretch/>
        </p:blipFill>
        <p:spPr>
          <a:xfrm>
            <a:off x="9955761" y="1117854"/>
            <a:ext cx="1595854" cy="233172"/>
          </a:xfrm>
          <a:prstGeom prst="rect">
            <a:avLst/>
          </a:prstGeom>
          <a:noFill/>
          <a:ln>
            <a:noFill/>
          </a:ln>
        </p:spPr>
      </p:pic>
      <p:sp>
        <p:nvSpPr>
          <p:cNvPr id="590" name="Google Shape;590;p22"/>
          <p:cNvSpPr txBox="1"/>
          <p:nvPr/>
        </p:nvSpPr>
        <p:spPr>
          <a:xfrm>
            <a:off x="640080" y="1783080"/>
            <a:ext cx="52578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DEMO SCRIPT (3 MINUTES)</a:t>
            </a:r>
            <a:endParaRPr b="0" i="0" sz="950" u="none" cap="none" strike="noStrike">
              <a:solidFill>
                <a:schemeClr val="dk1"/>
              </a:solidFill>
              <a:latin typeface="Arial"/>
              <a:ea typeface="Arial"/>
              <a:cs typeface="Arial"/>
              <a:sym typeface="Arial"/>
            </a:endParaRPr>
          </a:p>
        </p:txBody>
      </p:sp>
      <p:cxnSp>
        <p:nvCxnSpPr>
          <p:cNvPr id="591" name="Google Shape;591;p22"/>
          <p:cNvCxnSpPr/>
          <p:nvPr/>
        </p:nvCxnSpPr>
        <p:spPr>
          <a:xfrm>
            <a:off x="640080" y="2103120"/>
            <a:ext cx="5257800" cy="0"/>
          </a:xfrm>
          <a:prstGeom prst="straightConnector1">
            <a:avLst/>
          </a:prstGeom>
          <a:noFill/>
          <a:ln cap="flat" cmpd="sng" w="9525">
            <a:solidFill>
              <a:srgbClr val="5A5A5A"/>
            </a:solidFill>
            <a:prstDash val="solid"/>
            <a:round/>
            <a:headEnd len="sm" w="sm" type="none"/>
            <a:tailEnd len="sm" w="sm" type="none"/>
          </a:ln>
        </p:spPr>
      </p:cxnSp>
      <p:sp>
        <p:nvSpPr>
          <p:cNvPr id="592" name="Google Shape;592;p22"/>
          <p:cNvSpPr txBox="1"/>
          <p:nvPr/>
        </p:nvSpPr>
        <p:spPr>
          <a:xfrm>
            <a:off x="640080" y="2157984"/>
            <a:ext cx="36576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7B85C"/>
              </a:buClr>
              <a:buSzPts val="1500"/>
              <a:buFont typeface="Arial"/>
              <a:buNone/>
            </a:pPr>
            <a:r>
              <a:rPr b="1" i="0" lang="en-US" sz="1500" u="none" cap="none" strike="noStrike">
                <a:solidFill>
                  <a:srgbClr val="F7B85C"/>
                </a:solidFill>
                <a:latin typeface="Arial"/>
                <a:ea typeface="Arial"/>
                <a:cs typeface="Arial"/>
                <a:sym typeface="Arial"/>
              </a:rPr>
              <a:t>1</a:t>
            </a:r>
            <a:endParaRPr b="0" i="0" sz="1500" u="none" cap="none" strike="noStrike">
              <a:solidFill>
                <a:schemeClr val="dk1"/>
              </a:solidFill>
              <a:latin typeface="Arial"/>
              <a:ea typeface="Arial"/>
              <a:cs typeface="Arial"/>
              <a:sym typeface="Arial"/>
            </a:endParaRPr>
          </a:p>
        </p:txBody>
      </p:sp>
      <p:sp>
        <p:nvSpPr>
          <p:cNvPr id="593" name="Google Shape;593;p22"/>
          <p:cNvSpPr txBox="1"/>
          <p:nvPr/>
        </p:nvSpPr>
        <p:spPr>
          <a:xfrm>
            <a:off x="1051560" y="2148840"/>
            <a:ext cx="4846320" cy="56692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A player asks for a match this week.</a:t>
            </a:r>
            <a:endParaRPr b="0" i="0" sz="1200" u="none" cap="none" strike="noStrike">
              <a:solidFill>
                <a:schemeClr val="dk1"/>
              </a:solidFill>
              <a:latin typeface="Arial"/>
              <a:ea typeface="Arial"/>
              <a:cs typeface="Arial"/>
              <a:sym typeface="Arial"/>
            </a:endParaRPr>
          </a:p>
        </p:txBody>
      </p:sp>
      <p:cxnSp>
        <p:nvCxnSpPr>
          <p:cNvPr id="594" name="Google Shape;594;p22"/>
          <p:cNvCxnSpPr/>
          <p:nvPr/>
        </p:nvCxnSpPr>
        <p:spPr>
          <a:xfrm>
            <a:off x="640080" y="2743200"/>
            <a:ext cx="5257800" cy="0"/>
          </a:xfrm>
          <a:prstGeom prst="straightConnector1">
            <a:avLst/>
          </a:prstGeom>
          <a:noFill/>
          <a:ln cap="flat" cmpd="sng" w="9525">
            <a:solidFill>
              <a:srgbClr val="262626"/>
            </a:solidFill>
            <a:prstDash val="solid"/>
            <a:round/>
            <a:headEnd len="sm" w="sm" type="none"/>
            <a:tailEnd len="sm" w="sm" type="none"/>
          </a:ln>
        </p:spPr>
      </p:cxnSp>
      <p:sp>
        <p:nvSpPr>
          <p:cNvPr id="595" name="Google Shape;595;p22"/>
          <p:cNvSpPr txBox="1"/>
          <p:nvPr/>
        </p:nvSpPr>
        <p:spPr>
          <a:xfrm>
            <a:off x="640080" y="2798064"/>
            <a:ext cx="36576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7B85C"/>
              </a:buClr>
              <a:buSzPts val="1500"/>
              <a:buFont typeface="Arial"/>
              <a:buNone/>
            </a:pPr>
            <a:r>
              <a:rPr b="1" i="0" lang="en-US" sz="1500" u="none" cap="none" strike="noStrike">
                <a:solidFill>
                  <a:srgbClr val="F7B85C"/>
                </a:solidFill>
                <a:latin typeface="Arial"/>
                <a:ea typeface="Arial"/>
                <a:cs typeface="Arial"/>
                <a:sym typeface="Arial"/>
              </a:rPr>
              <a:t>2</a:t>
            </a:r>
            <a:endParaRPr b="0" i="0" sz="1500" u="none" cap="none" strike="noStrike">
              <a:solidFill>
                <a:schemeClr val="dk1"/>
              </a:solidFill>
              <a:latin typeface="Arial"/>
              <a:ea typeface="Arial"/>
              <a:cs typeface="Arial"/>
              <a:sym typeface="Arial"/>
            </a:endParaRPr>
          </a:p>
        </p:txBody>
      </p:sp>
      <p:sp>
        <p:nvSpPr>
          <p:cNvPr id="596" name="Google Shape;596;p22"/>
          <p:cNvSpPr txBox="1"/>
          <p:nvPr/>
        </p:nvSpPr>
        <p:spPr>
          <a:xfrm>
            <a:off x="1051560" y="2788920"/>
            <a:ext cx="4846320" cy="56692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The agent proposes an opponent, court and time, with reasons: level, distance, shared availability.</a:t>
            </a:r>
            <a:endParaRPr b="0" i="0" sz="1200" u="none" cap="none" strike="noStrike">
              <a:solidFill>
                <a:schemeClr val="dk1"/>
              </a:solidFill>
              <a:latin typeface="Arial"/>
              <a:ea typeface="Arial"/>
              <a:cs typeface="Arial"/>
              <a:sym typeface="Arial"/>
            </a:endParaRPr>
          </a:p>
        </p:txBody>
      </p:sp>
      <p:cxnSp>
        <p:nvCxnSpPr>
          <p:cNvPr id="597" name="Google Shape;597;p22"/>
          <p:cNvCxnSpPr/>
          <p:nvPr/>
        </p:nvCxnSpPr>
        <p:spPr>
          <a:xfrm>
            <a:off x="640080" y="3383280"/>
            <a:ext cx="5257800" cy="0"/>
          </a:xfrm>
          <a:prstGeom prst="straightConnector1">
            <a:avLst/>
          </a:prstGeom>
          <a:noFill/>
          <a:ln cap="flat" cmpd="sng" w="9525">
            <a:solidFill>
              <a:srgbClr val="262626"/>
            </a:solidFill>
            <a:prstDash val="solid"/>
            <a:round/>
            <a:headEnd len="sm" w="sm" type="none"/>
            <a:tailEnd len="sm" w="sm" type="none"/>
          </a:ln>
        </p:spPr>
      </p:cxnSp>
      <p:sp>
        <p:nvSpPr>
          <p:cNvPr id="598" name="Google Shape;598;p22"/>
          <p:cNvSpPr txBox="1"/>
          <p:nvPr/>
        </p:nvSpPr>
        <p:spPr>
          <a:xfrm>
            <a:off x="640080" y="3438144"/>
            <a:ext cx="36576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7B85C"/>
              </a:buClr>
              <a:buSzPts val="1500"/>
              <a:buFont typeface="Arial"/>
              <a:buNone/>
            </a:pPr>
            <a:r>
              <a:rPr b="1" i="0" lang="en-US" sz="1500" u="none" cap="none" strike="noStrike">
                <a:solidFill>
                  <a:srgbClr val="F7B85C"/>
                </a:solidFill>
                <a:latin typeface="Arial"/>
                <a:ea typeface="Arial"/>
                <a:cs typeface="Arial"/>
                <a:sym typeface="Arial"/>
              </a:rPr>
              <a:t>3</a:t>
            </a:r>
            <a:endParaRPr b="0" i="0" sz="1500" u="none" cap="none" strike="noStrike">
              <a:solidFill>
                <a:schemeClr val="dk1"/>
              </a:solidFill>
              <a:latin typeface="Arial"/>
              <a:ea typeface="Arial"/>
              <a:cs typeface="Arial"/>
              <a:sym typeface="Arial"/>
            </a:endParaRPr>
          </a:p>
        </p:txBody>
      </p:sp>
      <p:sp>
        <p:nvSpPr>
          <p:cNvPr id="599" name="Google Shape;599;p22"/>
          <p:cNvSpPr txBox="1"/>
          <p:nvPr/>
        </p:nvSpPr>
        <p:spPr>
          <a:xfrm>
            <a:off x="1051560" y="3429000"/>
            <a:ext cx="4846320" cy="56692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Introduce a conflict, such as the court being taken or one player becoming unavailable. Show the agent re-plan.</a:t>
            </a:r>
            <a:endParaRPr b="0" i="0" sz="1200" u="none" cap="none" strike="noStrike">
              <a:solidFill>
                <a:schemeClr val="dk1"/>
              </a:solidFill>
              <a:latin typeface="Arial"/>
              <a:ea typeface="Arial"/>
              <a:cs typeface="Arial"/>
              <a:sym typeface="Arial"/>
            </a:endParaRPr>
          </a:p>
        </p:txBody>
      </p:sp>
      <p:cxnSp>
        <p:nvCxnSpPr>
          <p:cNvPr id="600" name="Google Shape;600;p22"/>
          <p:cNvCxnSpPr/>
          <p:nvPr/>
        </p:nvCxnSpPr>
        <p:spPr>
          <a:xfrm>
            <a:off x="640080" y="4023360"/>
            <a:ext cx="5257800" cy="0"/>
          </a:xfrm>
          <a:prstGeom prst="straightConnector1">
            <a:avLst/>
          </a:prstGeom>
          <a:noFill/>
          <a:ln cap="flat" cmpd="sng" w="9525">
            <a:solidFill>
              <a:srgbClr val="262626"/>
            </a:solidFill>
            <a:prstDash val="solid"/>
            <a:round/>
            <a:headEnd len="sm" w="sm" type="none"/>
            <a:tailEnd len="sm" w="sm" type="none"/>
          </a:ln>
        </p:spPr>
      </p:cxnSp>
      <p:sp>
        <p:nvSpPr>
          <p:cNvPr id="601" name="Google Shape;601;p22"/>
          <p:cNvSpPr txBox="1"/>
          <p:nvPr/>
        </p:nvSpPr>
        <p:spPr>
          <a:xfrm>
            <a:off x="640080" y="4078224"/>
            <a:ext cx="36576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7B85C"/>
              </a:buClr>
              <a:buSzPts val="1500"/>
              <a:buFont typeface="Arial"/>
              <a:buNone/>
            </a:pPr>
            <a:r>
              <a:rPr b="1" i="0" lang="en-US" sz="1500" u="none" cap="none" strike="noStrike">
                <a:solidFill>
                  <a:srgbClr val="F7B85C"/>
                </a:solidFill>
                <a:latin typeface="Arial"/>
                <a:ea typeface="Arial"/>
                <a:cs typeface="Arial"/>
                <a:sym typeface="Arial"/>
              </a:rPr>
              <a:t>4</a:t>
            </a:r>
            <a:endParaRPr b="0" i="0" sz="1500" u="none" cap="none" strike="noStrike">
              <a:solidFill>
                <a:schemeClr val="dk1"/>
              </a:solidFill>
              <a:latin typeface="Arial"/>
              <a:ea typeface="Arial"/>
              <a:cs typeface="Arial"/>
              <a:sym typeface="Arial"/>
            </a:endParaRPr>
          </a:p>
        </p:txBody>
      </p:sp>
      <p:sp>
        <p:nvSpPr>
          <p:cNvPr id="602" name="Google Shape;602;p22"/>
          <p:cNvSpPr txBox="1"/>
          <p:nvPr/>
        </p:nvSpPr>
        <p:spPr>
          <a:xfrm>
            <a:off x="1051560" y="4069080"/>
            <a:ext cx="4846320" cy="56692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Both players confirm. The agent makes a clearly labelled simulated booking.</a:t>
            </a:r>
            <a:endParaRPr b="0" i="0" sz="1200" u="none" cap="none" strike="noStrike">
              <a:solidFill>
                <a:schemeClr val="dk1"/>
              </a:solidFill>
              <a:latin typeface="Arial"/>
              <a:ea typeface="Arial"/>
              <a:cs typeface="Arial"/>
              <a:sym typeface="Arial"/>
            </a:endParaRPr>
          </a:p>
        </p:txBody>
      </p:sp>
      <p:sp>
        <p:nvSpPr>
          <p:cNvPr id="603" name="Google Shape;603;p22"/>
          <p:cNvSpPr txBox="1"/>
          <p:nvPr/>
        </p:nvSpPr>
        <p:spPr>
          <a:xfrm>
            <a:off x="6355080" y="1783080"/>
            <a:ext cx="5196535"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SHOWCASE CHECKLIST</a:t>
            </a:r>
            <a:endParaRPr b="0" i="0" sz="950" u="none" cap="none" strike="noStrike">
              <a:solidFill>
                <a:schemeClr val="dk1"/>
              </a:solidFill>
              <a:latin typeface="Arial"/>
              <a:ea typeface="Arial"/>
              <a:cs typeface="Arial"/>
              <a:sym typeface="Arial"/>
            </a:endParaRPr>
          </a:p>
        </p:txBody>
      </p:sp>
      <p:cxnSp>
        <p:nvCxnSpPr>
          <p:cNvPr id="604" name="Google Shape;604;p22"/>
          <p:cNvCxnSpPr/>
          <p:nvPr/>
        </p:nvCxnSpPr>
        <p:spPr>
          <a:xfrm>
            <a:off x="6355080" y="2103120"/>
            <a:ext cx="5196535" cy="0"/>
          </a:xfrm>
          <a:prstGeom prst="straightConnector1">
            <a:avLst/>
          </a:prstGeom>
          <a:noFill/>
          <a:ln cap="flat" cmpd="sng" w="9525">
            <a:solidFill>
              <a:srgbClr val="5A5A5A"/>
            </a:solidFill>
            <a:prstDash val="solid"/>
            <a:round/>
            <a:headEnd len="sm" w="sm" type="none"/>
            <a:tailEnd len="sm" w="sm" type="none"/>
          </a:ln>
        </p:spPr>
      </p:cxnSp>
      <p:sp>
        <p:nvSpPr>
          <p:cNvPr id="605" name="Google Shape;605;p22"/>
          <p:cNvSpPr/>
          <p:nvPr/>
        </p:nvSpPr>
        <p:spPr>
          <a:xfrm>
            <a:off x="6355080" y="2221992"/>
            <a:ext cx="164592" cy="164592"/>
          </a:xfrm>
          <a:prstGeom prst="rect">
            <a:avLst/>
          </a:prstGeom>
          <a:solidFill>
            <a:srgbClr val="0A0A0A"/>
          </a:solidFill>
          <a:ln cap="flat" cmpd="sng" w="12700">
            <a:solidFill>
              <a:srgbClr val="F7B8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2"/>
          <p:cNvSpPr txBox="1"/>
          <p:nvPr/>
        </p:nvSpPr>
        <p:spPr>
          <a:xfrm>
            <a:off x="6675120" y="2139696"/>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A proposed match with visible reasons</a:t>
            </a:r>
            <a:endParaRPr b="0" i="0" sz="1150" u="none" cap="none" strike="noStrike">
              <a:solidFill>
                <a:schemeClr val="dk1"/>
              </a:solidFill>
              <a:latin typeface="Arial"/>
              <a:ea typeface="Arial"/>
              <a:cs typeface="Arial"/>
              <a:sym typeface="Arial"/>
            </a:endParaRPr>
          </a:p>
        </p:txBody>
      </p:sp>
      <p:cxnSp>
        <p:nvCxnSpPr>
          <p:cNvPr id="607" name="Google Shape;607;p22"/>
          <p:cNvCxnSpPr/>
          <p:nvPr/>
        </p:nvCxnSpPr>
        <p:spPr>
          <a:xfrm>
            <a:off x="6355080" y="2532888"/>
            <a:ext cx="5196535" cy="0"/>
          </a:xfrm>
          <a:prstGeom prst="straightConnector1">
            <a:avLst/>
          </a:prstGeom>
          <a:noFill/>
          <a:ln cap="flat" cmpd="sng" w="9525">
            <a:solidFill>
              <a:srgbClr val="262626"/>
            </a:solidFill>
            <a:prstDash val="solid"/>
            <a:round/>
            <a:headEnd len="sm" w="sm" type="none"/>
            <a:tailEnd len="sm" w="sm" type="none"/>
          </a:ln>
        </p:spPr>
      </p:cxnSp>
      <p:sp>
        <p:nvSpPr>
          <p:cNvPr id="608" name="Google Shape;608;p22"/>
          <p:cNvSpPr/>
          <p:nvPr/>
        </p:nvSpPr>
        <p:spPr>
          <a:xfrm>
            <a:off x="6355080" y="2651760"/>
            <a:ext cx="164592" cy="164592"/>
          </a:xfrm>
          <a:prstGeom prst="rect">
            <a:avLst/>
          </a:prstGeom>
          <a:solidFill>
            <a:srgbClr val="0A0A0A"/>
          </a:solidFill>
          <a:ln cap="flat" cmpd="sng" w="12700">
            <a:solidFill>
              <a:srgbClr val="F7B8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2"/>
          <p:cNvSpPr txBox="1"/>
          <p:nvPr/>
        </p:nvSpPr>
        <p:spPr>
          <a:xfrm>
            <a:off x="6675120" y="2569464"/>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A scheduling conflict resolved</a:t>
            </a:r>
            <a:endParaRPr b="0" i="0" sz="1150" u="none" cap="none" strike="noStrike">
              <a:solidFill>
                <a:schemeClr val="dk1"/>
              </a:solidFill>
              <a:latin typeface="Arial"/>
              <a:ea typeface="Arial"/>
              <a:cs typeface="Arial"/>
              <a:sym typeface="Arial"/>
            </a:endParaRPr>
          </a:p>
        </p:txBody>
      </p:sp>
      <p:cxnSp>
        <p:nvCxnSpPr>
          <p:cNvPr id="610" name="Google Shape;610;p22"/>
          <p:cNvCxnSpPr/>
          <p:nvPr/>
        </p:nvCxnSpPr>
        <p:spPr>
          <a:xfrm>
            <a:off x="6355080" y="2962656"/>
            <a:ext cx="5196535" cy="0"/>
          </a:xfrm>
          <a:prstGeom prst="straightConnector1">
            <a:avLst/>
          </a:prstGeom>
          <a:noFill/>
          <a:ln cap="flat" cmpd="sng" w="9525">
            <a:solidFill>
              <a:srgbClr val="262626"/>
            </a:solidFill>
            <a:prstDash val="solid"/>
            <a:round/>
            <a:headEnd len="sm" w="sm" type="none"/>
            <a:tailEnd len="sm" w="sm" type="none"/>
          </a:ln>
        </p:spPr>
      </p:cxnSp>
      <p:sp>
        <p:nvSpPr>
          <p:cNvPr id="611" name="Google Shape;611;p22"/>
          <p:cNvSpPr/>
          <p:nvPr/>
        </p:nvSpPr>
        <p:spPr>
          <a:xfrm>
            <a:off x="6355080" y="3081528"/>
            <a:ext cx="164592" cy="164592"/>
          </a:xfrm>
          <a:prstGeom prst="rect">
            <a:avLst/>
          </a:prstGeom>
          <a:solidFill>
            <a:srgbClr val="0A0A0A"/>
          </a:solidFill>
          <a:ln cap="flat" cmpd="sng" w="12700">
            <a:solidFill>
              <a:srgbClr val="F7B8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2"/>
          <p:cNvSpPr txBox="1"/>
          <p:nvPr/>
        </p:nvSpPr>
        <p:spPr>
          <a:xfrm>
            <a:off x="6675120" y="2999232"/>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Confirmation requested before booking</a:t>
            </a:r>
            <a:endParaRPr b="0" i="0" sz="1150" u="none" cap="none" strike="noStrike">
              <a:solidFill>
                <a:schemeClr val="dk1"/>
              </a:solidFill>
              <a:latin typeface="Arial"/>
              <a:ea typeface="Arial"/>
              <a:cs typeface="Arial"/>
              <a:sym typeface="Arial"/>
            </a:endParaRPr>
          </a:p>
        </p:txBody>
      </p:sp>
      <p:cxnSp>
        <p:nvCxnSpPr>
          <p:cNvPr id="613" name="Google Shape;613;p22"/>
          <p:cNvCxnSpPr/>
          <p:nvPr/>
        </p:nvCxnSpPr>
        <p:spPr>
          <a:xfrm>
            <a:off x="6355080" y="3392424"/>
            <a:ext cx="5196535" cy="0"/>
          </a:xfrm>
          <a:prstGeom prst="straightConnector1">
            <a:avLst/>
          </a:prstGeom>
          <a:noFill/>
          <a:ln cap="flat" cmpd="sng" w="9525">
            <a:solidFill>
              <a:srgbClr val="262626"/>
            </a:solidFill>
            <a:prstDash val="solid"/>
            <a:round/>
            <a:headEnd len="sm" w="sm" type="none"/>
            <a:tailEnd len="sm" w="sm" type="none"/>
          </a:ln>
        </p:spPr>
      </p:cxnSp>
      <p:sp>
        <p:nvSpPr>
          <p:cNvPr id="614" name="Google Shape;614;p22"/>
          <p:cNvSpPr/>
          <p:nvPr/>
        </p:nvSpPr>
        <p:spPr>
          <a:xfrm>
            <a:off x="6355080" y="3511296"/>
            <a:ext cx="164592" cy="164592"/>
          </a:xfrm>
          <a:prstGeom prst="rect">
            <a:avLst/>
          </a:prstGeom>
          <a:solidFill>
            <a:srgbClr val="0A0A0A"/>
          </a:solidFill>
          <a:ln cap="flat" cmpd="sng" w="12700">
            <a:solidFill>
              <a:srgbClr val="F7B8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2"/>
          <p:cNvSpPr txBox="1"/>
          <p:nvPr/>
        </p:nvSpPr>
        <p:spPr>
          <a:xfrm>
            <a:off x="6675120" y="3429000"/>
            <a:ext cx="4876495"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Simulated bookings and payments clearly labelled</a:t>
            </a:r>
            <a:endParaRPr b="0" i="0" sz="1150" u="none" cap="none" strike="noStrike">
              <a:solidFill>
                <a:schemeClr val="dk1"/>
              </a:solidFill>
              <a:latin typeface="Arial"/>
              <a:ea typeface="Arial"/>
              <a:cs typeface="Arial"/>
              <a:sym typeface="Arial"/>
            </a:endParaRPr>
          </a:p>
        </p:txBody>
      </p:sp>
      <p:sp>
        <p:nvSpPr>
          <p:cNvPr id="616" name="Google Shape;616;p22"/>
          <p:cNvSpPr/>
          <p:nvPr/>
        </p:nvSpPr>
        <p:spPr>
          <a:xfrm>
            <a:off x="640080" y="4983480"/>
            <a:ext cx="10911535" cy="1234440"/>
          </a:xfrm>
          <a:prstGeom prst="rect">
            <a:avLst/>
          </a:prstGeom>
          <a:solidFill>
            <a:srgbClr val="111111"/>
          </a:solidFill>
          <a:ln cap="flat" cmpd="sng" w="9525">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2"/>
          <p:cNvSpPr/>
          <p:nvPr/>
        </p:nvSpPr>
        <p:spPr>
          <a:xfrm>
            <a:off x="640080" y="4983480"/>
            <a:ext cx="10911535" cy="32004"/>
          </a:xfrm>
          <a:prstGeom prst="rect">
            <a:avLst/>
          </a:prstGeom>
          <a:solidFill>
            <a:srgbClr val="F7B8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2"/>
          <p:cNvSpPr txBox="1"/>
          <p:nvPr/>
        </p:nvSpPr>
        <p:spPr>
          <a:xfrm>
            <a:off x="960120" y="5166360"/>
            <a:ext cx="490712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BOUNDARIES</a:t>
            </a:r>
            <a:endParaRPr b="0" i="0" sz="950" u="none" cap="none" strike="noStrike">
              <a:solidFill>
                <a:schemeClr val="dk1"/>
              </a:solidFill>
              <a:latin typeface="Arial"/>
              <a:ea typeface="Arial"/>
              <a:cs typeface="Arial"/>
              <a:sym typeface="Arial"/>
            </a:endParaRPr>
          </a:p>
        </p:txBody>
      </p:sp>
      <p:sp>
        <p:nvSpPr>
          <p:cNvPr id="619" name="Google Shape;619;p22"/>
          <p:cNvSpPr txBox="1"/>
          <p:nvPr/>
        </p:nvSpPr>
        <p:spPr>
          <a:xfrm>
            <a:off x="960120" y="5440680"/>
            <a:ext cx="4907128"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Use sample player profiles and court availability only. No real player data. Bookings and payments are simulated and must be labelled as such.</a:t>
            </a:r>
            <a:endParaRPr b="0" i="0" sz="1200" u="none" cap="none" strike="noStrike">
              <a:solidFill>
                <a:schemeClr val="dk1"/>
              </a:solidFill>
              <a:latin typeface="Arial"/>
              <a:ea typeface="Arial"/>
              <a:cs typeface="Arial"/>
              <a:sym typeface="Arial"/>
            </a:endParaRPr>
          </a:p>
        </p:txBody>
      </p:sp>
      <p:sp>
        <p:nvSpPr>
          <p:cNvPr id="620" name="Google Shape;620;p22"/>
          <p:cNvSpPr txBox="1"/>
          <p:nvPr/>
        </p:nvSpPr>
        <p:spPr>
          <a:xfrm>
            <a:off x="6324448" y="5166360"/>
            <a:ext cx="490712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STRETCH IDEAS</a:t>
            </a:r>
            <a:endParaRPr b="0" i="0" sz="950" u="none" cap="none" strike="noStrike">
              <a:solidFill>
                <a:schemeClr val="dk1"/>
              </a:solidFill>
              <a:latin typeface="Arial"/>
              <a:ea typeface="Arial"/>
              <a:cs typeface="Arial"/>
              <a:sym typeface="Arial"/>
            </a:endParaRPr>
          </a:p>
        </p:txBody>
      </p:sp>
      <p:sp>
        <p:nvSpPr>
          <p:cNvPr id="621" name="Google Shape;621;p22"/>
          <p:cNvSpPr txBox="1"/>
          <p:nvPr/>
        </p:nvSpPr>
        <p:spPr>
          <a:xfrm>
            <a:off x="6324448" y="5440680"/>
            <a:ext cx="4907128"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B4B4B4"/>
              </a:buClr>
              <a:buSzPts val="1200"/>
              <a:buFont typeface="Arial"/>
              <a:buNone/>
            </a:pPr>
            <a:r>
              <a:rPr b="0" i="0" lang="en-US" sz="1200" u="none" cap="none" strike="noStrike">
                <a:solidFill>
                  <a:srgbClr val="B4B4B4"/>
                </a:solidFill>
                <a:latin typeface="Arial"/>
                <a:ea typeface="Arial"/>
                <a:cs typeface="Arial"/>
                <a:sym typeface="Arial"/>
              </a:rPr>
              <a:t>Doubles matching for four players; translating between rating systems; filling a club's empty court hours.</a:t>
            </a:r>
            <a:endParaRPr b="0" i="0" sz="1200" u="none" cap="none" strike="noStrike">
              <a:solidFill>
                <a:schemeClr val="dk1"/>
              </a:solidFill>
              <a:latin typeface="Arial"/>
              <a:ea typeface="Arial"/>
              <a:cs typeface="Arial"/>
              <a:sym typeface="Arial"/>
            </a:endParaRPr>
          </a:p>
        </p:txBody>
      </p:sp>
      <p:sp>
        <p:nvSpPr>
          <p:cNvPr id="622" name="Google Shape;622;p22"/>
          <p:cNvSpPr txBox="1"/>
          <p:nvPr>
            <p:ph idx="4294967295" type="sldNum"/>
          </p:nvPr>
        </p:nvSpPr>
        <p:spPr>
          <a:xfrm>
            <a:off x="11002975" y="6400800"/>
            <a:ext cx="54864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A7A7A"/>
                </a:solidFill>
                <a:latin typeface="Arial"/>
                <a:ea typeface="Arial"/>
                <a:cs typeface="Arial"/>
                <a:sym typeface="Arial"/>
              </a:rPr>
              <a:t>‹#›</a:t>
            </a:fld>
            <a:endParaRPr b="0" i="0" sz="900" u="none" cap="none" strike="noStrike">
              <a:solidFill>
                <a:srgbClr val="7A7A7A"/>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pic>
        <p:nvPicPr>
          <p:cNvPr descr="Glass cube with a key" id="628" name="Google Shape;628;p23"/>
          <p:cNvPicPr preferRelativeResize="0"/>
          <p:nvPr/>
        </p:nvPicPr>
        <p:blipFill rotWithShape="1">
          <a:blip r:embed="rId3">
            <a:alphaModFix/>
          </a:blip>
          <a:srcRect b="0" l="0" r="0" t="0"/>
          <a:stretch/>
        </p:blipFill>
        <p:spPr>
          <a:xfrm>
            <a:off x="7223750" y="93475"/>
            <a:ext cx="4967949" cy="6764526"/>
          </a:xfrm>
          <a:prstGeom prst="rect">
            <a:avLst/>
          </a:prstGeom>
          <a:noFill/>
          <a:ln>
            <a:noFill/>
          </a:ln>
        </p:spPr>
      </p:pic>
      <p:sp>
        <p:nvSpPr>
          <p:cNvPr id="629" name="Google Shape;629;p23"/>
          <p:cNvSpPr txBox="1"/>
          <p:nvPr/>
        </p:nvSpPr>
        <p:spPr>
          <a:xfrm>
            <a:off x="3017520" y="329184"/>
            <a:ext cx="36576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PICK ONE TRACK · 23–24 OCT</a:t>
            </a:r>
            <a:endParaRPr b="0" i="0" sz="950" u="none" cap="none" strike="noStrike">
              <a:solidFill>
                <a:schemeClr val="dk1"/>
              </a:solidFill>
              <a:latin typeface="Arial"/>
              <a:ea typeface="Arial"/>
              <a:cs typeface="Arial"/>
              <a:sym typeface="Arial"/>
            </a:endParaRPr>
          </a:p>
        </p:txBody>
      </p:sp>
      <p:sp>
        <p:nvSpPr>
          <p:cNvPr id="630" name="Google Shape;630;p23"/>
          <p:cNvSpPr txBox="1"/>
          <p:nvPr/>
        </p:nvSpPr>
        <p:spPr>
          <a:xfrm>
            <a:off x="640080" y="914400"/>
            <a:ext cx="6309360" cy="7315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Pick one track. </a:t>
            </a:r>
            <a:r>
              <a:rPr b="1" i="0" lang="en-US" sz="3400" u="none" cap="none" strike="noStrike">
                <a:solidFill>
                  <a:srgbClr val="F2596B"/>
                </a:solidFill>
                <a:latin typeface="Arial"/>
                <a:ea typeface="Arial"/>
                <a:cs typeface="Arial"/>
                <a:sym typeface="Arial"/>
              </a:rPr>
              <a:t>B</a:t>
            </a:r>
            <a:r>
              <a:rPr b="1" i="0" lang="en-US" sz="3400" u="none" cap="none" strike="noStrike">
                <a:solidFill>
                  <a:srgbClr val="F58F62"/>
                </a:solidFill>
                <a:latin typeface="Arial"/>
                <a:ea typeface="Arial"/>
                <a:cs typeface="Arial"/>
                <a:sym typeface="Arial"/>
              </a:rPr>
              <a:t>u</a:t>
            </a:r>
            <a:r>
              <a:rPr b="1" i="0" lang="en-US" sz="3400" u="none" cap="none" strike="noStrike">
                <a:solidFill>
                  <a:srgbClr val="DDBC65"/>
                </a:solidFill>
                <a:latin typeface="Arial"/>
                <a:ea typeface="Arial"/>
                <a:cs typeface="Arial"/>
                <a:sym typeface="Arial"/>
              </a:rPr>
              <a:t>i</a:t>
            </a:r>
            <a:r>
              <a:rPr b="1" i="0" lang="en-US" sz="3400" u="none" cap="none" strike="noStrike">
                <a:solidFill>
                  <a:srgbClr val="73CD87"/>
                </a:solidFill>
                <a:latin typeface="Arial"/>
                <a:ea typeface="Arial"/>
                <a:cs typeface="Arial"/>
                <a:sym typeface="Arial"/>
              </a:rPr>
              <a:t>l</a:t>
            </a:r>
            <a:r>
              <a:rPr b="1" i="0" lang="en-US" sz="3400" u="none" cap="none" strike="noStrike">
                <a:solidFill>
                  <a:srgbClr val="43C0B1"/>
                </a:solidFill>
                <a:latin typeface="Arial"/>
                <a:ea typeface="Arial"/>
                <a:cs typeface="Arial"/>
                <a:sym typeface="Arial"/>
              </a:rPr>
              <a:t>d</a:t>
            </a:r>
            <a:r>
              <a:rPr b="1" i="0" lang="en-US" sz="3400" u="none" cap="none" strike="noStrike">
                <a:solidFill>
                  <a:srgbClr val="FFFFFF"/>
                </a:solidFill>
                <a:latin typeface="Arial"/>
                <a:ea typeface="Arial"/>
                <a:cs typeface="Arial"/>
                <a:sym typeface="Arial"/>
              </a:rPr>
              <a:t> </a:t>
            </a:r>
            <a:r>
              <a:rPr b="1" i="0" lang="en-US" sz="3400" u="none" cap="none" strike="noStrike">
                <a:solidFill>
                  <a:srgbClr val="4D97E3"/>
                </a:solidFill>
                <a:latin typeface="Arial"/>
                <a:ea typeface="Arial"/>
                <a:cs typeface="Arial"/>
                <a:sym typeface="Arial"/>
              </a:rPr>
              <a:t>i</a:t>
            </a:r>
            <a:r>
              <a:rPr b="1" i="0" lang="en-US" sz="3400" u="none" cap="none" strike="noStrike">
                <a:solidFill>
                  <a:srgbClr val="747FF0"/>
                </a:solidFill>
                <a:latin typeface="Arial"/>
                <a:ea typeface="Arial"/>
                <a:cs typeface="Arial"/>
                <a:sym typeface="Arial"/>
              </a:rPr>
              <a:t>t</a:t>
            </a:r>
            <a:r>
              <a:rPr b="1" i="0" lang="en-US" sz="3400" u="none" cap="none" strike="noStrike">
                <a:solidFill>
                  <a:srgbClr val="A56CF0"/>
                </a:solidFill>
                <a:latin typeface="Arial"/>
                <a:ea typeface="Arial"/>
                <a:cs typeface="Arial"/>
                <a:sym typeface="Arial"/>
              </a:rPr>
              <a:t>.</a:t>
            </a:r>
            <a:endParaRPr b="0" i="0" sz="3400" u="none" cap="none" strike="noStrike">
              <a:solidFill>
                <a:schemeClr val="dk1"/>
              </a:solidFill>
              <a:latin typeface="Arial"/>
              <a:ea typeface="Arial"/>
              <a:cs typeface="Arial"/>
              <a:sym typeface="Arial"/>
            </a:endParaRPr>
          </a:p>
        </p:txBody>
      </p:sp>
      <p:cxnSp>
        <p:nvCxnSpPr>
          <p:cNvPr id="631" name="Google Shape;631;p23"/>
          <p:cNvCxnSpPr/>
          <p:nvPr/>
        </p:nvCxnSpPr>
        <p:spPr>
          <a:xfrm>
            <a:off x="640080" y="1783080"/>
            <a:ext cx="3931920" cy="0"/>
          </a:xfrm>
          <a:prstGeom prst="straightConnector1">
            <a:avLst/>
          </a:prstGeom>
          <a:noFill/>
          <a:ln cap="flat" cmpd="sng" w="9525">
            <a:solidFill>
              <a:srgbClr val="5A5A5A"/>
            </a:solidFill>
            <a:prstDash val="solid"/>
            <a:round/>
            <a:headEnd len="sm" w="sm" type="none"/>
            <a:tailEnd len="sm" w="sm" type="none"/>
          </a:ln>
        </p:spPr>
      </p:cxnSp>
      <p:sp>
        <p:nvSpPr>
          <p:cNvPr id="632" name="Google Shape;632;p23"/>
          <p:cNvSpPr/>
          <p:nvPr/>
        </p:nvSpPr>
        <p:spPr>
          <a:xfrm>
            <a:off x="640080" y="1956816"/>
            <a:ext cx="109728" cy="109728"/>
          </a:xfrm>
          <a:prstGeom prst="ellipse">
            <a:avLst/>
          </a:prstGeom>
          <a:solidFill>
            <a:srgbClr val="3ED5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3"/>
          <p:cNvSpPr txBox="1"/>
          <p:nvPr/>
        </p:nvSpPr>
        <p:spPr>
          <a:xfrm>
            <a:off x="868680" y="1828800"/>
            <a:ext cx="1737360"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01  Rejuve.bio</a:t>
            </a:r>
            <a:endParaRPr b="0" i="0" sz="1100" u="none" cap="none" strike="noStrike">
              <a:solidFill>
                <a:schemeClr val="dk1"/>
              </a:solidFill>
              <a:latin typeface="Arial"/>
              <a:ea typeface="Arial"/>
              <a:cs typeface="Arial"/>
              <a:sym typeface="Arial"/>
            </a:endParaRPr>
          </a:p>
        </p:txBody>
      </p:sp>
      <p:sp>
        <p:nvSpPr>
          <p:cNvPr id="634" name="Google Shape;634;p23"/>
          <p:cNvSpPr txBox="1"/>
          <p:nvPr/>
        </p:nvSpPr>
        <p:spPr>
          <a:xfrm>
            <a:off x="2651760" y="182880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B4B4B4"/>
              </a:buClr>
              <a:buSzPts val="1050"/>
              <a:buFont typeface="Arial"/>
              <a:buNone/>
            </a:pPr>
            <a:r>
              <a:rPr b="0" i="0" lang="en-US" sz="1050" u="sng" cap="none" strike="noStrike">
                <a:solidFill>
                  <a:schemeClr val="hlink"/>
                </a:solidFill>
                <a:latin typeface="Arial"/>
                <a:ea typeface="Arial"/>
                <a:cs typeface="Arial"/>
                <a:sym typeface="Arial"/>
                <a:hlinkClick r:id="rId4"/>
              </a:rPr>
              <a:t>rejuve.bio</a:t>
            </a:r>
            <a:endParaRPr b="0" i="0" sz="1050" u="none" cap="none" strike="noStrike">
              <a:solidFill>
                <a:schemeClr val="dk1"/>
              </a:solidFill>
              <a:latin typeface="Arial"/>
              <a:ea typeface="Arial"/>
              <a:cs typeface="Arial"/>
              <a:sym typeface="Arial"/>
            </a:endParaRPr>
          </a:p>
        </p:txBody>
      </p:sp>
      <p:cxnSp>
        <p:nvCxnSpPr>
          <p:cNvPr id="635" name="Google Shape;635;p23"/>
          <p:cNvCxnSpPr/>
          <p:nvPr/>
        </p:nvCxnSpPr>
        <p:spPr>
          <a:xfrm>
            <a:off x="640080" y="2240280"/>
            <a:ext cx="3931920" cy="0"/>
          </a:xfrm>
          <a:prstGeom prst="straightConnector1">
            <a:avLst/>
          </a:prstGeom>
          <a:noFill/>
          <a:ln cap="flat" cmpd="sng" w="9525">
            <a:solidFill>
              <a:srgbClr val="262626"/>
            </a:solidFill>
            <a:prstDash val="solid"/>
            <a:round/>
            <a:headEnd len="sm" w="sm" type="none"/>
            <a:tailEnd len="sm" w="sm" type="none"/>
          </a:ln>
        </p:spPr>
      </p:cxnSp>
      <p:sp>
        <p:nvSpPr>
          <p:cNvPr id="636" name="Google Shape;636;p23"/>
          <p:cNvSpPr/>
          <p:nvPr/>
        </p:nvSpPr>
        <p:spPr>
          <a:xfrm>
            <a:off x="640080" y="2414016"/>
            <a:ext cx="109728" cy="109728"/>
          </a:xfrm>
          <a:prstGeom prst="ellipse">
            <a:avLst/>
          </a:prstGeom>
          <a:solidFill>
            <a:srgbClr val="4F8D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3"/>
          <p:cNvSpPr txBox="1"/>
          <p:nvPr/>
        </p:nvSpPr>
        <p:spPr>
          <a:xfrm>
            <a:off x="868680" y="2286000"/>
            <a:ext cx="1737360"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02  Omega payouts</a:t>
            </a:r>
            <a:endParaRPr b="0" i="0" sz="1100" u="none" cap="none" strike="noStrike">
              <a:solidFill>
                <a:schemeClr val="dk1"/>
              </a:solidFill>
              <a:latin typeface="Arial"/>
              <a:ea typeface="Arial"/>
              <a:cs typeface="Arial"/>
              <a:sym typeface="Arial"/>
            </a:endParaRPr>
          </a:p>
        </p:txBody>
      </p:sp>
      <p:sp>
        <p:nvSpPr>
          <p:cNvPr id="638" name="Google Shape;638;p23"/>
          <p:cNvSpPr txBox="1"/>
          <p:nvPr/>
        </p:nvSpPr>
        <p:spPr>
          <a:xfrm>
            <a:off x="2651760" y="228600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B4B4B4"/>
              </a:buClr>
              <a:buSzPts val="1050"/>
              <a:buFont typeface="Arial"/>
              <a:buNone/>
            </a:pPr>
            <a:r>
              <a:rPr b="0" i="0" lang="en-US" sz="1050" u="sng" cap="none" strike="noStrike">
                <a:solidFill>
                  <a:schemeClr val="hlink"/>
                </a:solidFill>
                <a:latin typeface="Arial"/>
                <a:ea typeface="Arial"/>
                <a:cs typeface="Arial"/>
                <a:sym typeface="Arial"/>
                <a:hlinkClick r:id="rId5"/>
              </a:rPr>
              <a:t>developers.stellar.org</a:t>
            </a:r>
            <a:endParaRPr b="0" i="0" sz="1050" u="none" cap="none" strike="noStrike">
              <a:solidFill>
                <a:schemeClr val="dk1"/>
              </a:solidFill>
              <a:latin typeface="Arial"/>
              <a:ea typeface="Arial"/>
              <a:cs typeface="Arial"/>
              <a:sym typeface="Arial"/>
            </a:endParaRPr>
          </a:p>
        </p:txBody>
      </p:sp>
      <p:cxnSp>
        <p:nvCxnSpPr>
          <p:cNvPr id="639" name="Google Shape;639;p23"/>
          <p:cNvCxnSpPr/>
          <p:nvPr/>
        </p:nvCxnSpPr>
        <p:spPr>
          <a:xfrm>
            <a:off x="640080" y="2697480"/>
            <a:ext cx="3931920" cy="0"/>
          </a:xfrm>
          <a:prstGeom prst="straightConnector1">
            <a:avLst/>
          </a:prstGeom>
          <a:noFill/>
          <a:ln cap="flat" cmpd="sng" w="9525">
            <a:solidFill>
              <a:srgbClr val="262626"/>
            </a:solidFill>
            <a:prstDash val="solid"/>
            <a:round/>
            <a:headEnd len="sm" w="sm" type="none"/>
            <a:tailEnd len="sm" w="sm" type="none"/>
          </a:ln>
        </p:spPr>
      </p:cxnSp>
      <p:sp>
        <p:nvSpPr>
          <p:cNvPr id="640" name="Google Shape;640;p23"/>
          <p:cNvSpPr/>
          <p:nvPr/>
        </p:nvSpPr>
        <p:spPr>
          <a:xfrm>
            <a:off x="640080" y="2871216"/>
            <a:ext cx="109728" cy="109728"/>
          </a:xfrm>
          <a:prstGeom prst="ellipse">
            <a:avLst/>
          </a:prstGeom>
          <a:solidFill>
            <a:srgbClr val="A56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3"/>
          <p:cNvSpPr txBox="1"/>
          <p:nvPr/>
        </p:nvSpPr>
        <p:spPr>
          <a:xfrm>
            <a:off x="868680" y="2743200"/>
            <a:ext cx="1737360"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03  BASIX.MARKET</a:t>
            </a:r>
            <a:endParaRPr b="0" i="0" sz="1100" u="none" cap="none" strike="noStrike">
              <a:solidFill>
                <a:schemeClr val="dk1"/>
              </a:solidFill>
              <a:latin typeface="Arial"/>
              <a:ea typeface="Arial"/>
              <a:cs typeface="Arial"/>
              <a:sym typeface="Arial"/>
            </a:endParaRPr>
          </a:p>
        </p:txBody>
      </p:sp>
      <p:sp>
        <p:nvSpPr>
          <p:cNvPr id="642" name="Google Shape;642;p23"/>
          <p:cNvSpPr txBox="1"/>
          <p:nvPr/>
        </p:nvSpPr>
        <p:spPr>
          <a:xfrm>
            <a:off x="2651760" y="274320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B4B4B4"/>
              </a:buClr>
              <a:buSzPts val="1050"/>
              <a:buFont typeface="Arial"/>
              <a:buNone/>
            </a:pPr>
            <a:r>
              <a:rPr b="0" i="0" lang="en-US" sz="1050" u="sng" cap="none" strike="noStrike">
                <a:solidFill>
                  <a:schemeClr val="hlink"/>
                </a:solidFill>
                <a:latin typeface="Arial"/>
                <a:ea typeface="Arial"/>
                <a:cs typeface="Arial"/>
                <a:sym typeface="Arial"/>
                <a:hlinkClick r:id="rId6"/>
              </a:rPr>
              <a:t>basix.market</a:t>
            </a:r>
            <a:endParaRPr b="0" i="0" sz="1050" u="none" cap="none" strike="noStrike">
              <a:solidFill>
                <a:schemeClr val="dk1"/>
              </a:solidFill>
              <a:latin typeface="Arial"/>
              <a:ea typeface="Arial"/>
              <a:cs typeface="Arial"/>
              <a:sym typeface="Arial"/>
            </a:endParaRPr>
          </a:p>
        </p:txBody>
      </p:sp>
      <p:cxnSp>
        <p:nvCxnSpPr>
          <p:cNvPr id="643" name="Google Shape;643;p23"/>
          <p:cNvCxnSpPr/>
          <p:nvPr/>
        </p:nvCxnSpPr>
        <p:spPr>
          <a:xfrm>
            <a:off x="640080" y="3154680"/>
            <a:ext cx="3931920" cy="0"/>
          </a:xfrm>
          <a:prstGeom prst="straightConnector1">
            <a:avLst/>
          </a:prstGeom>
          <a:noFill/>
          <a:ln cap="flat" cmpd="sng" w="9525">
            <a:solidFill>
              <a:srgbClr val="262626"/>
            </a:solidFill>
            <a:prstDash val="solid"/>
            <a:round/>
            <a:headEnd len="sm" w="sm" type="none"/>
            <a:tailEnd len="sm" w="sm" type="none"/>
          </a:ln>
        </p:spPr>
      </p:cxnSp>
      <p:sp>
        <p:nvSpPr>
          <p:cNvPr id="644" name="Google Shape;644;p23"/>
          <p:cNvSpPr/>
          <p:nvPr/>
        </p:nvSpPr>
        <p:spPr>
          <a:xfrm>
            <a:off x="640080" y="3328416"/>
            <a:ext cx="109728" cy="109728"/>
          </a:xfrm>
          <a:prstGeom prst="ellipse">
            <a:avLst/>
          </a:prstGeom>
          <a:solidFill>
            <a:srgbClr val="F7B8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3"/>
          <p:cNvSpPr txBox="1"/>
          <p:nvPr/>
        </p:nvSpPr>
        <p:spPr>
          <a:xfrm>
            <a:off x="868680" y="3200400"/>
            <a:ext cx="1737360"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04  World Tennis</a:t>
            </a:r>
            <a:endParaRPr b="0" i="0" sz="1100" u="none" cap="none" strike="noStrike">
              <a:solidFill>
                <a:schemeClr val="dk1"/>
              </a:solidFill>
              <a:latin typeface="Arial"/>
              <a:ea typeface="Arial"/>
              <a:cs typeface="Arial"/>
              <a:sym typeface="Arial"/>
            </a:endParaRPr>
          </a:p>
        </p:txBody>
      </p:sp>
      <p:sp>
        <p:nvSpPr>
          <p:cNvPr id="646" name="Google Shape;646;p23"/>
          <p:cNvSpPr txBox="1"/>
          <p:nvPr/>
        </p:nvSpPr>
        <p:spPr>
          <a:xfrm>
            <a:off x="2651760" y="320040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B4B4B4"/>
              </a:buClr>
              <a:buSzPts val="1050"/>
              <a:buFont typeface="Arial"/>
              <a:buNone/>
            </a:pPr>
            <a:r>
              <a:rPr b="0" i="0" lang="en-US" sz="1050" u="sng" cap="none" strike="noStrike">
                <a:solidFill>
                  <a:schemeClr val="hlink"/>
                </a:solidFill>
                <a:latin typeface="Arial"/>
                <a:ea typeface="Arial"/>
                <a:cs typeface="Arial"/>
                <a:sym typeface="Arial"/>
                <a:hlinkClick r:id="rId7"/>
              </a:rPr>
              <a:t>worldtennis.app</a:t>
            </a:r>
            <a:endParaRPr b="0" i="0" sz="1050" u="none" cap="none" strike="noStrike">
              <a:solidFill>
                <a:schemeClr val="dk1"/>
              </a:solidFill>
              <a:latin typeface="Arial"/>
              <a:ea typeface="Arial"/>
              <a:cs typeface="Arial"/>
              <a:sym typeface="Arial"/>
            </a:endParaRPr>
          </a:p>
        </p:txBody>
      </p:sp>
      <p:cxnSp>
        <p:nvCxnSpPr>
          <p:cNvPr id="647" name="Google Shape;647;p23"/>
          <p:cNvCxnSpPr/>
          <p:nvPr/>
        </p:nvCxnSpPr>
        <p:spPr>
          <a:xfrm>
            <a:off x="640080" y="3611880"/>
            <a:ext cx="3931920" cy="0"/>
          </a:xfrm>
          <a:prstGeom prst="straightConnector1">
            <a:avLst/>
          </a:prstGeom>
          <a:noFill/>
          <a:ln cap="flat" cmpd="sng" w="9525">
            <a:solidFill>
              <a:srgbClr val="262626"/>
            </a:solidFill>
            <a:prstDash val="solid"/>
            <a:round/>
            <a:headEnd len="sm" w="sm" type="none"/>
            <a:tailEnd len="sm" w="sm" type="none"/>
          </a:ln>
        </p:spPr>
      </p:cxnSp>
      <p:pic>
        <p:nvPicPr>
          <p:cNvPr descr="QR code: https://luma.com/1s715pz4" id="648" name="Google Shape;648;p23">
            <a:hlinkClick r:id="rId8"/>
          </p:cNvPr>
          <p:cNvPicPr preferRelativeResize="0"/>
          <p:nvPr/>
        </p:nvPicPr>
        <p:blipFill rotWithShape="1">
          <a:blip r:embed="rId9">
            <a:alphaModFix/>
          </a:blip>
          <a:srcRect b="0" l="0" r="0" t="0"/>
          <a:stretch/>
        </p:blipFill>
        <p:spPr>
          <a:xfrm>
            <a:off x="8840240" y="5322055"/>
            <a:ext cx="868680" cy="868680"/>
          </a:xfrm>
          <a:prstGeom prst="rect">
            <a:avLst/>
          </a:prstGeom>
          <a:noFill/>
          <a:ln>
            <a:noFill/>
          </a:ln>
        </p:spPr>
      </p:pic>
      <p:sp>
        <p:nvSpPr>
          <p:cNvPr id="649" name="Google Shape;649;p23"/>
          <p:cNvSpPr txBox="1"/>
          <p:nvPr/>
        </p:nvSpPr>
        <p:spPr>
          <a:xfrm>
            <a:off x="8748800" y="6254743"/>
            <a:ext cx="1051500" cy="274200"/>
          </a:xfrm>
          <a:prstGeom prst="rect">
            <a:avLst/>
          </a:prstGeom>
          <a:noFill/>
          <a:ln>
            <a:noFill/>
          </a:ln>
        </p:spPr>
        <p:txBody>
          <a:bodyPr anchorCtr="0" anchor="ctr" bIns="0" lIns="0" spcFirstLastPara="1" rIns="0" wrap="square" tIns="0">
            <a:noAutofit/>
          </a:bodyPr>
          <a:lstStyle/>
          <a:p>
            <a:pPr indent="0" lvl="0" marL="0" marR="0" rtl="0" algn="ctr">
              <a:lnSpc>
                <a:spcPct val="112000"/>
              </a:lnSpc>
              <a:spcBef>
                <a:spcPts val="0"/>
              </a:spcBef>
              <a:spcAft>
                <a:spcPts val="0"/>
              </a:spcAft>
              <a:buClr>
                <a:srgbClr val="F2596B"/>
              </a:buClr>
              <a:buSzPts val="1100"/>
              <a:buFont typeface="Arial"/>
              <a:buNone/>
            </a:pPr>
            <a:r>
              <a:rPr b="0" i="0" lang="en-US" sz="1100" u="sng" cap="none" strike="noStrike">
                <a:solidFill>
                  <a:schemeClr val="hlink"/>
                </a:solidFill>
                <a:latin typeface="Arial"/>
                <a:ea typeface="Arial"/>
                <a:cs typeface="Arial"/>
                <a:sym typeface="Arial"/>
                <a:hlinkClick r:id="rId10"/>
              </a:rPr>
              <a:t>Register</a:t>
            </a:r>
            <a:endParaRPr b="0" i="0" sz="1100" u="none" cap="none" strike="noStrike">
              <a:solidFill>
                <a:schemeClr val="dk1"/>
              </a:solidFill>
              <a:latin typeface="Arial"/>
              <a:ea typeface="Arial"/>
              <a:cs typeface="Arial"/>
              <a:sym typeface="Arial"/>
            </a:endParaRPr>
          </a:p>
        </p:txBody>
      </p:sp>
      <p:pic>
        <p:nvPicPr>
          <p:cNvPr descr="QR code: https://basix.market" id="650" name="Google Shape;650;p23">
            <a:hlinkClick r:id="rId11"/>
          </p:cNvPr>
          <p:cNvPicPr preferRelativeResize="0"/>
          <p:nvPr/>
        </p:nvPicPr>
        <p:blipFill rotWithShape="1">
          <a:blip r:embed="rId12">
            <a:alphaModFix/>
          </a:blip>
          <a:srcRect b="0" l="0" r="0" t="0"/>
          <a:stretch/>
        </p:blipFill>
        <p:spPr>
          <a:xfrm>
            <a:off x="9800360" y="5322055"/>
            <a:ext cx="868680" cy="868680"/>
          </a:xfrm>
          <a:prstGeom prst="rect">
            <a:avLst/>
          </a:prstGeom>
          <a:noFill/>
          <a:ln>
            <a:noFill/>
          </a:ln>
        </p:spPr>
      </p:pic>
      <p:sp>
        <p:nvSpPr>
          <p:cNvPr id="651" name="Google Shape;651;p23"/>
          <p:cNvSpPr txBox="1"/>
          <p:nvPr/>
        </p:nvSpPr>
        <p:spPr>
          <a:xfrm>
            <a:off x="9708920" y="6254743"/>
            <a:ext cx="1051500" cy="274200"/>
          </a:xfrm>
          <a:prstGeom prst="rect">
            <a:avLst/>
          </a:prstGeom>
          <a:noFill/>
          <a:ln>
            <a:noFill/>
          </a:ln>
        </p:spPr>
        <p:txBody>
          <a:bodyPr anchorCtr="0" anchor="ctr" bIns="0" lIns="0" spcFirstLastPara="1" rIns="0" wrap="square" tIns="0">
            <a:noAutofit/>
          </a:bodyPr>
          <a:lstStyle/>
          <a:p>
            <a:pPr indent="0" lvl="0" marL="0" marR="0" rtl="0" algn="ctr">
              <a:lnSpc>
                <a:spcPct val="112000"/>
              </a:lnSpc>
              <a:spcBef>
                <a:spcPts val="0"/>
              </a:spcBef>
              <a:spcAft>
                <a:spcPts val="0"/>
              </a:spcAft>
              <a:buClr>
                <a:srgbClr val="FFFFFF"/>
              </a:buClr>
              <a:buSzPts val="1100"/>
              <a:buFont typeface="Arial"/>
              <a:buNone/>
            </a:pPr>
            <a:r>
              <a:rPr b="0" i="0" lang="en-US" sz="1100" u="sng" cap="none" strike="noStrike">
                <a:solidFill>
                  <a:schemeClr val="hlink"/>
                </a:solidFill>
                <a:latin typeface="Arial"/>
                <a:ea typeface="Arial"/>
                <a:cs typeface="Arial"/>
                <a:sym typeface="Arial"/>
                <a:hlinkClick r:id="rId13"/>
              </a:rPr>
              <a:t>basix.market</a:t>
            </a:r>
            <a:endParaRPr b="0" i="0" sz="1100" u="none" cap="none" strike="noStrike">
              <a:solidFill>
                <a:schemeClr val="dk1"/>
              </a:solidFill>
              <a:latin typeface="Arial"/>
              <a:ea typeface="Arial"/>
              <a:cs typeface="Arial"/>
              <a:sym typeface="Arial"/>
            </a:endParaRPr>
          </a:p>
        </p:txBody>
      </p:sp>
      <p:sp>
        <p:nvSpPr>
          <p:cNvPr id="652" name="Google Shape;652;p23"/>
          <p:cNvSpPr txBox="1"/>
          <p:nvPr/>
        </p:nvSpPr>
        <p:spPr>
          <a:xfrm>
            <a:off x="640080" y="3886200"/>
            <a:ext cx="6035040" cy="3200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250"/>
              <a:buFont typeface="Arial"/>
              <a:buNone/>
            </a:pPr>
            <a:r>
              <a:rPr b="0" i="0" lang="en-US" sz="1250" u="none" cap="none" strike="noStrike">
                <a:solidFill>
                  <a:srgbClr val="FFFFFF"/>
                </a:solidFill>
                <a:latin typeface="Arial"/>
                <a:ea typeface="Arial"/>
                <a:cs typeface="Arial"/>
                <a:sym typeface="Arial"/>
              </a:rPr>
              <a:t>The Rules Brief applies to every track.</a:t>
            </a:r>
            <a:endParaRPr b="0" i="0" sz="1250" u="none" cap="none" strike="noStrike">
              <a:solidFill>
                <a:schemeClr val="dk1"/>
              </a:solidFill>
              <a:latin typeface="Arial"/>
              <a:ea typeface="Arial"/>
              <a:cs typeface="Arial"/>
              <a:sym typeface="Arial"/>
            </a:endParaRPr>
          </a:p>
        </p:txBody>
      </p:sp>
      <p:cxnSp>
        <p:nvCxnSpPr>
          <p:cNvPr id="653" name="Google Shape;653;p23"/>
          <p:cNvCxnSpPr/>
          <p:nvPr/>
        </p:nvCxnSpPr>
        <p:spPr>
          <a:xfrm>
            <a:off x="640080" y="4572000"/>
            <a:ext cx="6035040" cy="0"/>
          </a:xfrm>
          <a:prstGeom prst="straightConnector1">
            <a:avLst/>
          </a:prstGeom>
          <a:noFill/>
          <a:ln cap="flat" cmpd="sng" w="9525">
            <a:solidFill>
              <a:srgbClr val="5A5A5A"/>
            </a:solidFill>
            <a:prstDash val="solid"/>
            <a:round/>
            <a:headEnd len="sm" w="sm" type="none"/>
            <a:tailEnd len="sm" w="sm" type="none"/>
          </a:ln>
        </p:spPr>
      </p:cxnSp>
      <p:sp>
        <p:nvSpPr>
          <p:cNvPr id="654" name="Google Shape;654;p23"/>
          <p:cNvSpPr txBox="1"/>
          <p:nvPr/>
        </p:nvSpPr>
        <p:spPr>
          <a:xfrm>
            <a:off x="640080" y="4709160"/>
            <a:ext cx="45720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Courier New"/>
              <a:buNone/>
            </a:pPr>
            <a:r>
              <a:rPr b="1" i="0" lang="en-US" sz="950" u="none" cap="none" strike="noStrike">
                <a:solidFill>
                  <a:srgbClr val="9A9A9A"/>
                </a:solidFill>
                <a:latin typeface="Courier New"/>
                <a:ea typeface="Courier New"/>
                <a:cs typeface="Courier New"/>
                <a:sym typeface="Courier New"/>
              </a:rPr>
              <a:t>PRESENTED BY · PARTNERS · VENUE</a:t>
            </a:r>
            <a:endParaRPr b="0" i="0" sz="950" u="none" cap="none" strike="noStrike">
              <a:solidFill>
                <a:schemeClr val="dk1"/>
              </a:solidFill>
              <a:latin typeface="Arial"/>
              <a:ea typeface="Arial"/>
              <a:cs typeface="Arial"/>
              <a:sym typeface="Arial"/>
            </a:endParaRPr>
          </a:p>
        </p:txBody>
      </p:sp>
      <p:pic>
        <p:nvPicPr>
          <p:cNvPr descr="snet" id="655" name="Google Shape;655;p23"/>
          <p:cNvPicPr preferRelativeResize="0"/>
          <p:nvPr/>
        </p:nvPicPr>
        <p:blipFill rotWithShape="1">
          <a:blip r:embed="rId14">
            <a:alphaModFix/>
          </a:blip>
          <a:srcRect b="0" l="0" r="0" t="0"/>
          <a:stretch/>
        </p:blipFill>
        <p:spPr>
          <a:xfrm>
            <a:off x="640080" y="5331097"/>
            <a:ext cx="872279" cy="219166"/>
          </a:xfrm>
          <a:prstGeom prst="rect">
            <a:avLst/>
          </a:prstGeom>
          <a:noFill/>
          <a:ln>
            <a:noFill/>
          </a:ln>
        </p:spPr>
      </p:pic>
      <p:pic>
        <p:nvPicPr>
          <p:cNvPr descr="asi" id="656" name="Google Shape;656;p23"/>
          <p:cNvPicPr preferRelativeResize="0"/>
          <p:nvPr/>
        </p:nvPicPr>
        <p:blipFill rotWithShape="1">
          <a:blip r:embed="rId15">
            <a:alphaModFix/>
          </a:blip>
          <a:srcRect b="0" l="0" r="0" t="0"/>
          <a:stretch/>
        </p:blipFill>
        <p:spPr>
          <a:xfrm>
            <a:off x="1628534" y="5337990"/>
            <a:ext cx="954158" cy="205379"/>
          </a:xfrm>
          <a:prstGeom prst="rect">
            <a:avLst/>
          </a:prstGeom>
          <a:noFill/>
          <a:ln>
            <a:noFill/>
          </a:ln>
        </p:spPr>
      </p:pic>
      <p:pic>
        <p:nvPicPr>
          <p:cNvPr descr="basix" id="657" name="Google Shape;657;p23"/>
          <p:cNvPicPr preferRelativeResize="0"/>
          <p:nvPr/>
        </p:nvPicPr>
        <p:blipFill rotWithShape="1">
          <a:blip r:embed="rId16">
            <a:alphaModFix/>
          </a:blip>
          <a:srcRect b="0" l="0" r="0" t="0"/>
          <a:stretch/>
        </p:blipFill>
        <p:spPr>
          <a:xfrm>
            <a:off x="2698866" y="5363772"/>
            <a:ext cx="1422358" cy="153815"/>
          </a:xfrm>
          <a:prstGeom prst="rect">
            <a:avLst/>
          </a:prstGeom>
          <a:noFill/>
          <a:ln>
            <a:noFill/>
          </a:ln>
        </p:spPr>
      </p:pic>
      <p:pic>
        <p:nvPicPr>
          <p:cNvPr descr="rejuve" id="658" name="Google Shape;658;p23"/>
          <p:cNvPicPr preferRelativeResize="0"/>
          <p:nvPr/>
        </p:nvPicPr>
        <p:blipFill rotWithShape="1">
          <a:blip r:embed="rId17">
            <a:alphaModFix/>
          </a:blip>
          <a:srcRect b="0" l="0" r="0" t="0"/>
          <a:stretch/>
        </p:blipFill>
        <p:spPr>
          <a:xfrm>
            <a:off x="4237399" y="5322057"/>
            <a:ext cx="781833" cy="237246"/>
          </a:xfrm>
          <a:prstGeom prst="rect">
            <a:avLst/>
          </a:prstGeom>
          <a:noFill/>
          <a:ln>
            <a:noFill/>
          </a:ln>
        </p:spPr>
      </p:pic>
      <p:pic>
        <p:nvPicPr>
          <p:cNvPr descr="bgi" id="659" name="Google Shape;659;p23"/>
          <p:cNvPicPr preferRelativeResize="0"/>
          <p:nvPr/>
        </p:nvPicPr>
        <p:blipFill rotWithShape="1">
          <a:blip r:embed="rId18">
            <a:alphaModFix/>
          </a:blip>
          <a:srcRect b="0" l="0" r="0" t="0"/>
          <a:stretch/>
        </p:blipFill>
        <p:spPr>
          <a:xfrm>
            <a:off x="5135407" y="5297805"/>
            <a:ext cx="492919" cy="285750"/>
          </a:xfrm>
          <a:prstGeom prst="rect">
            <a:avLst/>
          </a:prstGeom>
          <a:noFill/>
          <a:ln>
            <a:noFill/>
          </a:ln>
        </p:spPr>
      </p:pic>
      <p:pic>
        <p:nvPicPr>
          <p:cNvPr descr="xra" id="660" name="Google Shape;660;p23"/>
          <p:cNvPicPr preferRelativeResize="0"/>
          <p:nvPr/>
        </p:nvPicPr>
        <p:blipFill rotWithShape="1">
          <a:blip r:embed="rId19">
            <a:alphaModFix/>
          </a:blip>
          <a:srcRect b="0" l="0" r="0" t="0"/>
          <a:stretch/>
        </p:blipFill>
        <p:spPr>
          <a:xfrm>
            <a:off x="5744501" y="5336116"/>
            <a:ext cx="930619" cy="209128"/>
          </a:xfrm>
          <a:prstGeom prst="rect">
            <a:avLst/>
          </a:prstGeom>
          <a:noFill/>
          <a:ln>
            <a:noFill/>
          </a:ln>
        </p:spPr>
      </p:pic>
      <p:pic>
        <p:nvPicPr>
          <p:cNvPr descr="btc" id="661" name="Google Shape;661;p23"/>
          <p:cNvPicPr preferRelativeResize="0"/>
          <p:nvPr/>
        </p:nvPicPr>
        <p:blipFill rotWithShape="1">
          <a:blip r:embed="rId20">
            <a:alphaModFix/>
          </a:blip>
          <a:srcRect b="0" l="0" r="0" t="0"/>
          <a:stretch/>
        </p:blipFill>
        <p:spPr>
          <a:xfrm>
            <a:off x="640080" y="5934045"/>
            <a:ext cx="1289761" cy="110551"/>
          </a:xfrm>
          <a:prstGeom prst="rect">
            <a:avLst/>
          </a:prstGeom>
          <a:noFill/>
          <a:ln>
            <a:noFill/>
          </a:ln>
        </p:spPr>
      </p:pic>
      <p:pic>
        <p:nvPicPr>
          <p:cNvPr descr="wtapp" id="662" name="Google Shape;662;p23"/>
          <p:cNvPicPr preferRelativeResize="0"/>
          <p:nvPr/>
        </p:nvPicPr>
        <p:blipFill rotWithShape="1">
          <a:blip r:embed="rId21">
            <a:alphaModFix/>
          </a:blip>
          <a:srcRect b="0" l="0" r="0" t="0"/>
          <a:stretch/>
        </p:blipFill>
        <p:spPr>
          <a:xfrm>
            <a:off x="2088516" y="5900166"/>
            <a:ext cx="1220359" cy="178308"/>
          </a:xfrm>
          <a:prstGeom prst="rect">
            <a:avLst/>
          </a:prstGeom>
          <a:noFill/>
          <a:ln>
            <a:noFill/>
          </a:ln>
        </p:spPr>
      </p:pic>
      <p:pic>
        <p:nvPicPr>
          <p:cNvPr descr="unicorn" id="663" name="Google Shape;663;p23"/>
          <p:cNvPicPr preferRelativeResize="0"/>
          <p:nvPr/>
        </p:nvPicPr>
        <p:blipFill rotWithShape="1">
          <a:blip r:embed="rId22">
            <a:alphaModFix/>
          </a:blip>
          <a:srcRect b="0" l="0" r="0" t="0"/>
          <a:stretch/>
        </p:blipFill>
        <p:spPr>
          <a:xfrm>
            <a:off x="3467550" y="5918840"/>
            <a:ext cx="888046" cy="140960"/>
          </a:xfrm>
          <a:prstGeom prst="rect">
            <a:avLst/>
          </a:prstGeom>
          <a:noFill/>
          <a:ln>
            <a:noFill/>
          </a:ln>
        </p:spPr>
      </p:pic>
      <p:pic>
        <p:nvPicPr>
          <p:cNvPr descr="healthhub" id="664" name="Google Shape;664;p23"/>
          <p:cNvPicPr preferRelativeResize="0"/>
          <p:nvPr/>
        </p:nvPicPr>
        <p:blipFill rotWithShape="1">
          <a:blip r:embed="rId23">
            <a:alphaModFix/>
          </a:blip>
          <a:srcRect b="0" l="0" r="0" t="0"/>
          <a:stretch/>
        </p:blipFill>
        <p:spPr>
          <a:xfrm>
            <a:off x="4514270" y="5914320"/>
            <a:ext cx="814998" cy="150000"/>
          </a:xfrm>
          <a:prstGeom prst="rect">
            <a:avLst/>
          </a:prstGeom>
          <a:noFill/>
          <a:ln>
            <a:noFill/>
          </a:ln>
        </p:spPr>
      </p:pic>
      <p:pic>
        <p:nvPicPr>
          <p:cNvPr descr="fintech" id="665" name="Google Shape;665;p23"/>
          <p:cNvPicPr preferRelativeResize="0"/>
          <p:nvPr/>
        </p:nvPicPr>
        <p:blipFill rotWithShape="1">
          <a:blip r:embed="rId24">
            <a:alphaModFix/>
          </a:blip>
          <a:srcRect b="0" l="0" r="0" t="0"/>
          <a:stretch/>
        </p:blipFill>
        <p:spPr>
          <a:xfrm>
            <a:off x="5487943" y="5893071"/>
            <a:ext cx="577495" cy="192498"/>
          </a:xfrm>
          <a:prstGeom prst="rect">
            <a:avLst/>
          </a:prstGeom>
          <a:noFill/>
          <a:ln>
            <a:noFill/>
          </a:ln>
        </p:spPr>
      </p:pic>
      <p:pic>
        <p:nvPicPr>
          <p:cNvPr descr="sitio" id="666" name="Google Shape;666;p23"/>
          <p:cNvPicPr preferRelativeResize="0"/>
          <p:nvPr/>
        </p:nvPicPr>
        <p:blipFill rotWithShape="1">
          <a:blip r:embed="rId25">
            <a:alphaModFix/>
          </a:blip>
          <a:srcRect b="0" l="0" r="0" t="0"/>
          <a:stretch/>
        </p:blipFill>
        <p:spPr>
          <a:xfrm>
            <a:off x="6224112" y="5904624"/>
            <a:ext cx="451008" cy="16939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ASIX Track Explainers">
  <a:themeElements>
    <a:clrScheme name="BASIX Track Explainers">
      <a:dk1>
        <a:srgbClr val="0A0A0A"/>
      </a:dk1>
      <a:lt1>
        <a:srgbClr val="FFFFFF"/>
      </a:lt1>
      <a:dk2>
        <a:srgbClr val="141414"/>
      </a:dk2>
      <a:lt2>
        <a:srgbClr val="B4B4B4"/>
      </a:lt2>
      <a:accent1>
        <a:srgbClr val="F2596B"/>
      </a:accent1>
      <a:accent2>
        <a:srgbClr val="F7B85C"/>
      </a:accent2>
      <a:accent3>
        <a:srgbClr val="4F8DF0"/>
      </a:accent3>
      <a:accent4>
        <a:srgbClr val="3ED598"/>
      </a:accent4>
      <a:accent5>
        <a:srgbClr val="4F8DF0"/>
      </a:accent5>
      <a:accent6>
        <a:srgbClr val="A56CF0"/>
      </a:accent6>
      <a:hlink>
        <a:srgbClr val="F2596B"/>
      </a:hlink>
      <a:folHlink>
        <a:srgbClr val="A56C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ASIX Track Explainers">
  <a:themeElements>
    <a:clrScheme name="BASIX Track Explainers">
      <a:dk1>
        <a:srgbClr val="0A0A0A"/>
      </a:dk1>
      <a:lt1>
        <a:srgbClr val="FFFFFF"/>
      </a:lt1>
      <a:dk2>
        <a:srgbClr val="141414"/>
      </a:dk2>
      <a:lt2>
        <a:srgbClr val="B4B4B4"/>
      </a:lt2>
      <a:accent1>
        <a:srgbClr val="F2596B"/>
      </a:accent1>
      <a:accent2>
        <a:srgbClr val="F7B85C"/>
      </a:accent2>
      <a:accent3>
        <a:srgbClr val="4F8DF0"/>
      </a:accent3>
      <a:accent4>
        <a:srgbClr val="3ED598"/>
      </a:accent4>
      <a:accent5>
        <a:srgbClr val="4F8DF0"/>
      </a:accent5>
      <a:accent6>
        <a:srgbClr val="A56CF0"/>
      </a:accent6>
      <a:hlink>
        <a:srgbClr val="F2596B"/>
      </a:hlink>
      <a:folHlink>
        <a:srgbClr val="A56C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