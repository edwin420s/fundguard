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286000" cy="2286000"/>
          </a:xfrm>
          <a:prstGeom prst="ellipse">
            <a:avLst/>
          </a:prstGeom>
          <a:solidFill>
            <a:srgbClr val="1975EB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194560"/>
            <a:ext cx="1554480" cy="1554480"/>
          </a:xfrm>
          <a:prstGeom prst="ellipse">
            <a:avLst/>
          </a:prstGeom>
          <a:solidFill>
            <a:srgbClr val="39D0E8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3474720"/>
            <a:ext cx="822960" cy="822960"/>
          </a:xfrm>
          <a:prstGeom prst="ellipse">
            <a:avLst/>
          </a:prstGeom>
          <a:solidFill>
            <a:srgbClr val="1975EB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297680"/>
            <a:ext cx="457200" cy="457200"/>
          </a:xfrm>
          <a:prstGeom prst="ellipse">
            <a:avLst/>
          </a:prstGeom>
          <a:solidFill>
            <a:srgbClr val="39D0E8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 rot="10800000">
            <a:off x="731520" y="658368"/>
            <a:ext cx="713232" cy="804672"/>
          </a:xfrm>
          <a:prstGeom prst="homePlat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53035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F8FBFF"/>
                </a:solidFill>
                <a:latin typeface="Aptos"/>
              </a:rPr>
              <a:t>FG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685800"/>
            <a:ext cx="53035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8FBFF"/>
                </a:solidFill>
                <a:latin typeface="Aptos"/>
              </a:rPr>
              <a:t>FundGuard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124712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39D0E8"/>
                </a:solidFill>
                <a:latin typeface="Aptos"/>
              </a:rPr>
              <a:t>BY OMEGA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69494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F8FBFF"/>
                </a:solidFill>
                <a:latin typeface="Aptos"/>
              </a:rPr>
              <a:t>Prize payouts people can
verify—not just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57600"/>
            <a:ext cx="64922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C2D3E8"/>
                </a:solidFill>
                <a:latin typeface="Aptos"/>
              </a:rPr>
              <a:t>AI-assisted coordination. Deterministic financial rules.
Human-approved settlement. Verifiable payment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892040"/>
            <a:ext cx="1645920" cy="384048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992624"/>
            <a:ext cx="157276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39D0E8"/>
                </a:solidFill>
                <a:latin typeface="Aptos"/>
              </a:rPr>
              <a:t>FAIR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4892040"/>
            <a:ext cx="1645920" cy="384048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4992624"/>
            <a:ext cx="157276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39D0E8"/>
                </a:solidFill>
                <a:latin typeface="Aptos"/>
              </a:rPr>
              <a:t>HUMAN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4892040"/>
            <a:ext cx="2011680" cy="384048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992624"/>
            <a:ext cx="193852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39D0E8"/>
                </a:solidFill>
                <a:latin typeface="Aptos"/>
              </a:rPr>
              <a:t>AUDITABLE PAYOUTS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53328"/>
            <a:ext cx="80467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96B1D0"/>
                </a:solidFill>
                <a:latin typeface="Aptos"/>
              </a:rPr>
              <a:t>BASIX AI OMEGA AGENT DEV BUILDATHON  |  GLOBAL PAYOUTS &amp; PRIZE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760720"/>
            <a:ext cx="30175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1" i="0">
                <a:solidFill>
                  <a:srgbClr val="F8FBFF"/>
                </a:solidFill>
                <a:latin typeface="Aptos"/>
              </a:rPr>
              <a:t>TRANSPARENT FUNDING.
GREATER OPPORTUNITY.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975E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81428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5D708A"/>
                </a:solidFill>
                <a:latin typeface="Aptos"/>
              </a:rPr>
              <a:t>Prize distribution is a trust problem hiding inside an operations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19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30368" cy="157276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01368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975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783080"/>
            <a:ext cx="41605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081428"/>
                </a:solidFill>
                <a:latin typeface="Aptos"/>
              </a:rPr>
              <a:t>Opaque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85416"/>
            <a:ext cx="411480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D708A"/>
                </a:solidFill>
                <a:latin typeface="Aptos"/>
              </a:rPr>
              <a:t>Winners and sponsors may struggle to see how awards were calculated or why funds remain unpaid.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45920"/>
            <a:ext cx="5230368" cy="157276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1801368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0A53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1783080"/>
            <a:ext cx="41605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081428"/>
                </a:solidFill>
                <a:latin typeface="Aptos"/>
              </a:rPr>
              <a:t>Manual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2185416"/>
            <a:ext cx="411480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D708A"/>
                </a:solidFill>
                <a:latin typeface="Aptos"/>
              </a:rPr>
              <a:t>Spreadsheets, messages and separate payment tools create delays, reconciliation work and avoidable mistakes.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5230368" cy="157276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21608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DC565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03320"/>
            <a:ext cx="41605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081428"/>
                </a:solidFill>
                <a:latin typeface="Aptos"/>
              </a:rPr>
              <a:t>Weak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105656"/>
            <a:ext cx="411480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D708A"/>
                </a:solidFill>
                <a:latin typeface="Aptos"/>
              </a:rPr>
              <a:t>A screenshot or organizer statement is not the same as independently checkable payment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566160"/>
            <a:ext cx="5230368" cy="157276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3721608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26AF8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3703320"/>
            <a:ext cx="41605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081428"/>
                </a:solidFill>
                <a:latin typeface="Aptos"/>
              </a:rPr>
              <a:t>Rounding &amp; reserve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4105656"/>
            <a:ext cx="411480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0">
                <a:solidFill>
                  <a:srgbClr val="5D708A"/>
                </a:solidFill>
                <a:latin typeface="Aptos"/>
              </a:rPr>
              <a:t>Poorly specified allocation rules can create discrepancies, leftover balances and disputes.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69280"/>
            <a:ext cx="10835640" cy="502920"/>
          </a:xfrm>
          <a:prstGeom prst="roundRect">
            <a:avLst/>
          </a:prstGeom>
          <a:solidFill>
            <a:srgbClr val="081428"/>
          </a:solidFill>
          <a:ln>
            <a:solidFill>
              <a:srgbClr val="08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15584"/>
            <a:ext cx="103327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8FBFF"/>
                </a:solidFill>
                <a:latin typeface="Aptos"/>
              </a:rPr>
              <a:t>THE COST: disputes, slower close-out, lower confidence and more work for every stakeholder.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5D708A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5D708A"/>
                </a:solidFill>
                <a:latin typeface="Aptos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39D0E8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F8FBFF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BECFE4"/>
                </a:solidFill>
                <a:latin typeface="Aptos"/>
              </a:rPr>
              <a:t>FundGuard makes payout decisions explainable and settlement evidence easier to verify.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F8FBFF"/>
                </a:solidFill>
                <a:latin typeface="Aptos"/>
              </a:rPr>
              <a:t>One controlled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0280"/>
            <a:ext cx="3474720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BECFE4"/>
                </a:solidFill>
                <a:latin typeface="Aptos"/>
              </a:rPr>
              <a:t>From award policy to payment receipt, with a clear record of what was proposed, approved and settled.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657600"/>
            <a:ext cx="1572768" cy="1097280"/>
          </a:xfrm>
          <a:prstGeom prst="roundRect">
            <a:avLst/>
          </a:prstGeom>
          <a:solidFill>
            <a:srgbClr val="102441"/>
          </a:solidFill>
          <a:ln>
            <a:solidFill>
              <a:srgbClr val="102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3441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39D0E8"/>
                </a:solidFill>
                <a:latin typeface="Aptos"/>
              </a:rPr>
              <a:t>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78808"/>
            <a:ext cx="1344168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ECFE4"/>
                </a:solidFill>
                <a:latin typeface="Aptos"/>
              </a:rPr>
              <a:t>Integer-based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3657600"/>
            <a:ext cx="1572768" cy="1097280"/>
          </a:xfrm>
          <a:prstGeom prst="roundRect">
            <a:avLst/>
          </a:prstGeom>
          <a:solidFill>
            <a:srgbClr val="102441"/>
          </a:solidFill>
          <a:ln>
            <a:solidFill>
              <a:srgbClr val="102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3767328"/>
            <a:ext cx="13441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39D0E8"/>
                </a:solidFill>
                <a:latin typeface="Aptos"/>
              </a:rPr>
              <a:t>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178808"/>
            <a:ext cx="1344168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ECFE4"/>
                </a:solidFill>
                <a:latin typeface="Aptos"/>
              </a:rPr>
              <a:t>Human approval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965192"/>
            <a:ext cx="1572768" cy="987552"/>
          </a:xfrm>
          <a:prstGeom prst="roundRect">
            <a:avLst/>
          </a:prstGeom>
          <a:solidFill>
            <a:srgbClr val="102441"/>
          </a:solidFill>
          <a:ln>
            <a:solidFill>
              <a:srgbClr val="102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3441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39D0E8"/>
                </a:solidFill>
                <a:latin typeface="Aptos"/>
              </a:rPr>
              <a:t>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1344168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ECFE4"/>
                </a:solidFill>
                <a:latin typeface="Aptos"/>
              </a:rPr>
              <a:t>Hash-linked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4965192"/>
            <a:ext cx="1572768" cy="987552"/>
          </a:xfrm>
          <a:prstGeom prst="roundRect">
            <a:avLst/>
          </a:prstGeom>
          <a:solidFill>
            <a:srgbClr val="102441"/>
          </a:solidFill>
          <a:ln>
            <a:solidFill>
              <a:srgbClr val="102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5074920"/>
            <a:ext cx="134416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39D0E8"/>
                </a:solidFill>
                <a:latin typeface="Aptos"/>
              </a:rPr>
              <a:t>VERIFIABLE*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486400"/>
            <a:ext cx="1344168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BECFE4"/>
                </a:solidFill>
                <a:latin typeface="Aptos"/>
              </a:rPr>
              <a:t>Network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69164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39D0E8"/>
                </a:solidFill>
                <a:latin typeface="Aptos"/>
              </a:rPr>
              <a:t>HOW IT WORKS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2103120"/>
            <a:ext cx="411480" cy="411480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194560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8FB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10312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8FBFF"/>
                </a:solidFill>
                <a:latin typeface="Aptos"/>
              </a:rPr>
              <a:t>Set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103120"/>
            <a:ext cx="3749039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Budget, eligibility and award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14600"/>
            <a:ext cx="27432" cy="411480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0600" y="2980944"/>
            <a:ext cx="411480" cy="411480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072384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8FB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980944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8FBFF"/>
                </a:solidFill>
                <a:latin typeface="Aptos"/>
              </a:rPr>
              <a:t>Prepare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980944"/>
            <a:ext cx="3749039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AI-assisted coordination; deterministic calculations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3392424"/>
            <a:ext cx="27432" cy="411480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00600" y="3858768"/>
            <a:ext cx="411480" cy="411480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950207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8FB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38587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8FBFF"/>
                </a:solidFill>
                <a:latin typeface="Aptos"/>
              </a:rPr>
              <a:t>Review &amp; approve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858768"/>
            <a:ext cx="3749039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A human approves the exact proposal hash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4270248"/>
            <a:ext cx="27432" cy="411480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4736592"/>
            <a:ext cx="411480" cy="411480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828031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8FBFF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473659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8FBFF"/>
                </a:solidFill>
                <a:latin typeface="Aptos"/>
              </a:rPr>
              <a:t>Settle &amp;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736592"/>
            <a:ext cx="3749039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Record transaction evidence and audit 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943600"/>
            <a:ext cx="64922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1">
                <a:solidFill>
                  <a:srgbClr val="A0B4CD"/>
                </a:solidFill>
                <a:latin typeface="Aptos"/>
              </a:rPr>
              <a:t>*Claim live Stellar settlement only after real testnet transfers are independently verified.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A0B4CD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A0B4CD"/>
                </a:solidFill>
                <a:latin typeface="Aptos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975E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81428"/>
                </a:solidFill>
                <a:latin typeface="Aptos"/>
              </a:rPr>
              <a:t>Why FundGuard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5D708A"/>
                </a:solidFill>
                <a:latin typeface="Aptos"/>
              </a:rPr>
              <a:t>AI helps coordinate. Financial rules and human authorization stay in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19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6858000" cy="749808"/>
          </a:xfrm>
          <a:prstGeom prst="roundRect">
            <a:avLst/>
          </a:prstGeom>
          <a:solidFill>
            <a:srgbClr val="081428"/>
          </a:solidFill>
          <a:ln>
            <a:solidFill>
              <a:srgbClr val="08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1965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F8FBFF"/>
                </a:solidFill>
                <a:latin typeface="Aptos"/>
              </a:rPr>
              <a:t>AI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44348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F8FBFF"/>
                </a:solidFill>
                <a:latin typeface="Aptos"/>
              </a:rPr>
              <a:t>Drafts explanations and proposals; never holds signing secrets.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624328"/>
            <a:ext cx="6528816" cy="749808"/>
          </a:xfrm>
          <a:prstGeom prst="roundRect">
            <a:avLst/>
          </a:prstGeom>
          <a:solidFill>
            <a:srgbClr val="1975EB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743200"/>
            <a:ext cx="1965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F8FBFF"/>
                </a:solidFill>
                <a:latin typeface="Aptos"/>
              </a:rPr>
              <a:t>DETERMINISTIC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734056"/>
            <a:ext cx="410565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F8FBFF"/>
                </a:solidFill>
                <a:latin typeface="Aptos"/>
              </a:rPr>
              <a:t>Validates eligibility, allocation arithmetic and budget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6424" y="3602736"/>
            <a:ext cx="6199632" cy="749808"/>
          </a:xfrm>
          <a:prstGeom prst="roundRect">
            <a:avLst/>
          </a:prstGeom>
          <a:solidFill>
            <a:srgbClr val="1391B0"/>
          </a:solidFill>
          <a:ln>
            <a:solidFill>
              <a:srgbClr val="13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721608"/>
            <a:ext cx="1965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F8FBFF"/>
                </a:solidFill>
                <a:latin typeface="Aptos"/>
              </a:rPr>
              <a:t>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3712464"/>
            <a:ext cx="3776472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F8FBFF"/>
                </a:solidFill>
                <a:latin typeface="Aptos"/>
              </a:rPr>
              <a:t>Approval is bound to the exact proposal; changes require re-approval.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1016" y="4581144"/>
            <a:ext cx="5870448" cy="749808"/>
          </a:xfrm>
          <a:prstGeom prst="roundRect">
            <a:avLst/>
          </a:prstGeom>
          <a:solidFill>
            <a:srgbClr val="26AF87"/>
          </a:solidFill>
          <a:ln>
            <a:solidFill>
              <a:srgbClr val="26A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53896" y="4700016"/>
            <a:ext cx="1965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F8FBFF"/>
                </a:solidFill>
                <a:latin typeface="Aptos"/>
              </a:rPr>
              <a:t>SETTLEMENT +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4690872"/>
            <a:ext cx="3447288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F8FBFF"/>
                </a:solidFill>
                <a:latin typeface="Aptos"/>
              </a:rPr>
              <a:t>Payment receipt and audit events make the outcome easier to inspect.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2971800" cy="3520440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1031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81428"/>
                </a:solidFill>
                <a:latin typeface="Aptos"/>
              </a:rPr>
              <a:t>DESIGNED FOR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743200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975EB"/>
                </a:solidFill>
                <a:latin typeface="Aptos"/>
              </a:rPr>
              <a:t>Explainable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953512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D708A"/>
                </a:solidFill>
                <a:latin typeface="Aptos"/>
              </a:rPr>
              <a:t>Why this award?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310128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975EB"/>
                </a:solidFill>
                <a:latin typeface="Aptos"/>
              </a:rPr>
              <a:t>Accountable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520440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D708A"/>
                </a:solidFill>
                <a:latin typeface="Aptos"/>
              </a:rPr>
              <a:t>Who approved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877056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975EB"/>
                </a:solidFill>
                <a:latin typeface="Aptos"/>
              </a:rPr>
              <a:t>Auditable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087368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D708A"/>
                </a:solidFill>
                <a:latin typeface="Aptos"/>
              </a:rPr>
              <a:t>What changed?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4443983"/>
            <a:ext cx="22402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 i="0">
                <a:solidFill>
                  <a:srgbClr val="1975EB"/>
                </a:solidFill>
                <a:latin typeface="Aptos"/>
              </a:rPr>
              <a:t>Verifiable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654296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5D708A"/>
                </a:solidFill>
                <a:latin typeface="Aptos"/>
              </a:rPr>
              <a:t>Did settlement occur?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332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81428"/>
                </a:solidFill>
                <a:latin typeface="Aptos"/>
              </a:rPr>
              <a:t>A payout operations layer for competitions—not a speculative token or an autonomous money-moving agent.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5D708A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5D708A"/>
                </a:solidFill>
                <a:latin typeface="Aptos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39D0E8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F8FBFF"/>
                </a:solidFill>
                <a:latin typeface="Aptos"/>
              </a:rPr>
              <a:t>Who pays—and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BECFE4"/>
                </a:solidFill>
                <a:latin typeface="Aptos"/>
              </a:rPr>
              <a:t>Start with organizers who run recurring competitions and need credible close-out.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429000" cy="2331720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8FBFF"/>
                </a:solidFill>
                <a:latin typeface="Aptos"/>
              </a:rPr>
              <a:t>Hackathon organizers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Distribute prizes to multiple teams and give sponsors a clear close-out.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28800"/>
            <a:ext cx="3429000" cy="2331720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5740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9260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8FBFF"/>
                </a:solidFill>
                <a:latin typeface="Aptos"/>
              </a:rPr>
              <a:t>Accelerators &amp; grant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18688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Standardize award workflows, approvals and reporting across cohorts.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828800"/>
            <a:ext cx="3429000" cy="2331720"/>
          </a:xfrm>
          <a:prstGeom prst="roundRect">
            <a:avLst/>
          </a:prstGeom>
          <a:solidFill>
            <a:srgbClr val="102441"/>
          </a:solidFill>
          <a:ln>
            <a:solidFill>
              <a:srgbClr val="19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9260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9260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F8FBFF"/>
                </a:solidFill>
                <a:latin typeface="Aptos"/>
              </a:rPr>
              <a:t>Universities &amp; corporate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18688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Add governance, audit trails and repeatable program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39D0E8"/>
                </a:solidFill>
                <a:latin typeface="Aptos"/>
              </a:rPr>
              <a:t>BEACHHEAD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8FBFF"/>
                </a:solidFill>
                <a:latin typeface="Aptos"/>
              </a:rPr>
              <a:t>Win a small set of organizers with a simple promise: less payout administration, clear approvals, and evidence sponsors and winners can inspect. Expand through event platforms and ecosystem partnerships.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25312"/>
            <a:ext cx="10241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1">
                <a:solidFill>
                  <a:srgbClr val="A0B4CD"/>
                </a:solidFill>
                <a:latin typeface="Aptos"/>
              </a:rPr>
              <a:t>Market sizing should be validated with organizer interviews; this deck avoids unsupported global market-size claims.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A0B4CD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A0B4CD"/>
                </a:solidFill>
                <a:latin typeface="Aptos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975E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081428"/>
                </a:solidFill>
                <a:latin typeface="Apto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5D708A"/>
                </a:solidFill>
                <a:latin typeface="Aptos"/>
              </a:rPr>
              <a:t>Monetize the workflow and assurance—not access to prize money.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19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64208"/>
            <a:ext cx="5166360" cy="138988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9656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975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1801368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81428"/>
                </a:solidFill>
                <a:latin typeface="Aptos"/>
              </a:rPr>
              <a:t>Program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2212848"/>
            <a:ext cx="3977639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D708A"/>
                </a:solidFill>
                <a:latin typeface="Aptos"/>
              </a:rPr>
              <a:t>Annual or per-event workspace fee for organizer workflows and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64208"/>
            <a:ext cx="5166360" cy="138988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9656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975E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1801368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81428"/>
                </a:solidFill>
                <a:latin typeface="Aptos"/>
              </a:rPr>
              <a:t>Settlement service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4" y="2212848"/>
            <a:ext cx="3977639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D708A"/>
                </a:solidFill>
                <a:latin typeface="Aptos"/>
              </a:rPr>
              <a:t>Transparent fee for supported on-chain settlement and reconciliation.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83280"/>
            <a:ext cx="5166360" cy="138988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3872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975E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352044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81428"/>
                </a:solidFill>
                <a:latin typeface="Aptos"/>
              </a:rPr>
              <a:t>Premium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3931920"/>
            <a:ext cx="3977639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D708A"/>
                </a:solidFill>
                <a:latin typeface="Aptos"/>
              </a:rPr>
              <a:t>Sponsor-ready summaries, exports, audit views and compliance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383280"/>
            <a:ext cx="5166360" cy="1389888"/>
          </a:xfrm>
          <a:prstGeom prst="roundRect">
            <a:avLst/>
          </a:prstGeom>
          <a:solidFill>
            <a:srgbClr val="E8F1FC"/>
          </a:solidFill>
          <a:ln>
            <a:solidFill>
              <a:srgbClr val="D6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53872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1975E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352044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81428"/>
                </a:solidFill>
                <a:latin typeface="Aptos"/>
              </a:rPr>
              <a:t>Enterprise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3931920"/>
            <a:ext cx="3977639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D708A"/>
                </a:solidFill>
                <a:latin typeface="Aptos"/>
              </a:rPr>
              <a:t>Custom policies, integrations, role controls and multi-program administration.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349240"/>
            <a:ext cx="10698480" cy="658368"/>
          </a:xfrm>
          <a:prstGeom prst="roundRect">
            <a:avLst/>
          </a:prstGeom>
          <a:solidFill>
            <a:srgbClr val="081428"/>
          </a:solidFill>
          <a:ln>
            <a:solidFill>
              <a:srgbClr val="08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41264"/>
            <a:ext cx="10241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F8FBFF"/>
                </a:solidFill>
                <a:latin typeface="Aptos"/>
              </a:rPr>
              <a:t>Pricing principle: transparent fees, no hidden deductions from winners’ awards, and clear separation between fees and prize funds.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5D708A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5D708A"/>
                </a:solidFill>
                <a:latin typeface="Aptos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39D0E8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 i="0">
                <a:solidFill>
                  <a:srgbClr val="F8FBFF"/>
                </a:solidFill>
                <a:latin typeface="Aptos"/>
              </a:rPr>
              <a:t>Roadmap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86384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 i="0">
                <a:solidFill>
                  <a:srgbClr val="BECFE4"/>
                </a:solidFill>
                <a:latin typeface="Aptos"/>
              </a:rPr>
              <a:t>Prove the workflow with real organizers, then scale after settlement and security gates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20624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F8FB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3584" y="2020824"/>
            <a:ext cx="2331720" cy="27432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2560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79776"/>
            <a:ext cx="2560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8FBFF"/>
                </a:solidFill>
                <a:latin typeface="Aptos"/>
              </a:rPr>
              <a:t>Demo-ready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01568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Validate proposal, approval and audit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3685032" y="1828800"/>
            <a:ext cx="420624" cy="420624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938528"/>
            <a:ext cx="420624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F8FBFF"/>
                </a:solidFill>
                <a:latin typeface="Apto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2020824"/>
            <a:ext cx="2331720" cy="27432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450592"/>
            <a:ext cx="2560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779776"/>
            <a:ext cx="2560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8FBFF"/>
                </a:solidFill>
                <a:latin typeface="Aptos"/>
              </a:rPr>
              <a:t>Pilot with organizers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401568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Measure close-out time, reconciliation effort and user trust.</a:t>
            </a:r>
          </a:p>
        </p:txBody>
      </p:sp>
      <p:sp>
        <p:nvSpPr>
          <p:cNvPr id="18" name="Oval 17"/>
          <p:cNvSpPr/>
          <p:nvPr/>
        </p:nvSpPr>
        <p:spPr>
          <a:xfrm>
            <a:off x="6547104" y="1828800"/>
            <a:ext cx="420624" cy="420624"/>
          </a:xfrm>
          <a:prstGeom prst="ellipse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938528"/>
            <a:ext cx="420624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F8FBFF"/>
                </a:solidFill>
                <a:latin typeface="Apto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8" y="2020824"/>
            <a:ext cx="2331720" cy="27432"/>
          </a:xfrm>
          <a:prstGeom prst="rect">
            <a:avLst/>
          </a:prstGeom>
          <a:solidFill>
            <a:srgbClr val="39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450592"/>
            <a:ext cx="2560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779776"/>
            <a:ext cx="2560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8FBFF"/>
                </a:solidFill>
                <a:latin typeface="Aptos"/>
              </a:rPr>
              <a:t>Verified settlement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401568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Demonstrate testnet transfers and independent receipt checks.</a:t>
            </a:r>
          </a:p>
        </p:txBody>
      </p:sp>
      <p:sp>
        <p:nvSpPr>
          <p:cNvPr id="24" name="Oval 23"/>
          <p:cNvSpPr/>
          <p:nvPr/>
        </p:nvSpPr>
        <p:spPr>
          <a:xfrm>
            <a:off x="9409176" y="1828800"/>
            <a:ext cx="420624" cy="420624"/>
          </a:xfrm>
          <a:prstGeom prst="ellipse">
            <a:avLst/>
          </a:prstGeom>
          <a:solidFill>
            <a:srgbClr val="26AF87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1938528"/>
            <a:ext cx="420624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F8FB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450592"/>
            <a:ext cx="2560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39D0E8"/>
                </a:solidFill>
                <a:latin typeface="Aptos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779776"/>
            <a:ext cx="2560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8FBFF"/>
                </a:solidFill>
                <a:latin typeface="Aptos"/>
              </a:rPr>
              <a:t>Operational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401568"/>
            <a:ext cx="2423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BECFE4"/>
                </a:solidFill>
                <a:latin typeface="Aptos"/>
              </a:rPr>
              <a:t>Strengthen access controls, monitoring, recovery and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892040"/>
            <a:ext cx="10652760" cy="987552"/>
          </a:xfrm>
          <a:prstGeom prst="roundRect">
            <a:avLst/>
          </a:prstGeom>
          <a:solidFill>
            <a:srgbClr val="1975EB"/>
          </a:solidFill>
          <a:ln>
            <a:solidFill>
              <a:srgbClr val="39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102352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8FBFF"/>
                </a:solidFill>
                <a:latin typeface="Aptos"/>
              </a:rPr>
              <a:t>WHAT WE 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074920"/>
            <a:ext cx="8321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8FBFF"/>
                </a:solidFill>
                <a:latin typeface="Aptos"/>
              </a:rPr>
              <a:t>Pilot organizers • ecosystem partners • technical feedback • support validating secure, verifiable settlement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6144768"/>
            <a:ext cx="100584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1">
                <a:solidFill>
                  <a:srgbClr val="A5BEDC"/>
                </a:solidFill>
                <a:latin typeface="Aptos"/>
              </a:rPr>
              <a:t>Every payout should have a clear reason, accountable approval and verifiable outcome.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 i="0">
                <a:solidFill>
                  <a:srgbClr val="A0B4CD"/>
                </a:solidFill>
                <a:latin typeface="Aptos"/>
              </a:rPr>
              <a:t>FUNDGUARD BY OMEGA  •  BASIX AI OMEGA AGENT DEV BUILDATHON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1" i="0">
                <a:solidFill>
                  <a:srgbClr val="A0B4CD"/>
                </a:solidFill>
                <a:latin typeface="Aptos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FundGuard by Omega — 7-Slide Pitch Deck</dc:title>
  <dc:subject>Problem, solution, business model and roadmap</dc:subject>
  <dc:creator>FundGuard by Omega</dc:creator>
  <cp:keywords>FundGuard, Omega, payouts, prize transparency, Stellar, fintech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